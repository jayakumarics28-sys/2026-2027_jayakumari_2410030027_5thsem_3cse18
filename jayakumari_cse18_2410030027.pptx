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0" d="100"/>
          <a:sy n="80" d="100"/>
        </p:scale>
        <p:origin x="754"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8200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audience and introduce the topic: an 8-week Data Engineering Virtual Internship completed under the National Internship Portal, delivered by EduSkills in partnership with AICTE and the Ministry of Education, with curriculum designed by AWS Academy. Mention that the internship ran from June to August 2026 and combined self-paced learning with hands-on AWS labs. State the presentation's purpose: to walk through the program, the core data engineering concepts learned, the specific AWS services used, and the key skills and takeaways gained.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presentation is organised into five sections. First, an overview of the internship itself — the certificate, the organisations involved, and the objectives set out at the start. Second, the foundational concepts of data engineering — what the field means, the responsibilities of a data engineer, and the end-to-end lifecycle data goes through. Third, a deep dive into the specific AWS services used during the internship: S3, RDS, DynamoDB, Redshift, Glue, EMR, and Kinesis. Fourth, how those services combine into real pipelines and data lakes, plus the governance practices that keep data secure. Finally, a summary of the skills gained and the key takeaways from the experience.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certificate confirms successful completion of the 8-week Data Engineering Virtual Internship, jointly recognised by the Ministry of Education, AICTE, and EduSkills, with the technical curriculum designed and delivered by AWS Academy. The grading scale runs from O (Outstanding, 90-100) down to F (Fail, below 30) — this internship was completed with an O grade, the highest band, reflecting consistent performance across all modules and assessments. The unique Certificate ID and Student ID allow the credential to be verified independently, which is useful when sharing it with recruiters or adding it to a resume or LinkedIn profile.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organisations made this internship possible, each playing a distinct role. The Ministry of Education sets the national policy direction for student skilling initiatives. AICTE, as the technical education regulator, accredits the framework and ensures it meets academic standards so the internship counts toward technical education requirements. The National Internship Portal is the actual application and tracking system students use to discover opportunities like this one. EduSkills is the operational partner that runs the day-to-day program, provides the AWS Academy curriculum, and issues the final certification — their tagline, 'Nation Building Through Skills', reflects their mission to make industry-relevant training accessible to students across India.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objectives guided the structure of the entire internship. The first two focus on building a base — understanding terminology before touching any tool, then getting hands-on with AWS services rather than only reading theory. The third objective is about seeing the bigger picture: how a piece of raw data, like a single app click or a sensor reading, eventually becomes a number on an executive dashboard. The fourth is deliberately broad — storing, processing, and securing data are treated as equally important, not just the processing step. The fifth objective is forward-looking: the goal was never just to finish a course, but to come out with skills that map directly to what companies expect from an entry-level data engineer today.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simply, data engineering is the plumbing behind every dashboard, report, and machine learning model — most of that value is invisible to end users, but none of it works without this layer. The four-step breakdown on the right (Collect, Store, Process, Deliver) is a simplified view of the full lifecycle covered on the next slide. It's worth stressing that data engineers rarely analyse the data themselves — that's the data analyst's or data scientist's job — the data engineer's responsibility is making sure the data those roles depend on is complete, accurate, and arrives on time.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roles rarely belong to four different people — in most teams, and certainly in this internship's project work, one data engineer wears all four hats. As a Pipeline Builder, the focus is automation: writing a job once so it runs reliably every day rather than repeating manual steps. As a Data Modeler, the work is about anticipating how data will be queried later and designing the schema accordingly. As a Quality Guardian, the job is catching bad data — duplicates, missing fields, out-of-range values — before it reaches a report. As an Infrastructure Owner, the focus shifts to AWS console decisions: which storage class to use, when to scale a cluster up or down, and how to keep the monthly bill under control.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lifecycle repeats continuously in a real system, not just once. 'Generate' is where data is born — a user click, a sensor reading, a database transaction. 'Ingest' is the first engineering touchpoint, pulling that data in using tools like Kinesis for real-time streams or Glue for scheduled batch jobs. 'Store' typically lands raw data in an S3-based data lake before it's structured. 'Transform' is where Glue and EMR jobs clean, join, and reshape the data. 'Serve' is the final handoff — into Redshift for BI dashboards, or directly to an application or ML model. The small AWS labels under each stage show exactly which services from this internship map to which part of the lifecycle.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AWS is generally described using the shared responsibility model: AWS manages the security and reliability of the underlying cloud infrastructure — the physical data centres, networking, and hardware — while the user is responsible for configuring their own services securely and managing their own data. The four properties on this slide (elastic, pay-as-you-go, global, secure) are what make AWS practical for a student project and for a large enterprise alike: the same S3 bucket used in this internship's labs is the same underlying service that powers production systems at major companies, just used at a much smaller scale and lower cost.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S3 was the very first service used hands-on in this internship, since almost every other AWS service either reads from or writes to it. A bucket name must be globally unique across all of AWS, and objects inside it can range from a few bytes to several terabytes each. The 99.999999999% durability figure (11 nines) means that if you stored 10 million objects in S3, you would statistically expect to lose one object roughly every 10,000 years — that level of reliability is why S3 is trusted as the durable base layer under a data lake. Storage classes matter for cost control: Standard is used for frequently accessed data, Infrequent Access for backups, and Glacier for long-term archives that are rarely opened.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choice between RDS and DynamoDB comes down to the shape of the data and the access pattern, not which one is 'better'. RDS is the right choice when data has clear relationships that need to be enforced — for example, an orders table that must reference a valid customer ID, or a finance system where transactions must never be partially written. DynamoDB is the right choice when the priority is speed and massive scale over strict structure — for example, a mobile app's session data or a product catalog with millions of items and unpredictable traffic spikes. In this internship, RDS represented the traditional relational world data engineers inherit from legacy systems, while DynamoDB represented the modern NoSQL approach used in cloud-native applications.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Redshift is a data warehouse, which is a different tool from a data lake even though they're often confused. A data lake like S3 stores raw and semi-structured data cheaply; a warehouse like Redshift stores curated, structured data optimised specifically for fast analytical queries. The columnar storage design is the key idea: a traditional row-based database reads an entire row to get one column's value, but Redshift reads only the specific columns a query needs, which is dramatically faster when summing or averaging millions of rows. In a real pipeline, Glue would typically move cleaned data from S3 into Redshift, where analysts then connect BI tools to build dashboards.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Glue is AWS's serverless ETL service, meaning there are no servers to provision or manage — jobs run on demand and scale automatically. The three-letter ETL breakdown maps directly to real work: Extract pulls data from a source such as an S3 bucket or an RDS table; Transform applies logic like removing duplicates, standardising date formats, or joining two datasets together; Load writes the final, clean result to its destination, often Redshift or another S3 location. The Glue Data Catalog deserves special mention — it automatically scans datasets and records their schema (column names and types), so other services like Redshift Spectrum or Athena can query the data without anyone manually documenting the structure first.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summarises everything covered in the AWS services section as one connected system, rather than six isolated tools. Sources generate raw data — mobile apps, IoT sensors, uploaded files. Kinesis or Glue ingest that data into the platform, either as a continuous stream or a scheduled batch. It lands in an S3-based data lake in its raw form. Glue ETL jobs then transform it — cleaning, joining, and reshaping. The transformed, structured result is loaded into Redshift, the data warehouse. Finally, BI tools and machine learning models consume that warehouse data to produce the reports and predictions end users actually see. Every AWS service discussed earlier in this presentation has a specific place in this single left-to-right flow.</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EMR stands for Elastic MapReduce, and it exists for one specific problem: when a dataset is too large to process on a single machine, no matter how powerful. EMR spins up a cluster of many EC2 instances that share the workload, using frameworks like Apache Spark or Hadoop to split a big job into thousands of small parallel tasks. A practical example from this internship's context: summing a column across a 2GB CSV file is trivial on a laptop, but summing the same column across 20TB of log files spread across thousands of files requires exactly this kind of distributed compute. The Spot Instance option is a cost-saving detail — it uses AWS's spare, discounted compute capacity for workloads that can tolerate occasional interruption, cutting processing costs significantly compared to standard on-demand pricing.</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Kinesis solves a different problem than Glue or EMR: instead of processing data that already exists in a file, it processes data the instant it is generated. A live example would be a ride-hailing app tracking driver GPS location every few seconds, or a website tracking every click a visitor makes — in both cases, waiting for a nightly batch job would be far too slow. Kinesis Data Streams captures this continuous flow and holds it briefly so downstream consumers can read it, often triggering a Lambda function that reacts immediately, such as updating a live map or flagging a fraud alert. This is the key distinction between batch processing (covered by Glue and EMR, working on data at rest) and stream processing (Kinesis, working on data in motion).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data lake and a data warehouse are complementary, not competing — the modern pattern (sometimes called a 'lakehouse') is to land everything in a lake first, then promote only the cleaned, business-ready subset into a warehouse. The raw and curated zones referenced here reflect a common lake structure: the raw zone keeps an unmodified copy of source data for auditing and reprocessing, while the curated zone holds the cleaned version used for actual analysis. On the governance side, IAM is the backbone — it defines exactly which users or services can read, write, or delete specific data, following the principle of least privilege. AWS Lake Formation is the specific service that ties these pieces together, centralising permissions across S3, Glue, and Redshift in one place.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categories reflect the well-rounded nature of the internship. The technical skills are the most tangible — being able to actually open the AWS console and configure an S3 bucket, write a SQL query, or set up a Glue job is very different from just knowing the definitions. The conceptual skills are what allow those technical actions to be applied correctly — understanding why a pipeline is designed a certain way, not just how to click through the setup. The professional skills are often underrated but equally important for a virtual, self-paced internship: staying disciplined without a supervisor checking in daily, writing clear documentation so the work is understandable to someone else, and troubleshooting independently when a cloud service doesn't behave as expected.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takeaways are the ideas most likely to stay relevant beyond this specific internship, even as individual tools change over time. The shift to a cloud-first mindset is arguably the biggest change from how data systems were built a decade ago. The emphasis on pipelines over one-off scripts reflects a hard lesson in data engineering: a script run manually once is a liability, because it's not repeatable, not documented, and not resilient to failure. The point about choosing the right storage isn't about memorising which service to use — it's about asking the right questions first: how is this data structured, how fast does it need to be read, and how will it grow. And the governance point is a reminder that a technically excellent pipeline is worthless if it isn't also secure and compliant.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thanking the audience for their time and reiterating gratitude toward the Ministry of Education, AICTE, EduSkills, and AWS Academy for making this internship possible. This is a good point to briefly mention any specific project or hands-on lab that stood out personally, if presenting live, since it grounds the whole presentation in a concrete piece of work rather than only concepts. End by inviting questions from the audience.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5.png"/><Relationship Id="rId7"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7.png"/><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1F3A"/>
        </a:solidFill>
        <a:effectLst/>
      </p:bgPr>
    </p:bg>
    <p:spTree>
      <p:nvGrpSpPr>
        <p:cNvPr id="1" name=""/>
        <p:cNvGrpSpPr/>
        <p:nvPr/>
      </p:nvGrpSpPr>
      <p:grpSpPr>
        <a:xfrm>
          <a:off x="0" y="0"/>
          <a:ext cx="0" cy="0"/>
          <a:chOff x="0" y="0"/>
          <a:chExt cx="0" cy="0"/>
        </a:xfrm>
      </p:grpSpPr>
      <p:sp>
        <p:nvSpPr>
          <p:cNvPr id="2" name="Oval 1"/>
          <p:cNvSpPr/>
          <p:nvPr/>
        </p:nvSpPr>
        <p:spPr>
          <a:xfrm>
            <a:off x="8321040" y="-502920"/>
            <a:ext cx="3794760" cy="3794760"/>
          </a:xfrm>
          <a:prstGeom prst="ellipse">
            <a:avLst/>
          </a:prstGeom>
          <a:solidFill>
            <a:srgbClr val="113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46920" y="4160520"/>
            <a:ext cx="2743200" cy="2743200"/>
          </a:xfrm>
          <a:prstGeom prst="ellipse">
            <a:avLst/>
          </a:prstGeom>
          <a:solidFill>
            <a:srgbClr val="F7A9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378440" y="4709160"/>
            <a:ext cx="1783080" cy="1783080"/>
          </a:xfrm>
          <a:prstGeom prst="ellipse">
            <a:avLst/>
          </a:prstGeom>
          <a:solidFill>
            <a:srgbClr val="113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flipV="1">
            <a:off x="8732520" y="1234440"/>
            <a:ext cx="914400" cy="594360"/>
          </a:xfrm>
          <a:prstGeom prst="line">
            <a:avLst/>
          </a:prstGeom>
          <a:ln w="15240">
            <a:solidFill>
              <a:srgbClr val="B1C1D4"/>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9646920" y="1234440"/>
            <a:ext cx="914400" cy="914400"/>
          </a:xfrm>
          <a:prstGeom prst="line">
            <a:avLst/>
          </a:prstGeom>
          <a:ln w="15240">
            <a:solidFill>
              <a:srgbClr val="B1C1D4"/>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9281160" y="2148840"/>
            <a:ext cx="1280160" cy="822960"/>
          </a:xfrm>
          <a:prstGeom prst="line">
            <a:avLst/>
          </a:prstGeom>
          <a:ln w="15240">
            <a:solidFill>
              <a:srgbClr val="B1C1D4"/>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9281160" y="2971800"/>
            <a:ext cx="1463040" cy="365760"/>
          </a:xfrm>
          <a:prstGeom prst="line">
            <a:avLst/>
          </a:prstGeom>
          <a:ln w="15240">
            <a:solidFill>
              <a:srgbClr val="B1C1D4"/>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8668512" y="1764792"/>
            <a:ext cx="128016" cy="128016"/>
          </a:xfrm>
          <a:prstGeom prst="ellipse">
            <a:avLst/>
          </a:prstGeom>
          <a:solidFill>
            <a:srgbClr val="F7A9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582912" y="1170432"/>
            <a:ext cx="128016" cy="128016"/>
          </a:xfrm>
          <a:prstGeom prst="ellipse">
            <a:avLst/>
          </a:prstGeom>
          <a:solidFill>
            <a:srgbClr val="F7A9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97312" y="2084832"/>
            <a:ext cx="128016" cy="128016"/>
          </a:xfrm>
          <a:prstGeom prst="ellipse">
            <a:avLst/>
          </a:prstGeom>
          <a:solidFill>
            <a:srgbClr val="F7A9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217152" y="2907792"/>
            <a:ext cx="128016" cy="128016"/>
          </a:xfrm>
          <a:prstGeom prst="ellipse">
            <a:avLst/>
          </a:prstGeom>
          <a:solidFill>
            <a:srgbClr val="F7A9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680192" y="3273552"/>
            <a:ext cx="128016" cy="128016"/>
          </a:xfrm>
          <a:prstGeom prst="ellipse">
            <a:avLst/>
          </a:prstGeom>
          <a:solidFill>
            <a:srgbClr val="F7A9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1792" y="438912"/>
            <a:ext cx="2423160" cy="8412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mage.png"/>
          <p:cNvPicPr>
            <a:picLocks noChangeAspect="1"/>
          </p:cNvPicPr>
          <p:nvPr/>
        </p:nvPicPr>
        <p:blipFill>
          <a:blip r:embed="rId4"/>
          <a:stretch>
            <a:fillRect/>
          </a:stretch>
        </p:blipFill>
        <p:spPr>
          <a:xfrm>
            <a:off x="749808" y="521207"/>
            <a:ext cx="2167128" cy="667512"/>
          </a:xfrm>
          <a:prstGeom prst="rect">
            <a:avLst/>
          </a:prstGeom>
        </p:spPr>
      </p:pic>
      <p:sp>
        <p:nvSpPr>
          <p:cNvPr id="16" name="TextBox 15"/>
          <p:cNvSpPr txBox="1"/>
          <p:nvPr/>
        </p:nvSpPr>
        <p:spPr>
          <a:xfrm>
            <a:off x="658368" y="1572768"/>
            <a:ext cx="6217920" cy="320040"/>
          </a:xfrm>
          <a:prstGeom prst="rect">
            <a:avLst/>
          </a:prstGeom>
          <a:noFill/>
        </p:spPr>
        <p:txBody>
          <a:bodyPr wrap="none">
            <a:spAutoFit/>
          </a:bodyPr>
          <a:lstStyle/>
          <a:p>
            <a:pPr>
              <a:spcAft>
                <a:spcPts val="0"/>
              </a:spcAft>
              <a:defRPr sz="1100" b="1">
                <a:solidFill>
                  <a:srgbClr val="F7A923"/>
                </a:solidFill>
                <a:latin typeface="Aptos"/>
              </a:defRPr>
            </a:pPr>
            <a:r>
              <a:t>AICTE   •   EDUSKILLS   •   AWS ACADEMY</a:t>
            </a:r>
          </a:p>
        </p:txBody>
      </p:sp>
      <p:sp>
        <p:nvSpPr>
          <p:cNvPr id="17" name="TextBox 16"/>
          <p:cNvSpPr txBox="1"/>
          <p:nvPr/>
        </p:nvSpPr>
        <p:spPr>
          <a:xfrm>
            <a:off x="640080" y="2057400"/>
            <a:ext cx="6720840" cy="1417320"/>
          </a:xfrm>
          <a:prstGeom prst="rect">
            <a:avLst/>
          </a:prstGeom>
          <a:noFill/>
        </p:spPr>
        <p:txBody>
          <a:bodyPr wrap="square">
            <a:spAutoFit/>
          </a:bodyPr>
          <a:lstStyle/>
          <a:p>
            <a:r>
              <a:rPr sz="3400" b="1">
                <a:solidFill>
                  <a:srgbClr val="FFFFFF"/>
                </a:solidFill>
                <a:latin typeface="Aptos Display"/>
              </a:rPr>
              <a:t>Data Engineering</a:t>
            </a:r>
          </a:p>
          <a:p>
            <a:pPr>
              <a:spcBef>
                <a:spcPts val="0"/>
              </a:spcBef>
            </a:pPr>
            <a:r>
              <a:rPr sz="3400" b="1">
                <a:solidFill>
                  <a:srgbClr val="FFFFFF"/>
                </a:solidFill>
                <a:latin typeface="Aptos Display"/>
              </a:rPr>
              <a:t>Virtual Internship</a:t>
            </a:r>
          </a:p>
        </p:txBody>
      </p:sp>
      <p:sp>
        <p:nvSpPr>
          <p:cNvPr id="18" name="TextBox 17"/>
          <p:cNvSpPr txBox="1"/>
          <p:nvPr/>
        </p:nvSpPr>
        <p:spPr>
          <a:xfrm>
            <a:off x="658368" y="3520440"/>
            <a:ext cx="6583680" cy="566928"/>
          </a:xfrm>
          <a:prstGeom prst="rect">
            <a:avLst/>
          </a:prstGeom>
          <a:noFill/>
        </p:spPr>
        <p:txBody>
          <a:bodyPr wrap="none">
            <a:spAutoFit/>
          </a:bodyPr>
          <a:lstStyle/>
          <a:p>
            <a:pPr>
              <a:defRPr sz="1500">
                <a:solidFill>
                  <a:srgbClr val="EBF0F7"/>
                </a:solidFill>
                <a:latin typeface="Aptos"/>
              </a:defRPr>
            </a:pPr>
            <a:r>
              <a:t>An 8-Week Journey into Cloud Data Engineering with AWS Academy</a:t>
            </a:r>
          </a:p>
        </p:txBody>
      </p:sp>
      <p:sp>
        <p:nvSpPr>
          <p:cNvPr id="19" name="Rectangle 18"/>
          <p:cNvSpPr/>
          <p:nvPr/>
        </p:nvSpPr>
        <p:spPr>
          <a:xfrm>
            <a:off x="658368" y="4160520"/>
            <a:ext cx="1143000" cy="50292"/>
          </a:xfrm>
          <a:prstGeom prst="rect">
            <a:avLst/>
          </a:prstGeom>
          <a:solidFill>
            <a:srgbClr val="F7A9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58368" y="4462272"/>
            <a:ext cx="7726679" cy="1417320"/>
          </a:xfrm>
          <a:prstGeom prst="round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4645152"/>
            <a:ext cx="3474720" cy="310896"/>
          </a:xfrm>
          <a:prstGeom prst="rect">
            <a:avLst/>
          </a:prstGeom>
          <a:noFill/>
        </p:spPr>
        <p:txBody>
          <a:bodyPr wrap="none">
            <a:spAutoFit/>
          </a:bodyPr>
          <a:lstStyle/>
          <a:p>
            <a:pPr>
              <a:spcAft>
                <a:spcPts val="0"/>
              </a:spcAft>
            </a:pPr>
            <a:r>
              <a:rPr sz="800" b="1">
                <a:solidFill>
                  <a:srgbClr val="566982"/>
                </a:solidFill>
                <a:latin typeface="Aptos"/>
              </a:rPr>
              <a:t>STUDENT  </a:t>
            </a:r>
            <a:r>
              <a:rPr sz="1050" b="1">
                <a:solidFill>
                  <a:srgbClr val="182B45"/>
                </a:solidFill>
                <a:latin typeface="Aptos"/>
              </a:rPr>
              <a:t>Jaya Kumari</a:t>
            </a:r>
          </a:p>
        </p:txBody>
      </p:sp>
      <p:sp>
        <p:nvSpPr>
          <p:cNvPr id="22" name="TextBox 21"/>
          <p:cNvSpPr txBox="1"/>
          <p:nvPr/>
        </p:nvSpPr>
        <p:spPr>
          <a:xfrm>
            <a:off x="896112" y="5038344"/>
            <a:ext cx="3474720" cy="310896"/>
          </a:xfrm>
          <a:prstGeom prst="rect">
            <a:avLst/>
          </a:prstGeom>
          <a:noFill/>
        </p:spPr>
        <p:txBody>
          <a:bodyPr wrap="none">
            <a:spAutoFit/>
          </a:bodyPr>
          <a:lstStyle/>
          <a:p>
            <a:pPr>
              <a:spcAft>
                <a:spcPts val="0"/>
              </a:spcAft>
            </a:pPr>
            <a:r>
              <a:rPr sz="800" b="1">
                <a:solidFill>
                  <a:srgbClr val="566982"/>
                </a:solidFill>
                <a:latin typeface="Aptos"/>
              </a:rPr>
              <a:t>ENROLLMENT NO.  </a:t>
            </a:r>
            <a:r>
              <a:rPr sz="1050" b="1">
                <a:solidFill>
                  <a:srgbClr val="182B45"/>
                </a:solidFill>
                <a:latin typeface="Aptos"/>
              </a:rPr>
              <a:t>2410030027</a:t>
            </a:r>
          </a:p>
        </p:txBody>
      </p:sp>
      <p:sp>
        <p:nvSpPr>
          <p:cNvPr id="23" name="TextBox 22"/>
          <p:cNvSpPr txBox="1"/>
          <p:nvPr/>
        </p:nvSpPr>
        <p:spPr>
          <a:xfrm>
            <a:off x="896112" y="5431536"/>
            <a:ext cx="3474720" cy="310896"/>
          </a:xfrm>
          <a:prstGeom prst="rect">
            <a:avLst/>
          </a:prstGeom>
          <a:noFill/>
        </p:spPr>
        <p:txBody>
          <a:bodyPr wrap="none">
            <a:spAutoFit/>
          </a:bodyPr>
          <a:lstStyle/>
          <a:p>
            <a:pPr>
              <a:spcAft>
                <a:spcPts val="0"/>
              </a:spcAft>
            </a:pPr>
            <a:r>
              <a:rPr sz="800" b="1">
                <a:solidFill>
                  <a:srgbClr val="566982"/>
                </a:solidFill>
                <a:latin typeface="Aptos"/>
              </a:rPr>
              <a:t>PROGRAM &amp; SEMESTER  </a:t>
            </a:r>
            <a:r>
              <a:rPr sz="1050" b="1">
                <a:solidFill>
                  <a:srgbClr val="182B45"/>
                </a:solidFill>
                <a:latin typeface="Aptos"/>
              </a:rPr>
              <a:t>B.Tech CSE, 5th Semester</a:t>
            </a:r>
          </a:p>
        </p:txBody>
      </p:sp>
      <p:sp>
        <p:nvSpPr>
          <p:cNvPr id="24" name="TextBox 23"/>
          <p:cNvSpPr txBox="1"/>
          <p:nvPr/>
        </p:nvSpPr>
        <p:spPr>
          <a:xfrm>
            <a:off x="4526280" y="4645152"/>
            <a:ext cx="3474720" cy="310896"/>
          </a:xfrm>
          <a:prstGeom prst="rect">
            <a:avLst/>
          </a:prstGeom>
          <a:noFill/>
        </p:spPr>
        <p:txBody>
          <a:bodyPr wrap="none">
            <a:spAutoFit/>
          </a:bodyPr>
          <a:lstStyle/>
          <a:p>
            <a:pPr>
              <a:spcAft>
                <a:spcPts val="0"/>
              </a:spcAft>
            </a:pPr>
            <a:r>
              <a:rPr sz="800" b="1">
                <a:solidFill>
                  <a:srgbClr val="566982"/>
                </a:solidFill>
                <a:latin typeface="Aptos"/>
              </a:rPr>
              <a:t>UNIVERSITY  </a:t>
            </a:r>
            <a:r>
              <a:rPr sz="1050" b="1">
                <a:solidFill>
                  <a:srgbClr val="182B45"/>
                </a:solidFill>
                <a:latin typeface="Aptos"/>
              </a:rPr>
              <a:t>IILM University, Greater Noida</a:t>
            </a:r>
          </a:p>
        </p:txBody>
      </p:sp>
      <p:sp>
        <p:nvSpPr>
          <p:cNvPr id="25" name="TextBox 24"/>
          <p:cNvSpPr txBox="1"/>
          <p:nvPr/>
        </p:nvSpPr>
        <p:spPr>
          <a:xfrm>
            <a:off x="4526280" y="5038344"/>
            <a:ext cx="3474720" cy="310896"/>
          </a:xfrm>
          <a:prstGeom prst="rect">
            <a:avLst/>
          </a:prstGeom>
          <a:noFill/>
        </p:spPr>
        <p:txBody>
          <a:bodyPr wrap="none">
            <a:spAutoFit/>
          </a:bodyPr>
          <a:lstStyle/>
          <a:p>
            <a:pPr>
              <a:spcAft>
                <a:spcPts val="0"/>
              </a:spcAft>
            </a:pPr>
            <a:r>
              <a:rPr sz="800" b="1">
                <a:solidFill>
                  <a:srgbClr val="566982"/>
                </a:solidFill>
                <a:latin typeface="Aptos"/>
              </a:rPr>
              <a:t>INTERNSHIP TOPIC  </a:t>
            </a:r>
            <a:r>
              <a:rPr sz="1050" b="1">
                <a:solidFill>
                  <a:srgbClr val="182B45"/>
                </a:solidFill>
                <a:latin typeface="Aptos"/>
              </a:rPr>
              <a:t>Data Engineering Virtual Internship</a:t>
            </a:r>
          </a:p>
        </p:txBody>
      </p:sp>
      <p:sp>
        <p:nvSpPr>
          <p:cNvPr id="26" name="TextBox 25"/>
          <p:cNvSpPr txBox="1"/>
          <p:nvPr/>
        </p:nvSpPr>
        <p:spPr>
          <a:xfrm>
            <a:off x="4526280" y="5431536"/>
            <a:ext cx="3474720" cy="310896"/>
          </a:xfrm>
          <a:prstGeom prst="rect">
            <a:avLst/>
          </a:prstGeom>
          <a:noFill/>
        </p:spPr>
        <p:txBody>
          <a:bodyPr wrap="none">
            <a:spAutoFit/>
          </a:bodyPr>
          <a:lstStyle/>
          <a:p>
            <a:pPr>
              <a:spcAft>
                <a:spcPts val="0"/>
              </a:spcAft>
            </a:pPr>
            <a:r>
              <a:rPr sz="800" b="1">
                <a:solidFill>
                  <a:srgbClr val="566982"/>
                </a:solidFill>
                <a:latin typeface="Aptos"/>
              </a:rPr>
              <a:t>ORGANIZATION  </a:t>
            </a:r>
            <a:r>
              <a:rPr sz="1050" b="1">
                <a:solidFill>
                  <a:srgbClr val="182B45"/>
                </a:solidFill>
                <a:latin typeface="Aptos"/>
              </a:rPr>
              <a:t>EduSkills Foundation</a:t>
            </a:r>
          </a:p>
        </p:txBody>
      </p:sp>
      <p:sp>
        <p:nvSpPr>
          <p:cNvPr id="27" name="TextBox 26"/>
          <p:cNvSpPr txBox="1"/>
          <p:nvPr/>
        </p:nvSpPr>
        <p:spPr>
          <a:xfrm>
            <a:off x="658368" y="6053328"/>
            <a:ext cx="7772400" cy="228600"/>
          </a:xfrm>
          <a:prstGeom prst="rect">
            <a:avLst/>
          </a:prstGeom>
          <a:noFill/>
        </p:spPr>
        <p:txBody>
          <a:bodyPr wrap="none">
            <a:spAutoFit/>
          </a:bodyPr>
          <a:lstStyle/>
          <a:p>
            <a:pPr>
              <a:defRPr sz="850">
                <a:solidFill>
                  <a:srgbClr val="B1C1D4"/>
                </a:solidFill>
                <a:latin typeface="Aptos"/>
              </a:defRPr>
            </a:pPr>
            <a:r>
              <a:t>Curriculum Provided by AWS Academy   •   Certificate ID: 4930bef033bb7029d125</a:t>
            </a:r>
          </a:p>
        </p:txBody>
      </p:sp>
      <p:sp>
        <p:nvSpPr>
          <p:cNvPr id="28" name="TextBox 27"/>
          <p:cNvSpPr txBox="1"/>
          <p:nvPr/>
        </p:nvSpPr>
        <p:spPr>
          <a:xfrm>
            <a:off x="8823960" y="5166360"/>
            <a:ext cx="2423160" cy="548640"/>
          </a:xfrm>
          <a:prstGeom prst="rect">
            <a:avLst/>
          </a:prstGeom>
          <a:noFill/>
        </p:spPr>
        <p:txBody>
          <a:bodyPr wrap="none">
            <a:spAutoFit/>
          </a:bodyPr>
          <a:lstStyle/>
          <a:p>
            <a:pPr algn="r"/>
            <a:r>
              <a:rPr sz="900" b="1">
                <a:solidFill>
                  <a:srgbClr val="F7A923"/>
                </a:solidFill>
                <a:latin typeface="Aptos"/>
              </a:rPr>
              <a:t>INTERNSHIP PRESENTATION</a:t>
            </a:r>
          </a:p>
          <a:p>
            <a:pPr algn="r"/>
            <a:r>
              <a:rPr sz="900">
                <a:solidFill>
                  <a:srgbClr val="FFFFFF"/>
                </a:solidFill>
                <a:latin typeface="Aptos"/>
              </a:rPr>
              <a:t>JUNE – AUGUST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4023360" cy="6858000"/>
          </a:xfrm>
          <a:prstGeom prst="rect">
            <a:avLst/>
          </a:prstGeom>
          <a:solidFill>
            <a:srgbClr val="0B2545"/>
          </a:solidFill>
          <a:ln/>
        </p:spPr>
      </p:sp>
      <p:sp>
        <p:nvSpPr>
          <p:cNvPr id="3" name="Shape 1"/>
          <p:cNvSpPr/>
          <p:nvPr/>
        </p:nvSpPr>
        <p:spPr>
          <a:xfrm>
            <a:off x="-1828800" y="4754880"/>
            <a:ext cx="5486400" cy="5486400"/>
          </a:xfrm>
          <a:prstGeom prst="ellipse">
            <a:avLst/>
          </a:prstGeom>
          <a:solidFill>
            <a:srgbClr val="134074"/>
          </a:solidFill>
          <a:ln/>
        </p:spPr>
      </p:sp>
      <p:sp>
        <p:nvSpPr>
          <p:cNvPr id="4" name="Text 2"/>
          <p:cNvSpPr/>
          <p:nvPr/>
        </p:nvSpPr>
        <p:spPr>
          <a:xfrm>
            <a:off x="502920" y="2377440"/>
            <a:ext cx="3200400" cy="1737360"/>
          </a:xfrm>
          <a:prstGeom prst="rect">
            <a:avLst/>
          </a:prstGeom>
          <a:noFill/>
          <a:ln/>
        </p:spPr>
        <p:txBody>
          <a:bodyPr wrap="square" rtlCol="0" anchor="ctr"/>
          <a:lstStyle/>
          <a:p>
            <a:pPr marL="0" indent="0">
              <a:lnSpc>
                <a:spcPts val="3400"/>
              </a:lnSpc>
              <a:buNone/>
            </a:pPr>
            <a:r>
              <a:rPr lang="en-US" sz="3000" b="1" dirty="0">
                <a:solidFill>
                  <a:srgbClr val="FFFFFF"/>
                </a:solidFill>
                <a:latin typeface="Calibri" pitchFamily="34" charset="0"/>
                <a:ea typeface="Calibri" pitchFamily="34" charset="-122"/>
                <a:cs typeface="Calibri" pitchFamily="34" charset="-120"/>
              </a:rPr>
              <a:t>What We'll</a:t>
            </a:r>
            <a:endParaRPr lang="en-US" sz="3000" dirty="0"/>
          </a:p>
          <a:p>
            <a:pPr marL="0" indent="0">
              <a:lnSpc>
                <a:spcPts val="3400"/>
              </a:lnSpc>
              <a:buNone/>
            </a:pPr>
            <a:r>
              <a:rPr lang="en-US" sz="3000" b="1" dirty="0">
                <a:solidFill>
                  <a:srgbClr val="FFFFFF"/>
                </a:solidFill>
                <a:latin typeface="Calibri" pitchFamily="34" charset="0"/>
                <a:ea typeface="Calibri" pitchFamily="34" charset="-122"/>
                <a:cs typeface="Calibri" pitchFamily="34" charset="-120"/>
              </a:rPr>
              <a:t>Cover</a:t>
            </a:r>
            <a:endParaRPr lang="en-US" sz="3000" dirty="0"/>
          </a:p>
        </p:txBody>
      </p:sp>
      <p:sp>
        <p:nvSpPr>
          <p:cNvPr id="5" name="Shape 3"/>
          <p:cNvSpPr/>
          <p:nvPr/>
        </p:nvSpPr>
        <p:spPr>
          <a:xfrm>
            <a:off x="548640" y="4160520"/>
            <a:ext cx="1280160" cy="0"/>
          </a:xfrm>
          <a:prstGeom prst="line">
            <a:avLst/>
          </a:prstGeom>
          <a:noFill/>
          <a:ln w="38100">
            <a:solidFill>
              <a:srgbClr val="F5A623"/>
            </a:solidFill>
            <a:prstDash val="solid"/>
          </a:ln>
        </p:spPr>
      </p:sp>
      <p:sp>
        <p:nvSpPr>
          <p:cNvPr id="6" name="Text 4"/>
          <p:cNvSpPr/>
          <p:nvPr/>
        </p:nvSpPr>
        <p:spPr>
          <a:xfrm>
            <a:off x="502920" y="4389120"/>
            <a:ext cx="3108960" cy="1280160"/>
          </a:xfrm>
          <a:prstGeom prst="rect">
            <a:avLst/>
          </a:prstGeom>
          <a:noFill/>
          <a:ln/>
        </p:spPr>
        <p:txBody>
          <a:bodyPr wrap="square" rtlCol="0" anchor="ctr"/>
          <a:lstStyle/>
          <a:p>
            <a:pPr marL="0" indent="0">
              <a:buNone/>
            </a:pPr>
            <a:r>
              <a:rPr lang="en-US" sz="1200" dirty="0">
                <a:solidFill>
                  <a:srgbClr val="C7D2E3"/>
                </a:solidFill>
                <a:latin typeface="Calibri" pitchFamily="34" charset="0"/>
                <a:ea typeface="Calibri" pitchFamily="34" charset="-122"/>
                <a:cs typeface="Calibri" pitchFamily="34" charset="-120"/>
              </a:rPr>
              <a:t>A structured walkthrough of the internship, AWS cloud fundamentals, and the complete data engineering pipeline.</a:t>
            </a:r>
            <a:endParaRPr lang="en-US" sz="1200" dirty="0"/>
          </a:p>
        </p:txBody>
      </p:sp>
      <p:sp>
        <p:nvSpPr>
          <p:cNvPr id="7" name="Text 5"/>
          <p:cNvSpPr/>
          <p:nvPr/>
        </p:nvSpPr>
        <p:spPr>
          <a:xfrm>
            <a:off x="4434840" y="685800"/>
            <a:ext cx="822960" cy="822960"/>
          </a:xfrm>
          <a:prstGeom prst="rect">
            <a:avLst/>
          </a:prstGeom>
          <a:noFill/>
          <a:ln/>
        </p:spPr>
        <p:txBody>
          <a:bodyPr wrap="square" rtlCol="0" anchor="ctr"/>
          <a:lstStyle/>
          <a:p>
            <a:pPr marL="0" indent="0">
              <a:buNone/>
            </a:pPr>
            <a:r>
              <a:rPr lang="en-US" sz="2400" b="1" dirty="0">
                <a:solidFill>
                  <a:srgbClr val="F5A623"/>
                </a:solidFill>
                <a:latin typeface="Calibri" pitchFamily="34" charset="0"/>
                <a:ea typeface="Calibri" pitchFamily="34" charset="-122"/>
                <a:cs typeface="Calibri" pitchFamily="34" charset="-120"/>
              </a:rPr>
              <a:t>01</a:t>
            </a:r>
            <a:endParaRPr lang="en-US" sz="2400" dirty="0"/>
          </a:p>
        </p:txBody>
      </p:sp>
      <p:sp>
        <p:nvSpPr>
          <p:cNvPr id="8" name="Text 6"/>
          <p:cNvSpPr/>
          <p:nvPr/>
        </p:nvSpPr>
        <p:spPr>
          <a:xfrm>
            <a:off x="5212080" y="704088"/>
            <a:ext cx="6400800" cy="365760"/>
          </a:xfrm>
          <a:prstGeom prst="rect">
            <a:avLst/>
          </a:prstGeom>
          <a:noFill/>
          <a:ln/>
        </p:spPr>
        <p:txBody>
          <a:bodyPr wrap="square" rtlCol="0" anchor="ctr"/>
          <a:lstStyle/>
          <a:p>
            <a:pPr marL="0" indent="0">
              <a:buNone/>
            </a:pPr>
            <a:r>
              <a:rPr lang="en-US" sz="1600" b="1" dirty="0">
                <a:solidFill>
                  <a:srgbClr val="0B2545"/>
                </a:solidFill>
                <a:latin typeface="Calibri" pitchFamily="34" charset="0"/>
                <a:ea typeface="Calibri" pitchFamily="34" charset="-122"/>
                <a:cs typeface="Calibri" pitchFamily="34" charset="-120"/>
              </a:rPr>
              <a:t>Internship Overview</a:t>
            </a:r>
            <a:endParaRPr lang="en-US" sz="1600" dirty="0"/>
          </a:p>
        </p:txBody>
      </p:sp>
      <p:sp>
        <p:nvSpPr>
          <p:cNvPr id="9" name="Text 7"/>
          <p:cNvSpPr/>
          <p:nvPr/>
        </p:nvSpPr>
        <p:spPr>
          <a:xfrm>
            <a:off x="5212080" y="1069848"/>
            <a:ext cx="6400800" cy="320040"/>
          </a:xfrm>
          <a:prstGeom prst="rect">
            <a:avLst/>
          </a:prstGeom>
          <a:noFill/>
          <a:ln/>
        </p:spPr>
        <p:txBody>
          <a:bodyPr wrap="square" rtlCol="0" anchor="ctr"/>
          <a:lstStyle/>
          <a:p>
            <a:pPr marL="0" indent="0">
              <a:buNone/>
            </a:pPr>
            <a:r>
              <a:rPr lang="en-US" sz="1150" dirty="0">
                <a:solidFill>
                  <a:srgbClr val="3A3F4B"/>
                </a:solidFill>
                <a:latin typeface="Calibri" pitchFamily="34" charset="0"/>
                <a:ea typeface="Calibri" pitchFamily="34" charset="-122"/>
                <a:cs typeface="Calibri" pitchFamily="34" charset="-120"/>
              </a:rPr>
              <a:t>Program, partners &amp; objectives</a:t>
            </a:r>
            <a:endParaRPr lang="en-US" sz="1150" dirty="0"/>
          </a:p>
        </p:txBody>
      </p:sp>
      <p:sp>
        <p:nvSpPr>
          <p:cNvPr id="10" name="Shape 8"/>
          <p:cNvSpPr/>
          <p:nvPr/>
        </p:nvSpPr>
        <p:spPr>
          <a:xfrm>
            <a:off x="4434840" y="1737360"/>
            <a:ext cx="7132320" cy="0"/>
          </a:xfrm>
          <a:prstGeom prst="line">
            <a:avLst/>
          </a:prstGeom>
          <a:noFill/>
          <a:ln w="12700">
            <a:solidFill>
              <a:srgbClr val="E3E8F0"/>
            </a:solidFill>
            <a:prstDash val="solid"/>
          </a:ln>
        </p:spPr>
      </p:sp>
      <p:sp>
        <p:nvSpPr>
          <p:cNvPr id="11" name="Text 9"/>
          <p:cNvSpPr/>
          <p:nvPr/>
        </p:nvSpPr>
        <p:spPr>
          <a:xfrm>
            <a:off x="4434840" y="1874520"/>
            <a:ext cx="822960" cy="822960"/>
          </a:xfrm>
          <a:prstGeom prst="rect">
            <a:avLst/>
          </a:prstGeom>
          <a:noFill/>
          <a:ln/>
        </p:spPr>
        <p:txBody>
          <a:bodyPr wrap="square" rtlCol="0" anchor="ctr"/>
          <a:lstStyle/>
          <a:p>
            <a:pPr marL="0" indent="0">
              <a:buNone/>
            </a:pPr>
            <a:r>
              <a:rPr lang="en-US" sz="2400" b="1" dirty="0">
                <a:solidFill>
                  <a:srgbClr val="F5A623"/>
                </a:solidFill>
                <a:latin typeface="Calibri" pitchFamily="34" charset="0"/>
                <a:ea typeface="Calibri" pitchFamily="34" charset="-122"/>
                <a:cs typeface="Calibri" pitchFamily="34" charset="-120"/>
              </a:rPr>
              <a:t>02</a:t>
            </a:r>
            <a:endParaRPr lang="en-US" sz="2400" dirty="0"/>
          </a:p>
        </p:txBody>
      </p:sp>
      <p:sp>
        <p:nvSpPr>
          <p:cNvPr id="12" name="Text 10"/>
          <p:cNvSpPr/>
          <p:nvPr/>
        </p:nvSpPr>
        <p:spPr>
          <a:xfrm>
            <a:off x="5212080" y="1892808"/>
            <a:ext cx="6400800" cy="365760"/>
          </a:xfrm>
          <a:prstGeom prst="rect">
            <a:avLst/>
          </a:prstGeom>
          <a:noFill/>
          <a:ln/>
        </p:spPr>
        <p:txBody>
          <a:bodyPr wrap="square" rtlCol="0" anchor="ctr"/>
          <a:lstStyle/>
          <a:p>
            <a:pPr marL="0" indent="0">
              <a:buNone/>
            </a:pPr>
            <a:r>
              <a:rPr lang="en-US" sz="1600" b="1" dirty="0">
                <a:solidFill>
                  <a:srgbClr val="0B2545"/>
                </a:solidFill>
                <a:latin typeface="Calibri" pitchFamily="34" charset="0"/>
                <a:ea typeface="Calibri" pitchFamily="34" charset="-122"/>
                <a:cs typeface="Calibri" pitchFamily="34" charset="-120"/>
              </a:rPr>
              <a:t>Data Engineering Basics</a:t>
            </a:r>
            <a:endParaRPr lang="en-US" sz="1600" dirty="0"/>
          </a:p>
        </p:txBody>
      </p:sp>
      <p:sp>
        <p:nvSpPr>
          <p:cNvPr id="13" name="Text 11"/>
          <p:cNvSpPr/>
          <p:nvPr/>
        </p:nvSpPr>
        <p:spPr>
          <a:xfrm>
            <a:off x="5212080" y="2258568"/>
            <a:ext cx="6400800" cy="320040"/>
          </a:xfrm>
          <a:prstGeom prst="rect">
            <a:avLst/>
          </a:prstGeom>
          <a:noFill/>
          <a:ln/>
        </p:spPr>
        <p:txBody>
          <a:bodyPr wrap="square" rtlCol="0" anchor="ctr"/>
          <a:lstStyle/>
          <a:p>
            <a:pPr marL="0" indent="0">
              <a:buNone/>
            </a:pPr>
            <a:r>
              <a:rPr lang="en-US" sz="1150" dirty="0">
                <a:solidFill>
                  <a:srgbClr val="3A3F4B"/>
                </a:solidFill>
                <a:latin typeface="Calibri" pitchFamily="34" charset="0"/>
                <a:ea typeface="Calibri" pitchFamily="34" charset="-122"/>
                <a:cs typeface="Calibri" pitchFamily="34" charset="-120"/>
              </a:rPr>
              <a:t>Concepts, roles &amp; lifecycle</a:t>
            </a:r>
            <a:endParaRPr lang="en-US" sz="1150" dirty="0"/>
          </a:p>
        </p:txBody>
      </p:sp>
      <p:sp>
        <p:nvSpPr>
          <p:cNvPr id="14" name="Shape 12"/>
          <p:cNvSpPr/>
          <p:nvPr/>
        </p:nvSpPr>
        <p:spPr>
          <a:xfrm>
            <a:off x="4434840" y="2926080"/>
            <a:ext cx="7132320" cy="0"/>
          </a:xfrm>
          <a:prstGeom prst="line">
            <a:avLst/>
          </a:prstGeom>
          <a:noFill/>
          <a:ln w="12700">
            <a:solidFill>
              <a:srgbClr val="E3E8F0"/>
            </a:solidFill>
            <a:prstDash val="solid"/>
          </a:ln>
        </p:spPr>
      </p:sp>
      <p:sp>
        <p:nvSpPr>
          <p:cNvPr id="15" name="Text 13"/>
          <p:cNvSpPr/>
          <p:nvPr/>
        </p:nvSpPr>
        <p:spPr>
          <a:xfrm>
            <a:off x="4434840" y="3063240"/>
            <a:ext cx="822960" cy="822960"/>
          </a:xfrm>
          <a:prstGeom prst="rect">
            <a:avLst/>
          </a:prstGeom>
          <a:noFill/>
          <a:ln/>
        </p:spPr>
        <p:txBody>
          <a:bodyPr wrap="square" rtlCol="0" anchor="ctr"/>
          <a:lstStyle/>
          <a:p>
            <a:pPr marL="0" indent="0">
              <a:buNone/>
            </a:pPr>
            <a:r>
              <a:rPr lang="en-US" sz="2400" b="1" dirty="0">
                <a:solidFill>
                  <a:srgbClr val="F5A623"/>
                </a:solidFill>
                <a:latin typeface="Calibri" pitchFamily="34" charset="0"/>
                <a:ea typeface="Calibri" pitchFamily="34" charset="-122"/>
                <a:cs typeface="Calibri" pitchFamily="34" charset="-120"/>
              </a:rPr>
              <a:t>03</a:t>
            </a:r>
            <a:endParaRPr lang="en-US" sz="2400" dirty="0"/>
          </a:p>
        </p:txBody>
      </p:sp>
      <p:sp>
        <p:nvSpPr>
          <p:cNvPr id="16" name="Text 14"/>
          <p:cNvSpPr/>
          <p:nvPr/>
        </p:nvSpPr>
        <p:spPr>
          <a:xfrm>
            <a:off x="5212080" y="3081528"/>
            <a:ext cx="6400800" cy="365760"/>
          </a:xfrm>
          <a:prstGeom prst="rect">
            <a:avLst/>
          </a:prstGeom>
          <a:noFill/>
          <a:ln/>
        </p:spPr>
        <p:txBody>
          <a:bodyPr wrap="square" rtlCol="0" anchor="ctr"/>
          <a:lstStyle/>
          <a:p>
            <a:pPr marL="0" indent="0">
              <a:buNone/>
            </a:pPr>
            <a:r>
              <a:rPr lang="en-US" sz="1600" b="1" dirty="0">
                <a:solidFill>
                  <a:srgbClr val="0B2545"/>
                </a:solidFill>
                <a:latin typeface="Calibri" pitchFamily="34" charset="0"/>
                <a:ea typeface="Calibri" pitchFamily="34" charset="-122"/>
                <a:cs typeface="Calibri" pitchFamily="34" charset="-120"/>
              </a:rPr>
              <a:t>AWS Cloud Services</a:t>
            </a:r>
            <a:endParaRPr lang="en-US" sz="1600" dirty="0"/>
          </a:p>
        </p:txBody>
      </p:sp>
      <p:sp>
        <p:nvSpPr>
          <p:cNvPr id="17" name="Text 15"/>
          <p:cNvSpPr/>
          <p:nvPr/>
        </p:nvSpPr>
        <p:spPr>
          <a:xfrm>
            <a:off x="5212080" y="3447288"/>
            <a:ext cx="6400800" cy="320040"/>
          </a:xfrm>
          <a:prstGeom prst="rect">
            <a:avLst/>
          </a:prstGeom>
          <a:noFill/>
          <a:ln/>
        </p:spPr>
        <p:txBody>
          <a:bodyPr wrap="square" rtlCol="0" anchor="ctr"/>
          <a:lstStyle/>
          <a:p>
            <a:pPr marL="0" indent="0">
              <a:buNone/>
            </a:pPr>
            <a:r>
              <a:rPr lang="en-US" sz="1150" dirty="0">
                <a:solidFill>
                  <a:srgbClr val="3A3F4B"/>
                </a:solidFill>
                <a:latin typeface="Calibri" pitchFamily="34" charset="0"/>
                <a:ea typeface="Calibri" pitchFamily="34" charset="-122"/>
                <a:cs typeface="Calibri" pitchFamily="34" charset="-120"/>
              </a:rPr>
              <a:t>S3, RDS, Glue, Redshift, EMR, Kinesis</a:t>
            </a:r>
            <a:endParaRPr lang="en-US" sz="1150" dirty="0"/>
          </a:p>
        </p:txBody>
      </p:sp>
      <p:sp>
        <p:nvSpPr>
          <p:cNvPr id="18" name="Shape 16"/>
          <p:cNvSpPr/>
          <p:nvPr/>
        </p:nvSpPr>
        <p:spPr>
          <a:xfrm>
            <a:off x="4434840" y="4114800"/>
            <a:ext cx="7132320" cy="0"/>
          </a:xfrm>
          <a:prstGeom prst="line">
            <a:avLst/>
          </a:prstGeom>
          <a:noFill/>
          <a:ln w="12700">
            <a:solidFill>
              <a:srgbClr val="E3E8F0"/>
            </a:solidFill>
            <a:prstDash val="solid"/>
          </a:ln>
        </p:spPr>
      </p:sp>
      <p:sp>
        <p:nvSpPr>
          <p:cNvPr id="19" name="Text 17"/>
          <p:cNvSpPr/>
          <p:nvPr/>
        </p:nvSpPr>
        <p:spPr>
          <a:xfrm>
            <a:off x="4434840" y="4251960"/>
            <a:ext cx="822960" cy="822960"/>
          </a:xfrm>
          <a:prstGeom prst="rect">
            <a:avLst/>
          </a:prstGeom>
          <a:noFill/>
          <a:ln/>
        </p:spPr>
        <p:txBody>
          <a:bodyPr wrap="square" rtlCol="0" anchor="ctr"/>
          <a:lstStyle/>
          <a:p>
            <a:pPr marL="0" indent="0">
              <a:buNone/>
            </a:pPr>
            <a:r>
              <a:rPr lang="en-US" sz="2400" b="1" dirty="0">
                <a:solidFill>
                  <a:srgbClr val="F5A623"/>
                </a:solidFill>
                <a:latin typeface="Calibri" pitchFamily="34" charset="0"/>
                <a:ea typeface="Calibri" pitchFamily="34" charset="-122"/>
                <a:cs typeface="Calibri" pitchFamily="34" charset="-120"/>
              </a:rPr>
              <a:t>04</a:t>
            </a:r>
            <a:endParaRPr lang="en-US" sz="2400" dirty="0"/>
          </a:p>
        </p:txBody>
      </p:sp>
      <p:sp>
        <p:nvSpPr>
          <p:cNvPr id="20" name="Text 18"/>
          <p:cNvSpPr/>
          <p:nvPr/>
        </p:nvSpPr>
        <p:spPr>
          <a:xfrm>
            <a:off x="5212080" y="4270248"/>
            <a:ext cx="6400800" cy="365760"/>
          </a:xfrm>
          <a:prstGeom prst="rect">
            <a:avLst/>
          </a:prstGeom>
          <a:noFill/>
          <a:ln/>
        </p:spPr>
        <p:txBody>
          <a:bodyPr wrap="square" rtlCol="0" anchor="ctr"/>
          <a:lstStyle/>
          <a:p>
            <a:pPr marL="0" indent="0">
              <a:buNone/>
            </a:pPr>
            <a:r>
              <a:rPr lang="en-US" sz="1600" b="1" dirty="0">
                <a:solidFill>
                  <a:srgbClr val="0B2545"/>
                </a:solidFill>
                <a:latin typeface="Calibri" pitchFamily="34" charset="0"/>
                <a:ea typeface="Calibri" pitchFamily="34" charset="-122"/>
                <a:cs typeface="Calibri" pitchFamily="34" charset="-120"/>
              </a:rPr>
              <a:t>Pipelines &amp; Data Lakes</a:t>
            </a:r>
            <a:endParaRPr lang="en-US" sz="1600" dirty="0"/>
          </a:p>
        </p:txBody>
      </p:sp>
      <p:sp>
        <p:nvSpPr>
          <p:cNvPr id="21" name="Text 19"/>
          <p:cNvSpPr/>
          <p:nvPr/>
        </p:nvSpPr>
        <p:spPr>
          <a:xfrm>
            <a:off x="5212080" y="4636008"/>
            <a:ext cx="6400800" cy="320040"/>
          </a:xfrm>
          <a:prstGeom prst="rect">
            <a:avLst/>
          </a:prstGeom>
          <a:noFill/>
          <a:ln/>
        </p:spPr>
        <p:txBody>
          <a:bodyPr wrap="square" rtlCol="0" anchor="ctr"/>
          <a:lstStyle/>
          <a:p>
            <a:pPr marL="0" indent="0">
              <a:buNone/>
            </a:pPr>
            <a:r>
              <a:rPr lang="en-US" sz="1150" dirty="0">
                <a:solidFill>
                  <a:srgbClr val="3A3F4B"/>
                </a:solidFill>
                <a:latin typeface="Calibri" pitchFamily="34" charset="0"/>
                <a:ea typeface="Calibri" pitchFamily="34" charset="-122"/>
                <a:cs typeface="Calibri" pitchFamily="34" charset="-120"/>
              </a:rPr>
              <a:t>ETL, architecture &amp; governance</a:t>
            </a:r>
            <a:endParaRPr lang="en-US" sz="1150" dirty="0"/>
          </a:p>
        </p:txBody>
      </p:sp>
      <p:sp>
        <p:nvSpPr>
          <p:cNvPr id="22" name="Shape 20"/>
          <p:cNvSpPr/>
          <p:nvPr/>
        </p:nvSpPr>
        <p:spPr>
          <a:xfrm>
            <a:off x="4434840" y="5303520"/>
            <a:ext cx="7132320" cy="0"/>
          </a:xfrm>
          <a:prstGeom prst="line">
            <a:avLst/>
          </a:prstGeom>
          <a:noFill/>
          <a:ln w="12700">
            <a:solidFill>
              <a:srgbClr val="E3E8F0"/>
            </a:solidFill>
            <a:prstDash val="solid"/>
          </a:ln>
        </p:spPr>
      </p:sp>
      <p:sp>
        <p:nvSpPr>
          <p:cNvPr id="23" name="Text 21"/>
          <p:cNvSpPr/>
          <p:nvPr/>
        </p:nvSpPr>
        <p:spPr>
          <a:xfrm>
            <a:off x="4434840" y="5440680"/>
            <a:ext cx="822960" cy="822960"/>
          </a:xfrm>
          <a:prstGeom prst="rect">
            <a:avLst/>
          </a:prstGeom>
          <a:noFill/>
          <a:ln/>
        </p:spPr>
        <p:txBody>
          <a:bodyPr wrap="square" rtlCol="0" anchor="ctr"/>
          <a:lstStyle/>
          <a:p>
            <a:pPr marL="0" indent="0">
              <a:buNone/>
            </a:pPr>
            <a:r>
              <a:rPr lang="en-US" sz="2400" b="1" dirty="0">
                <a:solidFill>
                  <a:srgbClr val="F5A623"/>
                </a:solidFill>
                <a:latin typeface="Calibri" pitchFamily="34" charset="0"/>
                <a:ea typeface="Calibri" pitchFamily="34" charset="-122"/>
                <a:cs typeface="Calibri" pitchFamily="34" charset="-120"/>
              </a:rPr>
              <a:t>05</a:t>
            </a:r>
            <a:endParaRPr lang="en-US" sz="2400" dirty="0"/>
          </a:p>
        </p:txBody>
      </p:sp>
      <p:sp>
        <p:nvSpPr>
          <p:cNvPr id="24" name="Text 22"/>
          <p:cNvSpPr/>
          <p:nvPr/>
        </p:nvSpPr>
        <p:spPr>
          <a:xfrm>
            <a:off x="5212080" y="5458968"/>
            <a:ext cx="6400800" cy="365760"/>
          </a:xfrm>
          <a:prstGeom prst="rect">
            <a:avLst/>
          </a:prstGeom>
          <a:noFill/>
          <a:ln/>
        </p:spPr>
        <p:txBody>
          <a:bodyPr wrap="square" rtlCol="0" anchor="ctr"/>
          <a:lstStyle/>
          <a:p>
            <a:pPr marL="0" indent="0">
              <a:buNone/>
            </a:pPr>
            <a:r>
              <a:rPr lang="en-US" sz="1600" b="1" dirty="0">
                <a:solidFill>
                  <a:srgbClr val="0B2545"/>
                </a:solidFill>
                <a:latin typeface="Calibri" pitchFamily="34" charset="0"/>
                <a:ea typeface="Calibri" pitchFamily="34" charset="-122"/>
                <a:cs typeface="Calibri" pitchFamily="34" charset="-120"/>
              </a:rPr>
              <a:t>Learnings &amp; Outcomes</a:t>
            </a:r>
            <a:endParaRPr lang="en-US" sz="1600" dirty="0"/>
          </a:p>
        </p:txBody>
      </p:sp>
      <p:sp>
        <p:nvSpPr>
          <p:cNvPr id="25" name="Text 23"/>
          <p:cNvSpPr/>
          <p:nvPr/>
        </p:nvSpPr>
        <p:spPr>
          <a:xfrm>
            <a:off x="5212080" y="5824728"/>
            <a:ext cx="6400800" cy="320040"/>
          </a:xfrm>
          <a:prstGeom prst="rect">
            <a:avLst/>
          </a:prstGeom>
          <a:noFill/>
          <a:ln/>
        </p:spPr>
        <p:txBody>
          <a:bodyPr wrap="square" rtlCol="0" anchor="ctr"/>
          <a:lstStyle/>
          <a:p>
            <a:pPr marL="0" indent="0">
              <a:buNone/>
            </a:pPr>
            <a:r>
              <a:rPr lang="en-US" sz="1150" dirty="0">
                <a:solidFill>
                  <a:srgbClr val="3A3F4B"/>
                </a:solidFill>
                <a:latin typeface="Calibri" pitchFamily="34" charset="0"/>
                <a:ea typeface="Calibri" pitchFamily="34" charset="-122"/>
                <a:cs typeface="Calibri" pitchFamily="34" charset="-120"/>
              </a:rPr>
              <a:t>Skills gained and takeaways</a:t>
            </a:r>
            <a:endParaRPr lang="en-US" sz="1150" dirty="0"/>
          </a:p>
        </p:txBody>
      </p:sp>
      <p:sp>
        <p:nvSpPr>
          <p:cNvPr id="27" name="Text 24"/>
          <p:cNvSpPr/>
          <p:nvPr/>
        </p:nvSpPr>
        <p:spPr>
          <a:xfrm>
            <a:off x="457200" y="6473952"/>
            <a:ext cx="5486400" cy="274320"/>
          </a:xfrm>
          <a:prstGeom prst="rect">
            <a:avLst/>
          </a:prstGeom>
          <a:noFill/>
          <a:ln/>
        </p:spPr>
        <p:txBody>
          <a:bodyPr wrap="square" rtlCol="0" anchor="ctr"/>
          <a:lstStyle/>
          <a:p>
            <a:pPr marL="0" indent="0" algn="l">
              <a:buNone/>
            </a:pPr>
            <a:r>
              <a:rPr lang="en-US" sz="900" dirty="0">
                <a:solidFill>
                  <a:srgbClr val="8A93A5"/>
                </a:solidFill>
                <a:latin typeface="Calibri" pitchFamily="34" charset="0"/>
                <a:ea typeface="Calibri" pitchFamily="34" charset="-122"/>
                <a:cs typeface="Calibri" pitchFamily="34" charset="-120"/>
              </a:rPr>
              <a:t>Data Engineering Virtual Internship</a:t>
            </a:r>
            <a:endParaRPr lang="en-US" sz="900" dirty="0"/>
          </a:p>
        </p:txBody>
      </p:sp>
      <p:sp>
        <p:nvSpPr>
          <p:cNvPr id="28" name="Text 25"/>
          <p:cNvSpPr/>
          <p:nvPr/>
        </p:nvSpPr>
        <p:spPr>
          <a:xfrm>
            <a:off x="11274552" y="6473952"/>
            <a:ext cx="548640" cy="274320"/>
          </a:xfrm>
          <a:prstGeom prst="rect">
            <a:avLst/>
          </a:prstGeom>
          <a:noFill/>
          <a:ln/>
        </p:spPr>
        <p:txBody>
          <a:bodyPr wrap="square" rtlCol="0" anchor="ctr"/>
          <a:lstStyle/>
          <a:p>
            <a:pPr marL="0" indent="0" algn="r">
              <a:buNone/>
            </a:pPr>
            <a:r>
              <a:rPr lang="en-US" sz="900" dirty="0">
                <a:solidFill>
                  <a:srgbClr val="8A93A5"/>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548640" y="502920"/>
            <a:ext cx="1554480" cy="329184"/>
          </a:xfrm>
          <a:prstGeom prst="roundRect">
            <a:avLst>
              <a:gd name="adj" fmla="val 50000"/>
            </a:avLst>
          </a:prstGeom>
          <a:solidFill>
            <a:srgbClr val="134074"/>
          </a:solidFill>
          <a:ln/>
        </p:spPr>
      </p:sp>
      <p:sp>
        <p:nvSpPr>
          <p:cNvPr id="3" name="Text 1"/>
          <p:cNvSpPr/>
          <p:nvPr/>
        </p:nvSpPr>
        <p:spPr>
          <a:xfrm>
            <a:off x="548640" y="502920"/>
            <a:ext cx="1554480" cy="329184"/>
          </a:xfrm>
          <a:prstGeom prst="rect">
            <a:avLst/>
          </a:prstGeom>
          <a:noFill/>
          <a:ln/>
        </p:spPr>
        <p:txBody>
          <a:bodyPr wrap="square"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SECTION 01</a:t>
            </a:r>
            <a:endParaRPr lang="en-US" sz="1100" dirty="0"/>
          </a:p>
        </p:txBody>
      </p:sp>
      <p:sp>
        <p:nvSpPr>
          <p:cNvPr id="4" name="Text 2"/>
          <p:cNvSpPr/>
          <p:nvPr/>
        </p:nvSpPr>
        <p:spPr>
          <a:xfrm>
            <a:off x="548640" y="914400"/>
            <a:ext cx="11064240" cy="822960"/>
          </a:xfrm>
          <a:prstGeom prst="rect">
            <a:avLst/>
          </a:prstGeom>
          <a:noFill/>
          <a:ln/>
        </p:spPr>
        <p:txBody>
          <a:bodyPr wrap="square" rtlCol="0" anchor="ctr"/>
          <a:lstStyle/>
          <a:p>
            <a:pPr marL="0" indent="0" algn="l">
              <a:buNone/>
            </a:pPr>
            <a:r>
              <a:rPr lang="en-US" sz="3000" b="1" dirty="0">
                <a:solidFill>
                  <a:srgbClr val="0B2545"/>
                </a:solidFill>
                <a:latin typeface="Calibri" pitchFamily="34" charset="0"/>
                <a:ea typeface="Calibri" pitchFamily="34" charset="-122"/>
                <a:cs typeface="Calibri" pitchFamily="34" charset="-120"/>
              </a:rPr>
              <a:t>Certificate Snapshot</a:t>
            </a:r>
            <a:endParaRPr lang="en-US" sz="3000" dirty="0"/>
          </a:p>
        </p:txBody>
      </p:sp>
      <p:sp>
        <p:nvSpPr>
          <p:cNvPr id="5" name="Shape 3"/>
          <p:cNvSpPr/>
          <p:nvPr/>
        </p:nvSpPr>
        <p:spPr>
          <a:xfrm>
            <a:off x="548640" y="1828800"/>
            <a:ext cx="6858000" cy="4206240"/>
          </a:xfrm>
          <a:prstGeom prst="roundRect">
            <a:avLst>
              <a:gd name="adj" fmla="val 2174"/>
            </a:avLst>
          </a:prstGeom>
          <a:solidFill>
            <a:srgbClr val="FFFFFF"/>
          </a:solidFill>
          <a:ln w="12700">
            <a:solidFill>
              <a:srgbClr val="E3E8F0"/>
            </a:solidFill>
            <a:prstDash val="solid"/>
          </a:ln>
          <a:effectLst>
            <a:outerShdw blurRad="152400" dist="50800" dir="5400000" algn="bl" rotWithShape="0">
              <a:srgbClr val="1B2A4A">
                <a:alpha val="15000"/>
              </a:srgbClr>
            </a:outerShdw>
          </a:effectLst>
        </p:spPr>
      </p:sp>
      <p:sp>
        <p:nvSpPr>
          <p:cNvPr id="6" name="Text 4"/>
          <p:cNvSpPr/>
          <p:nvPr/>
        </p:nvSpPr>
        <p:spPr>
          <a:xfrm>
            <a:off x="868680" y="2057400"/>
            <a:ext cx="2377440" cy="457200"/>
          </a:xfrm>
          <a:prstGeom prst="rect">
            <a:avLst/>
          </a:prstGeom>
          <a:noFill/>
          <a:ln/>
        </p:spPr>
        <p:txBody>
          <a:bodyPr wrap="square" rtlCol="0" anchor="ctr"/>
          <a:lstStyle/>
          <a:p>
            <a:pPr marL="0" indent="0">
              <a:buNone/>
            </a:pPr>
            <a:r>
              <a:rPr lang="en-US" sz="1200" b="1" dirty="0">
                <a:solidFill>
                  <a:srgbClr val="8A93A5"/>
                </a:solidFill>
                <a:latin typeface="Calibri" pitchFamily="34" charset="0"/>
                <a:ea typeface="Calibri" pitchFamily="34" charset="-122"/>
                <a:cs typeface="Calibri" pitchFamily="34" charset="-120"/>
              </a:rPr>
              <a:t>Recipient</a:t>
            </a:r>
            <a:endParaRPr lang="en-US" sz="1200" dirty="0"/>
          </a:p>
        </p:txBody>
      </p:sp>
      <p:sp>
        <p:nvSpPr>
          <p:cNvPr id="7" name="Text 5"/>
          <p:cNvSpPr/>
          <p:nvPr/>
        </p:nvSpPr>
        <p:spPr>
          <a:xfrm>
            <a:off x="3246120" y="2057400"/>
            <a:ext cx="3931920" cy="457200"/>
          </a:xfrm>
          <a:prstGeom prst="rect">
            <a:avLst/>
          </a:prstGeom>
          <a:noFill/>
          <a:ln/>
        </p:spPr>
        <p:txBody>
          <a:bodyPr wrap="square" rtlCol="0" anchor="ctr"/>
          <a:lstStyle/>
          <a:p>
            <a:pPr marL="0" indent="0">
              <a:buNone/>
            </a:pPr>
            <a:r>
              <a:rPr lang="en-US" sz="1350" b="1" dirty="0">
                <a:solidFill>
                  <a:srgbClr val="0B2545"/>
                </a:solidFill>
                <a:latin typeface="Calibri" pitchFamily="34" charset="0"/>
                <a:ea typeface="Calibri" pitchFamily="34" charset="-122"/>
                <a:cs typeface="Calibri" pitchFamily="34" charset="-120"/>
              </a:rPr>
              <a:t>Jaya Kumari</a:t>
            </a:r>
            <a:endParaRPr lang="en-US" sz="1350" dirty="0"/>
          </a:p>
        </p:txBody>
      </p:sp>
      <p:sp>
        <p:nvSpPr>
          <p:cNvPr id="8" name="Shape 6"/>
          <p:cNvSpPr/>
          <p:nvPr/>
        </p:nvSpPr>
        <p:spPr>
          <a:xfrm>
            <a:off x="868680" y="2532888"/>
            <a:ext cx="6263640" cy="0"/>
          </a:xfrm>
          <a:prstGeom prst="line">
            <a:avLst/>
          </a:prstGeom>
          <a:noFill/>
          <a:ln w="12700">
            <a:solidFill>
              <a:srgbClr val="EDF1F7"/>
            </a:solidFill>
            <a:prstDash val="solid"/>
          </a:ln>
        </p:spPr>
      </p:sp>
      <p:sp>
        <p:nvSpPr>
          <p:cNvPr id="9" name="Text 7"/>
          <p:cNvSpPr/>
          <p:nvPr/>
        </p:nvSpPr>
        <p:spPr>
          <a:xfrm>
            <a:off x="868680" y="2606040"/>
            <a:ext cx="2377440" cy="457200"/>
          </a:xfrm>
          <a:prstGeom prst="rect">
            <a:avLst/>
          </a:prstGeom>
          <a:noFill/>
          <a:ln/>
        </p:spPr>
        <p:txBody>
          <a:bodyPr wrap="square" rtlCol="0" anchor="ctr"/>
          <a:lstStyle/>
          <a:p>
            <a:pPr marL="0" indent="0">
              <a:buNone/>
            </a:pPr>
            <a:r>
              <a:rPr lang="en-US" sz="1200" b="1" dirty="0">
                <a:solidFill>
                  <a:srgbClr val="8A93A5"/>
                </a:solidFill>
                <a:latin typeface="Calibri" pitchFamily="34" charset="0"/>
                <a:ea typeface="Calibri" pitchFamily="34" charset="-122"/>
                <a:cs typeface="Calibri" pitchFamily="34" charset="-120"/>
              </a:rPr>
              <a:t>Institution</a:t>
            </a:r>
            <a:endParaRPr lang="en-US" sz="1200" dirty="0"/>
          </a:p>
        </p:txBody>
      </p:sp>
      <p:sp>
        <p:nvSpPr>
          <p:cNvPr id="10" name="Text 8"/>
          <p:cNvSpPr/>
          <p:nvPr/>
        </p:nvSpPr>
        <p:spPr>
          <a:xfrm>
            <a:off x="3246120" y="2606040"/>
            <a:ext cx="3931920" cy="457200"/>
          </a:xfrm>
          <a:prstGeom prst="rect">
            <a:avLst/>
          </a:prstGeom>
          <a:noFill/>
          <a:ln/>
        </p:spPr>
        <p:txBody>
          <a:bodyPr wrap="square" rtlCol="0" anchor="ctr"/>
          <a:lstStyle/>
          <a:p>
            <a:pPr marL="0" indent="0">
              <a:buNone/>
            </a:pPr>
            <a:r>
              <a:rPr lang="en-US" sz="1350" b="1" dirty="0">
                <a:solidFill>
                  <a:srgbClr val="0B2545"/>
                </a:solidFill>
                <a:latin typeface="Calibri" pitchFamily="34" charset="0"/>
                <a:ea typeface="Calibri" pitchFamily="34" charset="-122"/>
                <a:cs typeface="Calibri" pitchFamily="34" charset="-120"/>
              </a:rPr>
              <a:t>IILM University, Greater Noida</a:t>
            </a:r>
            <a:endParaRPr lang="en-US" sz="1350" dirty="0"/>
          </a:p>
        </p:txBody>
      </p:sp>
      <p:sp>
        <p:nvSpPr>
          <p:cNvPr id="11" name="Shape 9"/>
          <p:cNvSpPr/>
          <p:nvPr/>
        </p:nvSpPr>
        <p:spPr>
          <a:xfrm>
            <a:off x="868680" y="3081528"/>
            <a:ext cx="6263640" cy="0"/>
          </a:xfrm>
          <a:prstGeom prst="line">
            <a:avLst/>
          </a:prstGeom>
          <a:noFill/>
          <a:ln w="12700">
            <a:solidFill>
              <a:srgbClr val="EDF1F7"/>
            </a:solidFill>
            <a:prstDash val="solid"/>
          </a:ln>
        </p:spPr>
      </p:sp>
      <p:sp>
        <p:nvSpPr>
          <p:cNvPr id="12" name="Text 10"/>
          <p:cNvSpPr/>
          <p:nvPr/>
        </p:nvSpPr>
        <p:spPr>
          <a:xfrm>
            <a:off x="868680" y="3154680"/>
            <a:ext cx="2377440" cy="457200"/>
          </a:xfrm>
          <a:prstGeom prst="rect">
            <a:avLst/>
          </a:prstGeom>
          <a:noFill/>
          <a:ln/>
        </p:spPr>
        <p:txBody>
          <a:bodyPr wrap="square" rtlCol="0" anchor="ctr"/>
          <a:lstStyle/>
          <a:p>
            <a:pPr marL="0" indent="0">
              <a:buNone/>
            </a:pPr>
            <a:r>
              <a:rPr lang="en-US" sz="1200" b="1" dirty="0">
                <a:solidFill>
                  <a:srgbClr val="8A93A5"/>
                </a:solidFill>
                <a:latin typeface="Calibri" pitchFamily="34" charset="0"/>
                <a:ea typeface="Calibri" pitchFamily="34" charset="-122"/>
                <a:cs typeface="Calibri" pitchFamily="34" charset="-120"/>
              </a:rPr>
              <a:t>Program</a:t>
            </a:r>
            <a:endParaRPr lang="en-US" sz="1200" dirty="0"/>
          </a:p>
        </p:txBody>
      </p:sp>
      <p:sp>
        <p:nvSpPr>
          <p:cNvPr id="13" name="Text 11"/>
          <p:cNvSpPr/>
          <p:nvPr/>
        </p:nvSpPr>
        <p:spPr>
          <a:xfrm>
            <a:off x="3246120" y="3154680"/>
            <a:ext cx="3931920" cy="457200"/>
          </a:xfrm>
          <a:prstGeom prst="rect">
            <a:avLst/>
          </a:prstGeom>
          <a:noFill/>
          <a:ln/>
        </p:spPr>
        <p:txBody>
          <a:bodyPr wrap="square" rtlCol="0" anchor="ctr"/>
          <a:lstStyle/>
          <a:p>
            <a:pPr marL="0" indent="0">
              <a:buNone/>
            </a:pPr>
            <a:r>
              <a:rPr lang="en-US" sz="1350" b="1" dirty="0">
                <a:solidFill>
                  <a:srgbClr val="0B2545"/>
                </a:solidFill>
                <a:latin typeface="Calibri" pitchFamily="34" charset="0"/>
                <a:ea typeface="Calibri" pitchFamily="34" charset="-122"/>
                <a:cs typeface="Calibri" pitchFamily="34" charset="-120"/>
              </a:rPr>
              <a:t>Data Engineering Virtual Internship</a:t>
            </a:r>
            <a:endParaRPr lang="en-US" sz="1350" dirty="0"/>
          </a:p>
        </p:txBody>
      </p:sp>
      <p:sp>
        <p:nvSpPr>
          <p:cNvPr id="14" name="Shape 12"/>
          <p:cNvSpPr/>
          <p:nvPr/>
        </p:nvSpPr>
        <p:spPr>
          <a:xfrm>
            <a:off x="868680" y="3630168"/>
            <a:ext cx="6263640" cy="0"/>
          </a:xfrm>
          <a:prstGeom prst="line">
            <a:avLst/>
          </a:prstGeom>
          <a:noFill/>
          <a:ln w="12700">
            <a:solidFill>
              <a:srgbClr val="EDF1F7"/>
            </a:solidFill>
            <a:prstDash val="solid"/>
          </a:ln>
        </p:spPr>
      </p:sp>
      <p:sp>
        <p:nvSpPr>
          <p:cNvPr id="15" name="Text 13"/>
          <p:cNvSpPr/>
          <p:nvPr/>
        </p:nvSpPr>
        <p:spPr>
          <a:xfrm>
            <a:off x="868680" y="3703320"/>
            <a:ext cx="2377440" cy="457200"/>
          </a:xfrm>
          <a:prstGeom prst="rect">
            <a:avLst/>
          </a:prstGeom>
          <a:noFill/>
          <a:ln/>
        </p:spPr>
        <p:txBody>
          <a:bodyPr wrap="square" rtlCol="0" anchor="ctr"/>
          <a:lstStyle/>
          <a:p>
            <a:pPr marL="0" indent="0">
              <a:buNone/>
            </a:pPr>
            <a:r>
              <a:rPr lang="en-US" sz="1200" b="1" dirty="0">
                <a:solidFill>
                  <a:srgbClr val="8A93A5"/>
                </a:solidFill>
                <a:latin typeface="Calibri" pitchFamily="34" charset="0"/>
                <a:ea typeface="Calibri" pitchFamily="34" charset="-122"/>
                <a:cs typeface="Calibri" pitchFamily="34" charset="-120"/>
              </a:rPr>
              <a:t>Duration</a:t>
            </a:r>
            <a:endParaRPr lang="en-US" sz="1200" dirty="0"/>
          </a:p>
        </p:txBody>
      </p:sp>
      <p:sp>
        <p:nvSpPr>
          <p:cNvPr id="16" name="Text 14"/>
          <p:cNvSpPr/>
          <p:nvPr/>
        </p:nvSpPr>
        <p:spPr>
          <a:xfrm>
            <a:off x="3246120" y="3703320"/>
            <a:ext cx="3931920" cy="457200"/>
          </a:xfrm>
          <a:prstGeom prst="rect">
            <a:avLst/>
          </a:prstGeom>
          <a:noFill/>
          <a:ln/>
        </p:spPr>
        <p:txBody>
          <a:bodyPr wrap="square" rtlCol="0" anchor="ctr"/>
          <a:lstStyle/>
          <a:p>
            <a:pPr marL="0" indent="0">
              <a:buNone/>
            </a:pPr>
            <a:r>
              <a:rPr lang="en-US" sz="1350" b="1" dirty="0">
                <a:solidFill>
                  <a:srgbClr val="0B2545"/>
                </a:solidFill>
                <a:latin typeface="Calibri" pitchFamily="34" charset="0"/>
                <a:ea typeface="Calibri" pitchFamily="34" charset="-122"/>
                <a:cs typeface="Calibri" pitchFamily="34" charset="-120"/>
              </a:rPr>
              <a:t>8 Weeks  (June – August 2026)</a:t>
            </a:r>
            <a:endParaRPr lang="en-US" sz="1350" dirty="0"/>
          </a:p>
        </p:txBody>
      </p:sp>
      <p:sp>
        <p:nvSpPr>
          <p:cNvPr id="17" name="Shape 15"/>
          <p:cNvSpPr/>
          <p:nvPr/>
        </p:nvSpPr>
        <p:spPr>
          <a:xfrm>
            <a:off x="868680" y="4178808"/>
            <a:ext cx="6263640" cy="0"/>
          </a:xfrm>
          <a:prstGeom prst="line">
            <a:avLst/>
          </a:prstGeom>
          <a:noFill/>
          <a:ln w="12700">
            <a:solidFill>
              <a:srgbClr val="EDF1F7"/>
            </a:solidFill>
            <a:prstDash val="solid"/>
          </a:ln>
        </p:spPr>
      </p:sp>
      <p:sp>
        <p:nvSpPr>
          <p:cNvPr id="18" name="Text 16"/>
          <p:cNvSpPr/>
          <p:nvPr/>
        </p:nvSpPr>
        <p:spPr>
          <a:xfrm>
            <a:off x="868680" y="4251960"/>
            <a:ext cx="2377440" cy="457200"/>
          </a:xfrm>
          <a:prstGeom prst="rect">
            <a:avLst/>
          </a:prstGeom>
          <a:noFill/>
          <a:ln/>
        </p:spPr>
        <p:txBody>
          <a:bodyPr wrap="square" rtlCol="0" anchor="ctr"/>
          <a:lstStyle/>
          <a:p>
            <a:pPr marL="0" indent="0">
              <a:buNone/>
            </a:pPr>
            <a:r>
              <a:rPr lang="en-US" sz="1200" b="1" dirty="0">
                <a:solidFill>
                  <a:srgbClr val="8A93A5"/>
                </a:solidFill>
                <a:latin typeface="Calibri" pitchFamily="34" charset="0"/>
                <a:ea typeface="Calibri" pitchFamily="34" charset="-122"/>
                <a:cs typeface="Calibri" pitchFamily="34" charset="-120"/>
              </a:rPr>
              <a:t>Curriculum Partner</a:t>
            </a:r>
            <a:endParaRPr lang="en-US" sz="1200" dirty="0"/>
          </a:p>
        </p:txBody>
      </p:sp>
      <p:sp>
        <p:nvSpPr>
          <p:cNvPr id="19" name="Text 17"/>
          <p:cNvSpPr/>
          <p:nvPr/>
        </p:nvSpPr>
        <p:spPr>
          <a:xfrm>
            <a:off x="3246120" y="4251960"/>
            <a:ext cx="3931920" cy="457200"/>
          </a:xfrm>
          <a:prstGeom prst="rect">
            <a:avLst/>
          </a:prstGeom>
          <a:noFill/>
          <a:ln/>
        </p:spPr>
        <p:txBody>
          <a:bodyPr wrap="square" rtlCol="0" anchor="ctr"/>
          <a:lstStyle/>
          <a:p>
            <a:pPr marL="0" indent="0">
              <a:buNone/>
            </a:pPr>
            <a:r>
              <a:rPr lang="en-US" sz="1350" b="1" dirty="0">
                <a:solidFill>
                  <a:srgbClr val="0B2545"/>
                </a:solidFill>
                <a:latin typeface="Calibri" pitchFamily="34" charset="0"/>
                <a:ea typeface="Calibri" pitchFamily="34" charset="-122"/>
                <a:cs typeface="Calibri" pitchFamily="34" charset="-120"/>
              </a:rPr>
              <a:t>AWS Academy</a:t>
            </a:r>
            <a:endParaRPr lang="en-US" sz="1350" dirty="0"/>
          </a:p>
        </p:txBody>
      </p:sp>
      <p:sp>
        <p:nvSpPr>
          <p:cNvPr id="20" name="Shape 18"/>
          <p:cNvSpPr/>
          <p:nvPr/>
        </p:nvSpPr>
        <p:spPr>
          <a:xfrm>
            <a:off x="868680" y="4727448"/>
            <a:ext cx="6263640" cy="0"/>
          </a:xfrm>
          <a:prstGeom prst="line">
            <a:avLst/>
          </a:prstGeom>
          <a:noFill/>
          <a:ln w="12700">
            <a:solidFill>
              <a:srgbClr val="EDF1F7"/>
            </a:solidFill>
            <a:prstDash val="solid"/>
          </a:ln>
        </p:spPr>
      </p:sp>
      <p:sp>
        <p:nvSpPr>
          <p:cNvPr id="21" name="Text 19"/>
          <p:cNvSpPr/>
          <p:nvPr/>
        </p:nvSpPr>
        <p:spPr>
          <a:xfrm>
            <a:off x="868680" y="4800600"/>
            <a:ext cx="2377440" cy="457200"/>
          </a:xfrm>
          <a:prstGeom prst="rect">
            <a:avLst/>
          </a:prstGeom>
          <a:noFill/>
          <a:ln/>
        </p:spPr>
        <p:txBody>
          <a:bodyPr wrap="square" rtlCol="0" anchor="ctr"/>
          <a:lstStyle/>
          <a:p>
            <a:pPr marL="0" indent="0">
              <a:buNone/>
            </a:pPr>
            <a:r>
              <a:rPr lang="en-US" sz="1200" b="1" dirty="0">
                <a:solidFill>
                  <a:srgbClr val="8A93A5"/>
                </a:solidFill>
                <a:latin typeface="Calibri" pitchFamily="34" charset="0"/>
                <a:ea typeface="Calibri" pitchFamily="34" charset="-122"/>
                <a:cs typeface="Calibri" pitchFamily="34" charset="-120"/>
              </a:rPr>
              <a:t>Issuing Bodies</a:t>
            </a:r>
            <a:endParaRPr lang="en-US" sz="1200" dirty="0"/>
          </a:p>
        </p:txBody>
      </p:sp>
      <p:sp>
        <p:nvSpPr>
          <p:cNvPr id="22" name="Text 20"/>
          <p:cNvSpPr/>
          <p:nvPr/>
        </p:nvSpPr>
        <p:spPr>
          <a:xfrm>
            <a:off x="3246120" y="4800600"/>
            <a:ext cx="3931920" cy="457200"/>
          </a:xfrm>
          <a:prstGeom prst="rect">
            <a:avLst/>
          </a:prstGeom>
          <a:noFill/>
          <a:ln/>
        </p:spPr>
        <p:txBody>
          <a:bodyPr wrap="square" rtlCol="0" anchor="ctr"/>
          <a:lstStyle/>
          <a:p>
            <a:pPr marL="0" indent="0">
              <a:buNone/>
            </a:pPr>
            <a:r>
              <a:rPr lang="en-US" sz="1350" b="1" dirty="0">
                <a:solidFill>
                  <a:srgbClr val="0B2545"/>
                </a:solidFill>
                <a:latin typeface="Calibri" pitchFamily="34" charset="0"/>
                <a:ea typeface="Calibri" pitchFamily="34" charset="-122"/>
                <a:cs typeface="Calibri" pitchFamily="34" charset="-120"/>
              </a:rPr>
              <a:t>Ministry of Education • AICTE • EduSkills</a:t>
            </a:r>
            <a:endParaRPr lang="en-US" sz="1350" dirty="0"/>
          </a:p>
        </p:txBody>
      </p:sp>
      <p:sp>
        <p:nvSpPr>
          <p:cNvPr id="23" name="Shape 21"/>
          <p:cNvSpPr/>
          <p:nvPr/>
        </p:nvSpPr>
        <p:spPr>
          <a:xfrm>
            <a:off x="868680" y="5276088"/>
            <a:ext cx="6263640" cy="0"/>
          </a:xfrm>
          <a:prstGeom prst="line">
            <a:avLst/>
          </a:prstGeom>
          <a:noFill/>
          <a:ln w="12700">
            <a:solidFill>
              <a:srgbClr val="EDF1F7"/>
            </a:solidFill>
            <a:prstDash val="solid"/>
          </a:ln>
        </p:spPr>
      </p:sp>
      <p:sp>
        <p:nvSpPr>
          <p:cNvPr id="24" name="Text 22"/>
          <p:cNvSpPr/>
          <p:nvPr/>
        </p:nvSpPr>
        <p:spPr>
          <a:xfrm>
            <a:off x="868680" y="5349240"/>
            <a:ext cx="2377440" cy="457200"/>
          </a:xfrm>
          <a:prstGeom prst="rect">
            <a:avLst/>
          </a:prstGeom>
          <a:noFill/>
          <a:ln/>
        </p:spPr>
        <p:txBody>
          <a:bodyPr wrap="square" rtlCol="0" anchor="ctr"/>
          <a:lstStyle/>
          <a:p>
            <a:pPr marL="0" indent="0">
              <a:buNone/>
            </a:pPr>
            <a:r>
              <a:rPr lang="en-US" sz="1200" b="1" dirty="0">
                <a:solidFill>
                  <a:srgbClr val="8A93A5"/>
                </a:solidFill>
                <a:latin typeface="Calibri" pitchFamily="34" charset="0"/>
                <a:ea typeface="Calibri" pitchFamily="34" charset="-122"/>
                <a:cs typeface="Calibri" pitchFamily="34" charset="-120"/>
              </a:rPr>
              <a:t>Internship Grade</a:t>
            </a:r>
            <a:endParaRPr lang="en-US" sz="1200" dirty="0"/>
          </a:p>
        </p:txBody>
      </p:sp>
      <p:sp>
        <p:nvSpPr>
          <p:cNvPr id="25" name="Text 23"/>
          <p:cNvSpPr/>
          <p:nvPr/>
        </p:nvSpPr>
        <p:spPr>
          <a:xfrm>
            <a:off x="3246120" y="5349240"/>
            <a:ext cx="3931920" cy="457200"/>
          </a:xfrm>
          <a:prstGeom prst="rect">
            <a:avLst/>
          </a:prstGeom>
          <a:noFill/>
          <a:ln/>
        </p:spPr>
        <p:txBody>
          <a:bodyPr wrap="square" rtlCol="0" anchor="ctr"/>
          <a:lstStyle/>
          <a:p>
            <a:pPr marL="0" indent="0">
              <a:buNone/>
            </a:pPr>
            <a:r>
              <a:rPr lang="en-US" sz="1350" b="1" dirty="0">
                <a:solidFill>
                  <a:srgbClr val="0B2545"/>
                </a:solidFill>
                <a:latin typeface="Calibri" pitchFamily="34" charset="0"/>
                <a:ea typeface="Calibri" pitchFamily="34" charset="-122"/>
                <a:cs typeface="Calibri" pitchFamily="34" charset="-120"/>
              </a:rPr>
              <a:t>O — Outstanding (90-100)</a:t>
            </a:r>
            <a:endParaRPr lang="en-US" sz="1350" dirty="0"/>
          </a:p>
        </p:txBody>
      </p:sp>
      <p:sp>
        <p:nvSpPr>
          <p:cNvPr id="26" name="Shape 24"/>
          <p:cNvSpPr/>
          <p:nvPr/>
        </p:nvSpPr>
        <p:spPr>
          <a:xfrm>
            <a:off x="7772400" y="1828800"/>
            <a:ext cx="3840480" cy="4206240"/>
          </a:xfrm>
          <a:prstGeom prst="roundRect">
            <a:avLst>
              <a:gd name="adj" fmla="val 2857"/>
            </a:avLst>
          </a:prstGeom>
          <a:solidFill>
            <a:srgbClr val="0B2545"/>
          </a:solidFill>
          <a:ln/>
        </p:spPr>
      </p:sp>
      <p:sp>
        <p:nvSpPr>
          <p:cNvPr id="27" name="Shape 25"/>
          <p:cNvSpPr/>
          <p:nvPr/>
        </p:nvSpPr>
        <p:spPr>
          <a:xfrm>
            <a:off x="9052560" y="2331720"/>
            <a:ext cx="1280160" cy="1280160"/>
          </a:xfrm>
          <a:prstGeom prst="ellipse">
            <a:avLst/>
          </a:prstGeom>
          <a:solidFill>
            <a:srgbClr val="F5A623"/>
          </a:solidFill>
          <a:ln/>
          <a:effectLst>
            <a:outerShdw blurRad="101600" dist="38100" dir="5400000" algn="bl" rotWithShape="0">
              <a:srgbClr val="1B2A4A">
                <a:alpha val="25000"/>
              </a:srgbClr>
            </a:outerShdw>
          </a:effectLst>
        </p:spPr>
      </p:sp>
      <p:pic>
        <p:nvPicPr>
          <p:cNvPr id="28" name="Image 0" descr="/home/claude/ppt/icons/trophy.png"/>
          <p:cNvPicPr>
            <a:picLocks noChangeAspect="1"/>
          </p:cNvPicPr>
          <p:nvPr/>
        </p:nvPicPr>
        <p:blipFill>
          <a:blip r:embed="rId3"/>
          <a:stretch>
            <a:fillRect/>
          </a:stretch>
        </p:blipFill>
        <p:spPr>
          <a:xfrm>
            <a:off x="9372600" y="2651760"/>
            <a:ext cx="640080" cy="640080"/>
          </a:xfrm>
          <a:prstGeom prst="rect">
            <a:avLst/>
          </a:prstGeom>
        </p:spPr>
      </p:pic>
      <p:sp>
        <p:nvSpPr>
          <p:cNvPr id="29" name="Text 26"/>
          <p:cNvSpPr/>
          <p:nvPr/>
        </p:nvSpPr>
        <p:spPr>
          <a:xfrm>
            <a:off x="7955280" y="3794760"/>
            <a:ext cx="3474720" cy="64008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Outstanding</a:t>
            </a:r>
            <a:endParaRPr lang="en-US" sz="1500" dirty="0"/>
          </a:p>
          <a:p>
            <a:pPr marL="0" indent="0" algn="ctr">
              <a:buNone/>
            </a:pPr>
            <a:r>
              <a:rPr lang="en-US" sz="1500" b="1" dirty="0">
                <a:solidFill>
                  <a:srgbClr val="FFFFFF"/>
                </a:solidFill>
                <a:latin typeface="Calibri" pitchFamily="34" charset="0"/>
                <a:ea typeface="Calibri" pitchFamily="34" charset="-122"/>
                <a:cs typeface="Calibri" pitchFamily="34" charset="-120"/>
              </a:rPr>
              <a:t>Grade</a:t>
            </a:r>
            <a:endParaRPr lang="en-US" sz="1500" dirty="0"/>
          </a:p>
        </p:txBody>
      </p:sp>
      <p:sp>
        <p:nvSpPr>
          <p:cNvPr id="30" name="Text 27"/>
          <p:cNvSpPr/>
          <p:nvPr/>
        </p:nvSpPr>
        <p:spPr>
          <a:xfrm>
            <a:off x="7955280" y="4572000"/>
            <a:ext cx="3474720" cy="548640"/>
          </a:xfrm>
          <a:prstGeom prst="rect">
            <a:avLst/>
          </a:prstGeom>
          <a:noFill/>
          <a:ln/>
        </p:spPr>
        <p:txBody>
          <a:bodyPr wrap="square" rtlCol="0" anchor="ctr"/>
          <a:lstStyle/>
          <a:p>
            <a:pPr marL="0" indent="0" algn="ctr">
              <a:buNone/>
            </a:pPr>
            <a:r>
              <a:rPr lang="en-US" sz="1000" dirty="0">
                <a:solidFill>
                  <a:srgbClr val="C7D2E3"/>
                </a:solidFill>
                <a:latin typeface="Calibri" pitchFamily="34" charset="0"/>
                <a:ea typeface="Calibri" pitchFamily="34" charset="-122"/>
                <a:cs typeface="Calibri" pitchFamily="34" charset="-120"/>
              </a:rPr>
              <a:t>Certificate ID</a:t>
            </a:r>
            <a:endParaRPr lang="en-US" sz="1000" dirty="0"/>
          </a:p>
          <a:p>
            <a:pPr marL="0" indent="0" algn="ctr">
              <a:buNone/>
            </a:pPr>
            <a:r>
              <a:rPr lang="en-US" sz="1000" dirty="0">
                <a:solidFill>
                  <a:srgbClr val="C7D2E3"/>
                </a:solidFill>
                <a:latin typeface="Calibri" pitchFamily="34" charset="0"/>
                <a:ea typeface="Calibri" pitchFamily="34" charset="-122"/>
                <a:cs typeface="Calibri" pitchFamily="34" charset="-120"/>
              </a:rPr>
              <a:t>4930bef033bb7029d125</a:t>
            </a:r>
            <a:endParaRPr lang="en-US" sz="1000" dirty="0"/>
          </a:p>
        </p:txBody>
      </p:sp>
      <p:sp>
        <p:nvSpPr>
          <p:cNvPr id="31" name="Text 28"/>
          <p:cNvSpPr/>
          <p:nvPr/>
        </p:nvSpPr>
        <p:spPr>
          <a:xfrm>
            <a:off x="7955280" y="5212080"/>
            <a:ext cx="3474720" cy="640080"/>
          </a:xfrm>
          <a:prstGeom prst="rect">
            <a:avLst/>
          </a:prstGeom>
          <a:noFill/>
          <a:ln/>
        </p:spPr>
        <p:txBody>
          <a:bodyPr wrap="square" rtlCol="0" anchor="ctr"/>
          <a:lstStyle/>
          <a:p>
            <a:pPr marL="0" indent="0" algn="ctr">
              <a:buNone/>
            </a:pPr>
            <a:r>
              <a:rPr lang="en-US" sz="1000" dirty="0">
                <a:solidFill>
                  <a:srgbClr val="C7D2E3"/>
                </a:solidFill>
                <a:latin typeface="Calibri" pitchFamily="34" charset="0"/>
                <a:ea typeface="Calibri" pitchFamily="34" charset="-122"/>
                <a:cs typeface="Calibri" pitchFamily="34" charset="-120"/>
              </a:rPr>
              <a:t>Student ID</a:t>
            </a:r>
            <a:endParaRPr lang="en-US" sz="1000" dirty="0"/>
          </a:p>
          <a:p>
            <a:pPr marL="0" indent="0" algn="ctr">
              <a:buNone/>
            </a:pPr>
            <a:r>
              <a:rPr lang="en-US" sz="1000" dirty="0">
                <a:solidFill>
                  <a:srgbClr val="C7D2E3"/>
                </a:solidFill>
                <a:latin typeface="Calibri" pitchFamily="34" charset="0"/>
                <a:ea typeface="Calibri" pitchFamily="34" charset="-122"/>
                <a:cs typeface="Calibri" pitchFamily="34" charset="-120"/>
              </a:rPr>
              <a:t>STU69e72d7412bab1776758132</a:t>
            </a:r>
            <a:endParaRPr lang="en-US" sz="1000" dirty="0"/>
          </a:p>
        </p:txBody>
      </p:sp>
      <p:sp>
        <p:nvSpPr>
          <p:cNvPr id="33" name="Text 29"/>
          <p:cNvSpPr/>
          <p:nvPr/>
        </p:nvSpPr>
        <p:spPr>
          <a:xfrm>
            <a:off x="457200" y="6473952"/>
            <a:ext cx="5486400" cy="274320"/>
          </a:xfrm>
          <a:prstGeom prst="rect">
            <a:avLst/>
          </a:prstGeom>
          <a:noFill/>
          <a:ln/>
        </p:spPr>
        <p:txBody>
          <a:bodyPr wrap="square" rtlCol="0" anchor="ctr"/>
          <a:lstStyle/>
          <a:p>
            <a:pPr marL="0" indent="0" algn="l">
              <a:buNone/>
            </a:pPr>
            <a:r>
              <a:rPr lang="en-US" sz="900" dirty="0">
                <a:solidFill>
                  <a:srgbClr val="8A93A5"/>
                </a:solidFill>
                <a:latin typeface="Calibri" pitchFamily="34" charset="0"/>
                <a:ea typeface="Calibri" pitchFamily="34" charset="-122"/>
                <a:cs typeface="Calibri" pitchFamily="34" charset="-120"/>
              </a:rPr>
              <a:t>Data Engineering Virtual Internship</a:t>
            </a:r>
            <a:endParaRPr lang="en-US" sz="900" dirty="0"/>
          </a:p>
        </p:txBody>
      </p:sp>
      <p:sp>
        <p:nvSpPr>
          <p:cNvPr id="34" name="Text 30"/>
          <p:cNvSpPr/>
          <p:nvPr/>
        </p:nvSpPr>
        <p:spPr>
          <a:xfrm>
            <a:off x="11274552" y="6473952"/>
            <a:ext cx="548640" cy="274320"/>
          </a:xfrm>
          <a:prstGeom prst="rect">
            <a:avLst/>
          </a:prstGeom>
          <a:noFill/>
          <a:ln/>
        </p:spPr>
        <p:txBody>
          <a:bodyPr wrap="square" rtlCol="0" anchor="ctr"/>
          <a:lstStyle/>
          <a:p>
            <a:pPr marL="0" indent="0" algn="r">
              <a:buNone/>
            </a:pPr>
            <a:r>
              <a:rPr lang="en-US" sz="900" dirty="0">
                <a:solidFill>
                  <a:srgbClr val="8A93A5"/>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1554480" cy="329184"/>
          </a:xfrm>
          <a:prstGeom prst="roundRect">
            <a:avLst>
              <a:gd name="adj" fmla="val 50000"/>
            </a:avLst>
          </a:prstGeom>
          <a:solidFill>
            <a:srgbClr val="134074"/>
          </a:solidFill>
          <a:ln/>
        </p:spPr>
      </p:sp>
      <p:sp>
        <p:nvSpPr>
          <p:cNvPr id="3" name="Text 1"/>
          <p:cNvSpPr/>
          <p:nvPr/>
        </p:nvSpPr>
        <p:spPr>
          <a:xfrm>
            <a:off x="548640" y="502920"/>
            <a:ext cx="1554480" cy="329184"/>
          </a:xfrm>
          <a:prstGeom prst="rect">
            <a:avLst/>
          </a:prstGeom>
          <a:noFill/>
          <a:ln/>
        </p:spPr>
        <p:txBody>
          <a:bodyPr wrap="square"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SECTION 01</a:t>
            </a:r>
            <a:endParaRPr lang="en-US" sz="1100" dirty="0"/>
          </a:p>
        </p:txBody>
      </p:sp>
      <p:sp>
        <p:nvSpPr>
          <p:cNvPr id="4" name="Text 2"/>
          <p:cNvSpPr/>
          <p:nvPr/>
        </p:nvSpPr>
        <p:spPr>
          <a:xfrm>
            <a:off x="548640" y="914400"/>
            <a:ext cx="11064240" cy="822960"/>
          </a:xfrm>
          <a:prstGeom prst="rect">
            <a:avLst/>
          </a:prstGeom>
          <a:noFill/>
          <a:ln/>
        </p:spPr>
        <p:txBody>
          <a:bodyPr wrap="square" rtlCol="0" anchor="ctr"/>
          <a:lstStyle/>
          <a:p>
            <a:pPr marL="0" indent="0" algn="l">
              <a:buNone/>
            </a:pPr>
            <a:r>
              <a:rPr lang="en-US" sz="3000" b="1" dirty="0">
                <a:solidFill>
                  <a:srgbClr val="0B2545"/>
                </a:solidFill>
                <a:latin typeface="Calibri" pitchFamily="34" charset="0"/>
                <a:ea typeface="Calibri" pitchFamily="34" charset="-122"/>
                <a:cs typeface="Calibri" pitchFamily="34" charset="-120"/>
              </a:rPr>
              <a:t>About the Program</a:t>
            </a:r>
            <a:endParaRPr lang="en-US" sz="3000" dirty="0"/>
          </a:p>
        </p:txBody>
      </p:sp>
      <p:sp>
        <p:nvSpPr>
          <p:cNvPr id="5" name="Text 3"/>
          <p:cNvSpPr/>
          <p:nvPr/>
        </p:nvSpPr>
        <p:spPr>
          <a:xfrm>
            <a:off x="548640" y="1600200"/>
            <a:ext cx="10515600" cy="457200"/>
          </a:xfrm>
          <a:prstGeom prst="rect">
            <a:avLst/>
          </a:prstGeom>
          <a:noFill/>
          <a:ln/>
        </p:spPr>
        <p:txBody>
          <a:bodyPr wrap="square" rtlCol="0" anchor="ctr"/>
          <a:lstStyle/>
          <a:p>
            <a:pPr marL="0" indent="0">
              <a:buNone/>
            </a:pPr>
            <a:r>
              <a:rPr lang="en-US" sz="1350" dirty="0">
                <a:solidFill>
                  <a:srgbClr val="3A3F4B"/>
                </a:solidFill>
                <a:latin typeface="Calibri" pitchFamily="34" charset="0"/>
                <a:ea typeface="Calibri" pitchFamily="34" charset="-122"/>
                <a:cs typeface="Calibri" pitchFamily="34" charset="-120"/>
              </a:rPr>
              <a:t>A national initiative connecting students to industry-relevant, cloud-based skilling — delivered fully online.</a:t>
            </a:r>
            <a:endParaRPr lang="en-US" sz="1350" dirty="0"/>
          </a:p>
        </p:txBody>
      </p:sp>
      <p:sp>
        <p:nvSpPr>
          <p:cNvPr id="6" name="Shape 4"/>
          <p:cNvSpPr/>
          <p:nvPr/>
        </p:nvSpPr>
        <p:spPr>
          <a:xfrm>
            <a:off x="548640" y="2286000"/>
            <a:ext cx="2606040" cy="3566160"/>
          </a:xfrm>
          <a:prstGeom prst="roundRect">
            <a:avLst>
              <a:gd name="adj" fmla="val 2807"/>
            </a:avLst>
          </a:prstGeom>
          <a:solidFill>
            <a:srgbClr val="F4F7FB"/>
          </a:solidFill>
          <a:ln/>
        </p:spPr>
      </p:sp>
      <p:sp>
        <p:nvSpPr>
          <p:cNvPr id="7" name="Shape 5"/>
          <p:cNvSpPr/>
          <p:nvPr/>
        </p:nvSpPr>
        <p:spPr>
          <a:xfrm>
            <a:off x="822960" y="2606040"/>
            <a:ext cx="640080" cy="640080"/>
          </a:xfrm>
          <a:prstGeom prst="roundRect">
            <a:avLst>
              <a:gd name="adj" fmla="val 20000"/>
            </a:avLst>
          </a:prstGeom>
          <a:solidFill>
            <a:srgbClr val="1B6CA8"/>
          </a:solidFill>
          <a:ln/>
        </p:spPr>
      </p:sp>
      <p:pic>
        <p:nvPicPr>
          <p:cNvPr id="8" name="Image 0" descr="/home/claude/ppt/icons/building.png"/>
          <p:cNvPicPr>
            <a:picLocks noChangeAspect="1"/>
          </p:cNvPicPr>
          <p:nvPr/>
        </p:nvPicPr>
        <p:blipFill>
          <a:blip r:embed="rId3"/>
          <a:stretch>
            <a:fillRect/>
          </a:stretch>
        </p:blipFill>
        <p:spPr>
          <a:xfrm>
            <a:off x="982980" y="2766060"/>
            <a:ext cx="320040" cy="320040"/>
          </a:xfrm>
          <a:prstGeom prst="rect">
            <a:avLst/>
          </a:prstGeom>
        </p:spPr>
      </p:pic>
      <p:sp>
        <p:nvSpPr>
          <p:cNvPr id="9" name="Text 6"/>
          <p:cNvSpPr/>
          <p:nvPr/>
        </p:nvSpPr>
        <p:spPr>
          <a:xfrm>
            <a:off x="804672" y="3429000"/>
            <a:ext cx="2103120" cy="685800"/>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Ministry of Education</a:t>
            </a:r>
            <a:endParaRPr lang="en-US" sz="1400" dirty="0"/>
          </a:p>
        </p:txBody>
      </p:sp>
      <p:sp>
        <p:nvSpPr>
          <p:cNvPr id="10" name="Text 7"/>
          <p:cNvSpPr/>
          <p:nvPr/>
        </p:nvSpPr>
        <p:spPr>
          <a:xfrm>
            <a:off x="804672" y="4114800"/>
            <a:ext cx="2103120" cy="1600200"/>
          </a:xfrm>
          <a:prstGeom prst="rect">
            <a:avLst/>
          </a:prstGeom>
          <a:noFill/>
          <a:ln/>
        </p:spPr>
        <p:txBody>
          <a:bodyPr wrap="square" rtlCol="0" anchor="ctr"/>
          <a:lstStyle/>
          <a:p>
            <a:pPr marL="0" indent="0">
              <a:lnSpc>
                <a:spcPts val="1400"/>
              </a:lnSpc>
              <a:buNone/>
            </a:pPr>
            <a:r>
              <a:rPr lang="en-US" sz="1050" dirty="0">
                <a:solidFill>
                  <a:srgbClr val="3A3F4B"/>
                </a:solidFill>
                <a:latin typeface="Calibri" pitchFamily="34" charset="0"/>
                <a:ea typeface="Calibri" pitchFamily="34" charset="-122"/>
                <a:cs typeface="Calibri" pitchFamily="34" charset="-120"/>
              </a:rPr>
              <a:t>Apex national body driving the internship &amp; skilling mission for higher-education students across India.</a:t>
            </a:r>
            <a:endParaRPr lang="en-US" sz="1050" dirty="0"/>
          </a:p>
        </p:txBody>
      </p:sp>
      <p:sp>
        <p:nvSpPr>
          <p:cNvPr id="11" name="Shape 8"/>
          <p:cNvSpPr/>
          <p:nvPr/>
        </p:nvSpPr>
        <p:spPr>
          <a:xfrm>
            <a:off x="3310128" y="2286000"/>
            <a:ext cx="2606040" cy="3566160"/>
          </a:xfrm>
          <a:prstGeom prst="roundRect">
            <a:avLst>
              <a:gd name="adj" fmla="val 2807"/>
            </a:avLst>
          </a:prstGeom>
          <a:solidFill>
            <a:srgbClr val="F4F7FB"/>
          </a:solidFill>
          <a:ln/>
        </p:spPr>
      </p:sp>
      <p:sp>
        <p:nvSpPr>
          <p:cNvPr id="12" name="Shape 9"/>
          <p:cNvSpPr/>
          <p:nvPr/>
        </p:nvSpPr>
        <p:spPr>
          <a:xfrm>
            <a:off x="3584448" y="2606040"/>
            <a:ext cx="640080" cy="640080"/>
          </a:xfrm>
          <a:prstGeom prst="roundRect">
            <a:avLst>
              <a:gd name="adj" fmla="val 20000"/>
            </a:avLst>
          </a:prstGeom>
          <a:solidFill>
            <a:srgbClr val="134074"/>
          </a:solidFill>
          <a:ln/>
        </p:spPr>
      </p:sp>
      <p:pic>
        <p:nvPicPr>
          <p:cNvPr id="13" name="Image 1" descr="/home/claude/ppt/icons/gear.png"/>
          <p:cNvPicPr>
            <a:picLocks noChangeAspect="1"/>
          </p:cNvPicPr>
          <p:nvPr/>
        </p:nvPicPr>
        <p:blipFill>
          <a:blip r:embed="rId4"/>
          <a:stretch>
            <a:fillRect/>
          </a:stretch>
        </p:blipFill>
        <p:spPr>
          <a:xfrm>
            <a:off x="3744468" y="2766060"/>
            <a:ext cx="320040" cy="320040"/>
          </a:xfrm>
          <a:prstGeom prst="rect">
            <a:avLst/>
          </a:prstGeom>
        </p:spPr>
      </p:pic>
      <p:sp>
        <p:nvSpPr>
          <p:cNvPr id="14" name="Text 10"/>
          <p:cNvSpPr/>
          <p:nvPr/>
        </p:nvSpPr>
        <p:spPr>
          <a:xfrm>
            <a:off x="3566160" y="3429000"/>
            <a:ext cx="2103120" cy="685800"/>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AICTE</a:t>
            </a:r>
            <a:endParaRPr lang="en-US" sz="1400" dirty="0"/>
          </a:p>
        </p:txBody>
      </p:sp>
      <p:sp>
        <p:nvSpPr>
          <p:cNvPr id="15" name="Text 11"/>
          <p:cNvSpPr/>
          <p:nvPr/>
        </p:nvSpPr>
        <p:spPr>
          <a:xfrm>
            <a:off x="3566160" y="4114800"/>
            <a:ext cx="2103120" cy="1600200"/>
          </a:xfrm>
          <a:prstGeom prst="rect">
            <a:avLst/>
          </a:prstGeom>
          <a:noFill/>
          <a:ln/>
        </p:spPr>
        <p:txBody>
          <a:bodyPr wrap="square" rtlCol="0" anchor="ctr"/>
          <a:lstStyle/>
          <a:p>
            <a:pPr marL="0" indent="0">
              <a:lnSpc>
                <a:spcPts val="1400"/>
              </a:lnSpc>
              <a:buNone/>
            </a:pPr>
            <a:r>
              <a:rPr lang="en-US" sz="1050" dirty="0">
                <a:solidFill>
                  <a:srgbClr val="3A3F4B"/>
                </a:solidFill>
                <a:latin typeface="Calibri" pitchFamily="34" charset="0"/>
                <a:ea typeface="Calibri" pitchFamily="34" charset="-122"/>
                <a:cs typeface="Calibri" pitchFamily="34" charset="-120"/>
              </a:rPr>
              <a:t>All India Council for Technical Education — coordinates and accredits the technical internship framework.</a:t>
            </a:r>
            <a:endParaRPr lang="en-US" sz="1050" dirty="0"/>
          </a:p>
        </p:txBody>
      </p:sp>
      <p:sp>
        <p:nvSpPr>
          <p:cNvPr id="16" name="Shape 12"/>
          <p:cNvSpPr/>
          <p:nvPr/>
        </p:nvSpPr>
        <p:spPr>
          <a:xfrm>
            <a:off x="6071616" y="2286000"/>
            <a:ext cx="2606040" cy="3566160"/>
          </a:xfrm>
          <a:prstGeom prst="roundRect">
            <a:avLst>
              <a:gd name="adj" fmla="val 2807"/>
            </a:avLst>
          </a:prstGeom>
          <a:solidFill>
            <a:srgbClr val="F4F7FB"/>
          </a:solidFill>
          <a:ln/>
        </p:spPr>
      </p:sp>
      <p:sp>
        <p:nvSpPr>
          <p:cNvPr id="17" name="Shape 13"/>
          <p:cNvSpPr/>
          <p:nvPr/>
        </p:nvSpPr>
        <p:spPr>
          <a:xfrm>
            <a:off x="6345936" y="2606040"/>
            <a:ext cx="640080" cy="640080"/>
          </a:xfrm>
          <a:prstGeom prst="roundRect">
            <a:avLst>
              <a:gd name="adj" fmla="val 20000"/>
            </a:avLst>
          </a:prstGeom>
          <a:solidFill>
            <a:srgbClr val="D98418"/>
          </a:solidFill>
          <a:ln/>
        </p:spPr>
      </p:sp>
      <p:pic>
        <p:nvPicPr>
          <p:cNvPr id="18" name="Image 2" descr="/home/claude/ppt/icons/globe.png"/>
          <p:cNvPicPr>
            <a:picLocks noChangeAspect="1"/>
          </p:cNvPicPr>
          <p:nvPr/>
        </p:nvPicPr>
        <p:blipFill>
          <a:blip r:embed="rId5"/>
          <a:stretch>
            <a:fillRect/>
          </a:stretch>
        </p:blipFill>
        <p:spPr>
          <a:xfrm>
            <a:off x="6505956" y="2766060"/>
            <a:ext cx="320040" cy="320040"/>
          </a:xfrm>
          <a:prstGeom prst="rect">
            <a:avLst/>
          </a:prstGeom>
        </p:spPr>
      </p:pic>
      <p:sp>
        <p:nvSpPr>
          <p:cNvPr id="19" name="Text 14"/>
          <p:cNvSpPr/>
          <p:nvPr/>
        </p:nvSpPr>
        <p:spPr>
          <a:xfrm>
            <a:off x="6327648" y="3429000"/>
            <a:ext cx="2103120" cy="685800"/>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National Internship Portal</a:t>
            </a:r>
            <a:endParaRPr lang="en-US" sz="1400" dirty="0"/>
          </a:p>
        </p:txBody>
      </p:sp>
      <p:sp>
        <p:nvSpPr>
          <p:cNvPr id="20" name="Text 15"/>
          <p:cNvSpPr/>
          <p:nvPr/>
        </p:nvSpPr>
        <p:spPr>
          <a:xfrm>
            <a:off x="6327648" y="4114800"/>
            <a:ext cx="2103120" cy="1600200"/>
          </a:xfrm>
          <a:prstGeom prst="rect">
            <a:avLst/>
          </a:prstGeom>
          <a:noFill/>
          <a:ln/>
        </p:spPr>
        <p:txBody>
          <a:bodyPr wrap="square" rtlCol="0" anchor="ctr"/>
          <a:lstStyle/>
          <a:p>
            <a:pPr marL="0" indent="0">
              <a:lnSpc>
                <a:spcPts val="1400"/>
              </a:lnSpc>
              <a:buNone/>
            </a:pPr>
            <a:r>
              <a:rPr lang="en-US" sz="1050" dirty="0">
                <a:solidFill>
                  <a:srgbClr val="3A3F4B"/>
                </a:solidFill>
                <a:latin typeface="Calibri" pitchFamily="34" charset="0"/>
                <a:ea typeface="Calibri" pitchFamily="34" charset="-122"/>
                <a:cs typeface="Calibri" pitchFamily="34" charset="-120"/>
              </a:rPr>
              <a:t>The platform used to discover, apply for, and track virtual internships nationwide.</a:t>
            </a:r>
            <a:endParaRPr lang="en-US" sz="1050" dirty="0"/>
          </a:p>
        </p:txBody>
      </p:sp>
      <p:sp>
        <p:nvSpPr>
          <p:cNvPr id="21" name="Shape 16"/>
          <p:cNvSpPr/>
          <p:nvPr/>
        </p:nvSpPr>
        <p:spPr>
          <a:xfrm>
            <a:off x="8833104" y="2286000"/>
            <a:ext cx="2606040" cy="3566160"/>
          </a:xfrm>
          <a:prstGeom prst="roundRect">
            <a:avLst>
              <a:gd name="adj" fmla="val 2807"/>
            </a:avLst>
          </a:prstGeom>
          <a:solidFill>
            <a:srgbClr val="F4F7FB"/>
          </a:solidFill>
          <a:ln/>
        </p:spPr>
      </p:sp>
      <p:sp>
        <p:nvSpPr>
          <p:cNvPr id="22" name="Shape 17"/>
          <p:cNvSpPr/>
          <p:nvPr/>
        </p:nvSpPr>
        <p:spPr>
          <a:xfrm>
            <a:off x="9107424" y="2606040"/>
            <a:ext cx="640080" cy="640080"/>
          </a:xfrm>
          <a:prstGeom prst="roundRect">
            <a:avLst>
              <a:gd name="adj" fmla="val 20000"/>
            </a:avLst>
          </a:prstGeom>
          <a:solidFill>
            <a:srgbClr val="0B2545"/>
          </a:solidFill>
          <a:ln/>
        </p:spPr>
      </p:sp>
      <p:pic>
        <p:nvPicPr>
          <p:cNvPr id="23" name="Image 3" descr="/home/claude/ppt/icons/handshake.png"/>
          <p:cNvPicPr>
            <a:picLocks noChangeAspect="1"/>
          </p:cNvPicPr>
          <p:nvPr/>
        </p:nvPicPr>
        <p:blipFill>
          <a:blip r:embed="rId6"/>
          <a:stretch>
            <a:fillRect/>
          </a:stretch>
        </p:blipFill>
        <p:spPr>
          <a:xfrm>
            <a:off x="9267444" y="2766060"/>
            <a:ext cx="320040" cy="320040"/>
          </a:xfrm>
          <a:prstGeom prst="rect">
            <a:avLst/>
          </a:prstGeom>
        </p:spPr>
      </p:pic>
      <p:sp>
        <p:nvSpPr>
          <p:cNvPr id="24" name="Text 18"/>
          <p:cNvSpPr/>
          <p:nvPr/>
        </p:nvSpPr>
        <p:spPr>
          <a:xfrm>
            <a:off x="9089136" y="3429000"/>
            <a:ext cx="2103120" cy="685800"/>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EduSkills Foundation</a:t>
            </a:r>
            <a:endParaRPr lang="en-US" sz="1400" dirty="0"/>
          </a:p>
        </p:txBody>
      </p:sp>
      <p:sp>
        <p:nvSpPr>
          <p:cNvPr id="25" name="Text 19"/>
          <p:cNvSpPr/>
          <p:nvPr/>
        </p:nvSpPr>
        <p:spPr>
          <a:xfrm>
            <a:off x="9089136" y="4114800"/>
            <a:ext cx="2103120" cy="1600200"/>
          </a:xfrm>
          <a:prstGeom prst="rect">
            <a:avLst/>
          </a:prstGeom>
          <a:noFill/>
          <a:ln/>
        </p:spPr>
        <p:txBody>
          <a:bodyPr wrap="square" rtlCol="0" anchor="ctr"/>
          <a:lstStyle/>
          <a:p>
            <a:pPr marL="0" indent="0">
              <a:lnSpc>
                <a:spcPts val="1400"/>
              </a:lnSpc>
              <a:buNone/>
            </a:pPr>
            <a:r>
              <a:rPr lang="en-US" sz="1050" dirty="0">
                <a:solidFill>
                  <a:srgbClr val="3A3F4B"/>
                </a:solidFill>
                <a:latin typeface="Calibri" pitchFamily="34" charset="0"/>
                <a:ea typeface="Calibri" pitchFamily="34" charset="-122"/>
                <a:cs typeface="Calibri" pitchFamily="34" charset="-120"/>
              </a:rPr>
              <a:t>Industry-academia partner that operationalises the internship — "Nation Building Through Skills."</a:t>
            </a:r>
            <a:endParaRPr lang="en-US" sz="1050" dirty="0"/>
          </a:p>
        </p:txBody>
      </p:sp>
      <p:sp>
        <p:nvSpPr>
          <p:cNvPr id="27" name="Text 20"/>
          <p:cNvSpPr/>
          <p:nvPr/>
        </p:nvSpPr>
        <p:spPr>
          <a:xfrm>
            <a:off x="457200" y="6473952"/>
            <a:ext cx="5486400" cy="274320"/>
          </a:xfrm>
          <a:prstGeom prst="rect">
            <a:avLst/>
          </a:prstGeom>
          <a:noFill/>
          <a:ln/>
        </p:spPr>
        <p:txBody>
          <a:bodyPr wrap="square" rtlCol="0" anchor="ctr"/>
          <a:lstStyle/>
          <a:p>
            <a:pPr marL="0" indent="0" algn="l">
              <a:buNone/>
            </a:pPr>
            <a:r>
              <a:rPr lang="en-US" sz="900" dirty="0">
                <a:solidFill>
                  <a:srgbClr val="8A93A5"/>
                </a:solidFill>
                <a:latin typeface="Calibri" pitchFamily="34" charset="0"/>
                <a:ea typeface="Calibri" pitchFamily="34" charset="-122"/>
                <a:cs typeface="Calibri" pitchFamily="34" charset="-120"/>
              </a:rPr>
              <a:t>Data Engineering Virtual Internship</a:t>
            </a:r>
            <a:endParaRPr lang="en-US" sz="900" dirty="0"/>
          </a:p>
        </p:txBody>
      </p:sp>
      <p:sp>
        <p:nvSpPr>
          <p:cNvPr id="28" name="Text 21"/>
          <p:cNvSpPr/>
          <p:nvPr/>
        </p:nvSpPr>
        <p:spPr>
          <a:xfrm>
            <a:off x="11274552" y="6473952"/>
            <a:ext cx="548640" cy="274320"/>
          </a:xfrm>
          <a:prstGeom prst="rect">
            <a:avLst/>
          </a:prstGeom>
          <a:noFill/>
          <a:ln/>
        </p:spPr>
        <p:txBody>
          <a:bodyPr wrap="square" rtlCol="0" anchor="ctr"/>
          <a:lstStyle/>
          <a:p>
            <a:pPr marL="0" indent="0" algn="r">
              <a:buNone/>
            </a:pPr>
            <a:r>
              <a:rPr lang="en-US" sz="900" dirty="0">
                <a:solidFill>
                  <a:srgbClr val="8A93A5"/>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9692640" y="-2286000"/>
            <a:ext cx="5486400" cy="5486400"/>
          </a:xfrm>
          <a:prstGeom prst="ellipse">
            <a:avLst/>
          </a:prstGeom>
          <a:solidFill>
            <a:srgbClr val="134074"/>
          </a:solidFill>
          <a:ln/>
        </p:spPr>
      </p:sp>
      <p:sp>
        <p:nvSpPr>
          <p:cNvPr id="3" name="Shape 1"/>
          <p:cNvSpPr/>
          <p:nvPr/>
        </p:nvSpPr>
        <p:spPr>
          <a:xfrm>
            <a:off x="548640" y="502920"/>
            <a:ext cx="1554480" cy="329184"/>
          </a:xfrm>
          <a:prstGeom prst="roundRect">
            <a:avLst>
              <a:gd name="adj" fmla="val 50000"/>
            </a:avLst>
          </a:prstGeom>
          <a:solidFill>
            <a:srgbClr val="F5A623"/>
          </a:solidFill>
          <a:ln/>
        </p:spPr>
      </p:sp>
      <p:sp>
        <p:nvSpPr>
          <p:cNvPr id="4" name="Text 2"/>
          <p:cNvSpPr/>
          <p:nvPr/>
        </p:nvSpPr>
        <p:spPr>
          <a:xfrm>
            <a:off x="548640" y="502920"/>
            <a:ext cx="1554480" cy="329184"/>
          </a:xfrm>
          <a:prstGeom prst="rect">
            <a:avLst/>
          </a:prstGeom>
          <a:noFill/>
          <a:ln/>
        </p:spPr>
        <p:txBody>
          <a:bodyPr wrap="square" rtlCol="0" anchor="ctr"/>
          <a:lstStyle/>
          <a:p>
            <a:pPr marL="0" indent="0" algn="ctr">
              <a:buNone/>
            </a:pPr>
            <a:r>
              <a:rPr lang="en-US" sz="1100" b="1" kern="0" spc="100" dirty="0">
                <a:solidFill>
                  <a:srgbClr val="081B33"/>
                </a:solidFill>
                <a:latin typeface="Calibri" pitchFamily="34" charset="0"/>
                <a:ea typeface="Calibri" pitchFamily="34" charset="-122"/>
                <a:cs typeface="Calibri" pitchFamily="34" charset="-120"/>
              </a:rPr>
              <a:t>SECTION 01</a:t>
            </a:r>
            <a:endParaRPr lang="en-US" sz="1100" dirty="0"/>
          </a:p>
        </p:txBody>
      </p:sp>
      <p:sp>
        <p:nvSpPr>
          <p:cNvPr id="5" name="Text 3"/>
          <p:cNvSpPr/>
          <p:nvPr/>
        </p:nvSpPr>
        <p:spPr>
          <a:xfrm>
            <a:off x="548640" y="914400"/>
            <a:ext cx="11064240" cy="822960"/>
          </a:xfrm>
          <a:prstGeom prst="rect">
            <a:avLst/>
          </a:prstGeom>
          <a:noFill/>
          <a:ln/>
        </p:spPr>
        <p:txBody>
          <a:bodyPr wrap="square"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Internship Objectives</a:t>
            </a:r>
            <a:endParaRPr lang="en-US" sz="3000" dirty="0"/>
          </a:p>
        </p:txBody>
      </p:sp>
      <p:sp>
        <p:nvSpPr>
          <p:cNvPr id="6" name="Shape 4"/>
          <p:cNvSpPr/>
          <p:nvPr/>
        </p:nvSpPr>
        <p:spPr>
          <a:xfrm>
            <a:off x="640080" y="1920240"/>
            <a:ext cx="502920" cy="502920"/>
          </a:xfrm>
          <a:prstGeom prst="ellipse">
            <a:avLst/>
          </a:prstGeom>
          <a:solidFill>
            <a:srgbClr val="F5A623"/>
          </a:solidFill>
          <a:ln/>
        </p:spPr>
      </p:sp>
      <p:sp>
        <p:nvSpPr>
          <p:cNvPr id="7" name="Text 5"/>
          <p:cNvSpPr/>
          <p:nvPr/>
        </p:nvSpPr>
        <p:spPr>
          <a:xfrm>
            <a:off x="640080" y="1920240"/>
            <a:ext cx="502920" cy="502920"/>
          </a:xfrm>
          <a:prstGeom prst="rect">
            <a:avLst/>
          </a:prstGeom>
          <a:noFill/>
          <a:ln/>
        </p:spPr>
        <p:txBody>
          <a:bodyPr wrap="square" rtlCol="0" anchor="ctr"/>
          <a:lstStyle/>
          <a:p>
            <a:pPr marL="0" indent="0" algn="ctr">
              <a:buNone/>
            </a:pPr>
            <a:r>
              <a:rPr lang="en-US" sz="1210" b="1" dirty="0">
                <a:solidFill>
                  <a:srgbClr val="081B33"/>
                </a:solidFill>
                <a:latin typeface="Calibri" pitchFamily="34" charset="0"/>
                <a:ea typeface="Calibri" pitchFamily="34" charset="-122"/>
                <a:cs typeface="Calibri" pitchFamily="34" charset="-120"/>
              </a:rPr>
              <a:t>1</a:t>
            </a:r>
            <a:endParaRPr lang="en-US" sz="1210" dirty="0"/>
          </a:p>
        </p:txBody>
      </p:sp>
      <p:sp>
        <p:nvSpPr>
          <p:cNvPr id="8" name="Text 6"/>
          <p:cNvSpPr/>
          <p:nvPr/>
        </p:nvSpPr>
        <p:spPr>
          <a:xfrm>
            <a:off x="1417320" y="1920240"/>
            <a:ext cx="9875520" cy="502920"/>
          </a:xfrm>
          <a:prstGeom prst="rect">
            <a:avLst/>
          </a:prstGeom>
          <a:noFill/>
          <a:ln/>
        </p:spPr>
        <p:txBody>
          <a:bodyPr wrap="square" rtlCol="0" anchor="ctr"/>
          <a:lstStyle/>
          <a:p>
            <a:pPr marL="0" indent="0">
              <a:buNone/>
            </a:pPr>
            <a:r>
              <a:rPr lang="en-US" sz="1500" dirty="0">
                <a:solidFill>
                  <a:srgbClr val="FFFFFF"/>
                </a:solidFill>
                <a:latin typeface="Calibri" pitchFamily="34" charset="0"/>
                <a:ea typeface="Calibri" pitchFamily="34" charset="-122"/>
                <a:cs typeface="Calibri" pitchFamily="34" charset="-120"/>
              </a:rPr>
              <a:t>Build a strong foundation in core data engineering concepts and terminology</a:t>
            </a:r>
            <a:endParaRPr lang="en-US" sz="1500" dirty="0"/>
          </a:p>
        </p:txBody>
      </p:sp>
      <p:sp>
        <p:nvSpPr>
          <p:cNvPr id="9" name="Shape 7"/>
          <p:cNvSpPr/>
          <p:nvPr/>
        </p:nvSpPr>
        <p:spPr>
          <a:xfrm>
            <a:off x="640080" y="2761488"/>
            <a:ext cx="502920" cy="502920"/>
          </a:xfrm>
          <a:prstGeom prst="ellipse">
            <a:avLst/>
          </a:prstGeom>
          <a:solidFill>
            <a:srgbClr val="F5A623"/>
          </a:solidFill>
          <a:ln/>
        </p:spPr>
      </p:sp>
      <p:sp>
        <p:nvSpPr>
          <p:cNvPr id="10" name="Text 8"/>
          <p:cNvSpPr/>
          <p:nvPr/>
        </p:nvSpPr>
        <p:spPr>
          <a:xfrm>
            <a:off x="640080" y="2761488"/>
            <a:ext cx="502920" cy="502920"/>
          </a:xfrm>
          <a:prstGeom prst="rect">
            <a:avLst/>
          </a:prstGeom>
          <a:noFill/>
          <a:ln/>
        </p:spPr>
        <p:txBody>
          <a:bodyPr wrap="square" rtlCol="0" anchor="ctr"/>
          <a:lstStyle/>
          <a:p>
            <a:pPr marL="0" indent="0" algn="ctr">
              <a:buNone/>
            </a:pPr>
            <a:r>
              <a:rPr lang="en-US" sz="1210" b="1" dirty="0">
                <a:solidFill>
                  <a:srgbClr val="081B33"/>
                </a:solidFill>
                <a:latin typeface="Calibri" pitchFamily="34" charset="0"/>
                <a:ea typeface="Calibri" pitchFamily="34" charset="-122"/>
                <a:cs typeface="Calibri" pitchFamily="34" charset="-120"/>
              </a:rPr>
              <a:t>2</a:t>
            </a:r>
            <a:endParaRPr lang="en-US" sz="1210" dirty="0"/>
          </a:p>
        </p:txBody>
      </p:sp>
      <p:sp>
        <p:nvSpPr>
          <p:cNvPr id="11" name="Text 9"/>
          <p:cNvSpPr/>
          <p:nvPr/>
        </p:nvSpPr>
        <p:spPr>
          <a:xfrm>
            <a:off x="1417320" y="2761488"/>
            <a:ext cx="9875520" cy="502920"/>
          </a:xfrm>
          <a:prstGeom prst="rect">
            <a:avLst/>
          </a:prstGeom>
          <a:noFill/>
          <a:ln/>
        </p:spPr>
        <p:txBody>
          <a:bodyPr wrap="square" rtlCol="0" anchor="ctr"/>
          <a:lstStyle/>
          <a:p>
            <a:pPr marL="0" indent="0">
              <a:buNone/>
            </a:pPr>
            <a:r>
              <a:rPr lang="en-US" sz="1500" dirty="0">
                <a:solidFill>
                  <a:srgbClr val="FFFFFF"/>
                </a:solidFill>
                <a:latin typeface="Calibri" pitchFamily="34" charset="0"/>
                <a:ea typeface="Calibri" pitchFamily="34" charset="-122"/>
                <a:cs typeface="Calibri" pitchFamily="34" charset="-120"/>
              </a:rPr>
              <a:t>Gain hands-on exposure to AWS cloud services used in real-world data pipelines</a:t>
            </a:r>
            <a:endParaRPr lang="en-US" sz="1500" dirty="0"/>
          </a:p>
        </p:txBody>
      </p:sp>
      <p:sp>
        <p:nvSpPr>
          <p:cNvPr id="12" name="Shape 10"/>
          <p:cNvSpPr/>
          <p:nvPr/>
        </p:nvSpPr>
        <p:spPr>
          <a:xfrm>
            <a:off x="640080" y="3602736"/>
            <a:ext cx="502920" cy="502920"/>
          </a:xfrm>
          <a:prstGeom prst="ellipse">
            <a:avLst/>
          </a:prstGeom>
          <a:solidFill>
            <a:srgbClr val="F5A623"/>
          </a:solidFill>
          <a:ln/>
        </p:spPr>
      </p:sp>
      <p:sp>
        <p:nvSpPr>
          <p:cNvPr id="13" name="Text 11"/>
          <p:cNvSpPr/>
          <p:nvPr/>
        </p:nvSpPr>
        <p:spPr>
          <a:xfrm>
            <a:off x="640080" y="3602736"/>
            <a:ext cx="502920" cy="502920"/>
          </a:xfrm>
          <a:prstGeom prst="rect">
            <a:avLst/>
          </a:prstGeom>
          <a:noFill/>
          <a:ln/>
        </p:spPr>
        <p:txBody>
          <a:bodyPr wrap="square" rtlCol="0" anchor="ctr"/>
          <a:lstStyle/>
          <a:p>
            <a:pPr marL="0" indent="0" algn="ctr">
              <a:buNone/>
            </a:pPr>
            <a:r>
              <a:rPr lang="en-US" sz="1210" b="1" dirty="0">
                <a:solidFill>
                  <a:srgbClr val="081B33"/>
                </a:solidFill>
                <a:latin typeface="Calibri" pitchFamily="34" charset="0"/>
                <a:ea typeface="Calibri" pitchFamily="34" charset="-122"/>
                <a:cs typeface="Calibri" pitchFamily="34" charset="-120"/>
              </a:rPr>
              <a:t>3</a:t>
            </a:r>
            <a:endParaRPr lang="en-US" sz="1210" dirty="0"/>
          </a:p>
        </p:txBody>
      </p:sp>
      <p:sp>
        <p:nvSpPr>
          <p:cNvPr id="14" name="Text 12"/>
          <p:cNvSpPr/>
          <p:nvPr/>
        </p:nvSpPr>
        <p:spPr>
          <a:xfrm>
            <a:off x="1417320" y="3602736"/>
            <a:ext cx="9875520" cy="502920"/>
          </a:xfrm>
          <a:prstGeom prst="rect">
            <a:avLst/>
          </a:prstGeom>
          <a:noFill/>
          <a:ln/>
        </p:spPr>
        <p:txBody>
          <a:bodyPr wrap="square" rtlCol="0" anchor="ctr"/>
          <a:lstStyle/>
          <a:p>
            <a:pPr marL="0" indent="0">
              <a:buNone/>
            </a:pPr>
            <a:r>
              <a:rPr lang="en-US" sz="1500" dirty="0">
                <a:solidFill>
                  <a:srgbClr val="FFFFFF"/>
                </a:solidFill>
                <a:latin typeface="Calibri" pitchFamily="34" charset="0"/>
                <a:ea typeface="Calibri" pitchFamily="34" charset="-122"/>
                <a:cs typeface="Calibri" pitchFamily="34" charset="-120"/>
              </a:rPr>
              <a:t>Understand how raw data becomes analytics-ready information at scale</a:t>
            </a:r>
            <a:endParaRPr lang="en-US" sz="1500" dirty="0"/>
          </a:p>
        </p:txBody>
      </p:sp>
      <p:sp>
        <p:nvSpPr>
          <p:cNvPr id="15" name="Shape 13"/>
          <p:cNvSpPr/>
          <p:nvPr/>
        </p:nvSpPr>
        <p:spPr>
          <a:xfrm>
            <a:off x="640080" y="4443984"/>
            <a:ext cx="502920" cy="502920"/>
          </a:xfrm>
          <a:prstGeom prst="ellipse">
            <a:avLst/>
          </a:prstGeom>
          <a:solidFill>
            <a:srgbClr val="F5A623"/>
          </a:solidFill>
          <a:ln/>
        </p:spPr>
      </p:sp>
      <p:sp>
        <p:nvSpPr>
          <p:cNvPr id="16" name="Text 14"/>
          <p:cNvSpPr/>
          <p:nvPr/>
        </p:nvSpPr>
        <p:spPr>
          <a:xfrm>
            <a:off x="640080" y="4443984"/>
            <a:ext cx="502920" cy="502920"/>
          </a:xfrm>
          <a:prstGeom prst="rect">
            <a:avLst/>
          </a:prstGeom>
          <a:noFill/>
          <a:ln/>
        </p:spPr>
        <p:txBody>
          <a:bodyPr wrap="square" rtlCol="0" anchor="ctr"/>
          <a:lstStyle/>
          <a:p>
            <a:pPr marL="0" indent="0" algn="ctr">
              <a:buNone/>
            </a:pPr>
            <a:r>
              <a:rPr lang="en-US" sz="1210" b="1" dirty="0">
                <a:solidFill>
                  <a:srgbClr val="081B33"/>
                </a:solidFill>
                <a:latin typeface="Calibri" pitchFamily="34" charset="0"/>
                <a:ea typeface="Calibri" pitchFamily="34" charset="-122"/>
                <a:cs typeface="Calibri" pitchFamily="34" charset="-120"/>
              </a:rPr>
              <a:t>4</a:t>
            </a:r>
            <a:endParaRPr lang="en-US" sz="1210" dirty="0"/>
          </a:p>
        </p:txBody>
      </p:sp>
      <p:sp>
        <p:nvSpPr>
          <p:cNvPr id="17" name="Text 15"/>
          <p:cNvSpPr/>
          <p:nvPr/>
        </p:nvSpPr>
        <p:spPr>
          <a:xfrm>
            <a:off x="1417320" y="4443984"/>
            <a:ext cx="9875520" cy="502920"/>
          </a:xfrm>
          <a:prstGeom prst="rect">
            <a:avLst/>
          </a:prstGeom>
          <a:noFill/>
          <a:ln/>
        </p:spPr>
        <p:txBody>
          <a:bodyPr wrap="square" rtlCol="0" anchor="ctr"/>
          <a:lstStyle/>
          <a:p>
            <a:pPr marL="0" indent="0">
              <a:buNone/>
            </a:pPr>
            <a:r>
              <a:rPr lang="en-US" sz="1500" dirty="0">
                <a:solidFill>
                  <a:srgbClr val="FFFFFF"/>
                </a:solidFill>
                <a:latin typeface="Calibri" pitchFamily="34" charset="0"/>
                <a:ea typeface="Calibri" pitchFamily="34" charset="-122"/>
                <a:cs typeface="Calibri" pitchFamily="34" charset="-120"/>
              </a:rPr>
              <a:t>Practice designing, storing, processing, and securing enterprise data</a:t>
            </a:r>
            <a:endParaRPr lang="en-US" sz="1500" dirty="0"/>
          </a:p>
        </p:txBody>
      </p:sp>
      <p:sp>
        <p:nvSpPr>
          <p:cNvPr id="18" name="Shape 16"/>
          <p:cNvSpPr/>
          <p:nvPr/>
        </p:nvSpPr>
        <p:spPr>
          <a:xfrm>
            <a:off x="640080" y="5285232"/>
            <a:ext cx="502920" cy="502920"/>
          </a:xfrm>
          <a:prstGeom prst="ellipse">
            <a:avLst/>
          </a:prstGeom>
          <a:solidFill>
            <a:srgbClr val="F5A623"/>
          </a:solidFill>
          <a:ln/>
        </p:spPr>
      </p:sp>
      <p:sp>
        <p:nvSpPr>
          <p:cNvPr id="19" name="Text 17"/>
          <p:cNvSpPr/>
          <p:nvPr/>
        </p:nvSpPr>
        <p:spPr>
          <a:xfrm>
            <a:off x="640080" y="5285232"/>
            <a:ext cx="502920" cy="502920"/>
          </a:xfrm>
          <a:prstGeom prst="rect">
            <a:avLst/>
          </a:prstGeom>
          <a:noFill/>
          <a:ln/>
        </p:spPr>
        <p:txBody>
          <a:bodyPr wrap="square" rtlCol="0" anchor="ctr"/>
          <a:lstStyle/>
          <a:p>
            <a:pPr marL="0" indent="0" algn="ctr">
              <a:buNone/>
            </a:pPr>
            <a:r>
              <a:rPr lang="en-US" sz="1210" b="1" dirty="0">
                <a:solidFill>
                  <a:srgbClr val="081B33"/>
                </a:solidFill>
                <a:latin typeface="Calibri" pitchFamily="34" charset="0"/>
                <a:ea typeface="Calibri" pitchFamily="34" charset="-122"/>
                <a:cs typeface="Calibri" pitchFamily="34" charset="-120"/>
              </a:rPr>
              <a:t>5</a:t>
            </a:r>
            <a:endParaRPr lang="en-US" sz="1210" dirty="0"/>
          </a:p>
        </p:txBody>
      </p:sp>
      <p:sp>
        <p:nvSpPr>
          <p:cNvPr id="20" name="Text 18"/>
          <p:cNvSpPr/>
          <p:nvPr/>
        </p:nvSpPr>
        <p:spPr>
          <a:xfrm>
            <a:off x="1417320" y="5285232"/>
            <a:ext cx="9875520" cy="502920"/>
          </a:xfrm>
          <a:prstGeom prst="rect">
            <a:avLst/>
          </a:prstGeom>
          <a:noFill/>
          <a:ln/>
        </p:spPr>
        <p:txBody>
          <a:bodyPr wrap="square" rtlCol="0" anchor="ctr"/>
          <a:lstStyle/>
          <a:p>
            <a:pPr marL="0" indent="0">
              <a:buNone/>
            </a:pPr>
            <a:r>
              <a:rPr lang="en-US" sz="1500" dirty="0">
                <a:solidFill>
                  <a:srgbClr val="FFFFFF"/>
                </a:solidFill>
                <a:latin typeface="Calibri" pitchFamily="34" charset="0"/>
                <a:ea typeface="Calibri" pitchFamily="34" charset="-122"/>
                <a:cs typeface="Calibri" pitchFamily="34" charset="-120"/>
              </a:rPr>
              <a:t>Develop industry-ready skills aligned with current data engineering roles</a:t>
            </a:r>
            <a:endParaRPr lang="en-US" sz="1500" dirty="0"/>
          </a:p>
        </p:txBody>
      </p:sp>
      <p:sp>
        <p:nvSpPr>
          <p:cNvPr id="22" name="Text 19"/>
          <p:cNvSpPr/>
          <p:nvPr/>
        </p:nvSpPr>
        <p:spPr>
          <a:xfrm>
            <a:off x="457200" y="6473952"/>
            <a:ext cx="5486400" cy="274320"/>
          </a:xfrm>
          <a:prstGeom prst="rect">
            <a:avLst/>
          </a:prstGeom>
          <a:noFill/>
          <a:ln/>
        </p:spPr>
        <p:txBody>
          <a:bodyPr wrap="square" rtlCol="0" anchor="ctr"/>
          <a:lstStyle/>
          <a:p>
            <a:pPr marL="0" indent="0" algn="l">
              <a:buNone/>
            </a:pPr>
            <a:r>
              <a:rPr lang="en-US" sz="900" dirty="0">
                <a:solidFill>
                  <a:srgbClr val="9AA6BF"/>
                </a:solidFill>
                <a:latin typeface="Calibri" pitchFamily="34" charset="0"/>
                <a:ea typeface="Calibri" pitchFamily="34" charset="-122"/>
                <a:cs typeface="Calibri" pitchFamily="34" charset="-120"/>
              </a:rPr>
              <a:t>Data Engineering Virtual Internship</a:t>
            </a:r>
            <a:endParaRPr lang="en-US" sz="900" dirty="0"/>
          </a:p>
        </p:txBody>
      </p:sp>
      <p:sp>
        <p:nvSpPr>
          <p:cNvPr id="23" name="Text 20"/>
          <p:cNvSpPr/>
          <p:nvPr/>
        </p:nvSpPr>
        <p:spPr>
          <a:xfrm>
            <a:off x="11274552" y="6473952"/>
            <a:ext cx="548640" cy="274320"/>
          </a:xfrm>
          <a:prstGeom prst="rect">
            <a:avLst/>
          </a:prstGeom>
          <a:noFill/>
          <a:ln/>
        </p:spPr>
        <p:txBody>
          <a:bodyPr wrap="square" rtlCol="0" anchor="ctr"/>
          <a:lstStyle/>
          <a:p>
            <a:pPr marL="0" indent="0" algn="r">
              <a:buNone/>
            </a:pPr>
            <a:r>
              <a:rPr lang="en-US" sz="900" dirty="0">
                <a:solidFill>
                  <a:srgbClr val="9AA6B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1554480" cy="329184"/>
          </a:xfrm>
          <a:prstGeom prst="roundRect">
            <a:avLst>
              <a:gd name="adj" fmla="val 50000"/>
            </a:avLst>
          </a:prstGeom>
          <a:solidFill>
            <a:srgbClr val="134074"/>
          </a:solidFill>
          <a:ln/>
        </p:spPr>
      </p:sp>
      <p:sp>
        <p:nvSpPr>
          <p:cNvPr id="3" name="Text 1"/>
          <p:cNvSpPr/>
          <p:nvPr/>
        </p:nvSpPr>
        <p:spPr>
          <a:xfrm>
            <a:off x="548640" y="502920"/>
            <a:ext cx="1554480" cy="329184"/>
          </a:xfrm>
          <a:prstGeom prst="rect">
            <a:avLst/>
          </a:prstGeom>
          <a:noFill/>
          <a:ln/>
        </p:spPr>
        <p:txBody>
          <a:bodyPr wrap="square"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SECTION 02</a:t>
            </a:r>
            <a:endParaRPr lang="en-US" sz="1100" dirty="0"/>
          </a:p>
        </p:txBody>
      </p:sp>
      <p:sp>
        <p:nvSpPr>
          <p:cNvPr id="4" name="Text 2"/>
          <p:cNvSpPr/>
          <p:nvPr/>
        </p:nvSpPr>
        <p:spPr>
          <a:xfrm>
            <a:off x="548640" y="914400"/>
            <a:ext cx="11064240" cy="822960"/>
          </a:xfrm>
          <a:prstGeom prst="rect">
            <a:avLst/>
          </a:prstGeom>
          <a:noFill/>
          <a:ln/>
        </p:spPr>
        <p:txBody>
          <a:bodyPr wrap="square" rtlCol="0" anchor="ctr"/>
          <a:lstStyle/>
          <a:p>
            <a:pPr marL="0" indent="0" algn="l">
              <a:buNone/>
            </a:pPr>
            <a:r>
              <a:rPr lang="en-US" sz="3000" b="1" dirty="0">
                <a:solidFill>
                  <a:srgbClr val="0B2545"/>
                </a:solidFill>
                <a:latin typeface="Calibri" pitchFamily="34" charset="0"/>
                <a:ea typeface="Calibri" pitchFamily="34" charset="-122"/>
                <a:cs typeface="Calibri" pitchFamily="34" charset="-120"/>
              </a:rPr>
              <a:t>What Is Data Engineering?</a:t>
            </a:r>
            <a:endParaRPr lang="en-US" sz="3000" dirty="0"/>
          </a:p>
        </p:txBody>
      </p:sp>
      <p:sp>
        <p:nvSpPr>
          <p:cNvPr id="5" name="Shape 3"/>
          <p:cNvSpPr/>
          <p:nvPr/>
        </p:nvSpPr>
        <p:spPr>
          <a:xfrm>
            <a:off x="548640" y="1920240"/>
            <a:ext cx="6035040" cy="4023360"/>
          </a:xfrm>
          <a:prstGeom prst="roundRect">
            <a:avLst>
              <a:gd name="adj" fmla="val 2273"/>
            </a:avLst>
          </a:prstGeom>
          <a:solidFill>
            <a:srgbClr val="F4F7FB"/>
          </a:solidFill>
          <a:ln/>
        </p:spPr>
      </p:sp>
      <p:sp>
        <p:nvSpPr>
          <p:cNvPr id="6" name="Text 4"/>
          <p:cNvSpPr/>
          <p:nvPr/>
        </p:nvSpPr>
        <p:spPr>
          <a:xfrm>
            <a:off x="868680" y="2194560"/>
            <a:ext cx="5486400" cy="1554480"/>
          </a:xfrm>
          <a:prstGeom prst="rect">
            <a:avLst/>
          </a:prstGeom>
          <a:noFill/>
          <a:ln/>
        </p:spPr>
        <p:txBody>
          <a:bodyPr wrap="square" rtlCol="0" anchor="ctr"/>
          <a:lstStyle/>
          <a:p>
            <a:pPr marL="0" indent="0">
              <a:lnSpc>
                <a:spcPts val="2100"/>
              </a:lnSpc>
              <a:buNone/>
            </a:pPr>
            <a:r>
              <a:rPr lang="en-US" sz="1450" b="1" dirty="0">
                <a:solidFill>
                  <a:srgbClr val="0B2545"/>
                </a:solidFill>
                <a:latin typeface="Calibri" pitchFamily="34" charset="0"/>
                <a:ea typeface="Calibri" pitchFamily="34" charset="-122"/>
                <a:cs typeface="Calibri" pitchFamily="34" charset="-120"/>
              </a:rPr>
              <a:t>Data engineering is the practice of designing, building, and maintaining the systems that collect, store, and prepare data so it is reliable and ready for analysis.</a:t>
            </a:r>
            <a:endParaRPr lang="en-US" sz="1450" dirty="0"/>
          </a:p>
        </p:txBody>
      </p:sp>
      <p:sp>
        <p:nvSpPr>
          <p:cNvPr id="7" name="Text 5"/>
          <p:cNvSpPr/>
          <p:nvPr/>
        </p:nvSpPr>
        <p:spPr>
          <a:xfrm>
            <a:off x="868680" y="3840480"/>
            <a:ext cx="5486400" cy="1828800"/>
          </a:xfrm>
          <a:prstGeom prst="rect">
            <a:avLst/>
          </a:prstGeom>
          <a:noFill/>
          <a:ln/>
        </p:spPr>
        <p:txBody>
          <a:bodyPr wrap="square" rtlCol="0" anchor="ctr"/>
          <a:lstStyle/>
          <a:p>
            <a:pPr marL="0" indent="0">
              <a:lnSpc>
                <a:spcPts val="1800"/>
              </a:lnSpc>
              <a:buNone/>
            </a:pPr>
            <a:r>
              <a:rPr lang="en-US" sz="1250" dirty="0">
                <a:solidFill>
                  <a:srgbClr val="3A3F4B"/>
                </a:solidFill>
                <a:latin typeface="Calibri" pitchFamily="34" charset="0"/>
                <a:ea typeface="Calibri" pitchFamily="34" charset="-122"/>
                <a:cs typeface="Calibri" pitchFamily="34" charset="-120"/>
              </a:rPr>
              <a:t>It is the foundation layer beneath analytics, machine learning, and business intelligence — turning scattered raw data into a trustworthy, usable asset.</a:t>
            </a:r>
            <a:endParaRPr lang="en-US" sz="1250" dirty="0"/>
          </a:p>
        </p:txBody>
      </p:sp>
      <p:sp>
        <p:nvSpPr>
          <p:cNvPr id="8" name="Shape 6"/>
          <p:cNvSpPr/>
          <p:nvPr/>
        </p:nvSpPr>
        <p:spPr>
          <a:xfrm>
            <a:off x="6949440" y="1920240"/>
            <a:ext cx="502920" cy="502920"/>
          </a:xfrm>
          <a:prstGeom prst="ellipse">
            <a:avLst/>
          </a:prstGeom>
          <a:solidFill>
            <a:srgbClr val="F5A623"/>
          </a:solidFill>
          <a:ln/>
        </p:spPr>
      </p:sp>
      <p:sp>
        <p:nvSpPr>
          <p:cNvPr id="9" name="Text 7"/>
          <p:cNvSpPr/>
          <p:nvPr/>
        </p:nvSpPr>
        <p:spPr>
          <a:xfrm>
            <a:off x="6949440" y="1920240"/>
            <a:ext cx="502920" cy="502920"/>
          </a:xfrm>
          <a:prstGeom prst="rect">
            <a:avLst/>
          </a:prstGeom>
          <a:noFill/>
          <a:ln/>
        </p:spPr>
        <p:txBody>
          <a:bodyPr wrap="square" rtlCol="0" anchor="ctr"/>
          <a:lstStyle/>
          <a:p>
            <a:pPr marL="0" indent="0" algn="ctr">
              <a:buNone/>
            </a:pPr>
            <a:r>
              <a:rPr lang="en-US" sz="1210" b="1" dirty="0">
                <a:solidFill>
                  <a:srgbClr val="FFFFFF"/>
                </a:solidFill>
                <a:latin typeface="Calibri" pitchFamily="34" charset="0"/>
                <a:ea typeface="Calibri" pitchFamily="34" charset="-122"/>
                <a:cs typeface="Calibri" pitchFamily="34" charset="-120"/>
              </a:rPr>
              <a:t>1</a:t>
            </a:r>
            <a:endParaRPr lang="en-US" sz="1210" dirty="0"/>
          </a:p>
        </p:txBody>
      </p:sp>
      <p:sp>
        <p:nvSpPr>
          <p:cNvPr id="10" name="Text 8"/>
          <p:cNvSpPr/>
          <p:nvPr/>
        </p:nvSpPr>
        <p:spPr>
          <a:xfrm>
            <a:off x="7635240" y="1874520"/>
            <a:ext cx="3931920" cy="365760"/>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Collect</a:t>
            </a:r>
            <a:endParaRPr lang="en-US" sz="1400" dirty="0"/>
          </a:p>
        </p:txBody>
      </p:sp>
      <p:sp>
        <p:nvSpPr>
          <p:cNvPr id="11" name="Text 9"/>
          <p:cNvSpPr/>
          <p:nvPr/>
        </p:nvSpPr>
        <p:spPr>
          <a:xfrm>
            <a:off x="7635240" y="2212848"/>
            <a:ext cx="3931920" cy="502920"/>
          </a:xfrm>
          <a:prstGeom prst="rect">
            <a:avLst/>
          </a:prstGeom>
          <a:noFill/>
          <a:ln/>
        </p:spPr>
        <p:txBody>
          <a:bodyPr wrap="square" rtlCol="0" anchor="ctr"/>
          <a:lstStyle/>
          <a:p>
            <a:pPr marL="0" indent="0">
              <a:buNone/>
            </a:pPr>
            <a:r>
              <a:rPr lang="en-US" sz="1100" dirty="0">
                <a:solidFill>
                  <a:srgbClr val="3A3F4B"/>
                </a:solidFill>
                <a:latin typeface="Calibri" pitchFamily="34" charset="0"/>
                <a:ea typeface="Calibri" pitchFamily="34" charset="-122"/>
                <a:cs typeface="Calibri" pitchFamily="34" charset="-120"/>
              </a:rPr>
              <a:t>Ingest data from apps, sensors, and third-party sources</a:t>
            </a:r>
            <a:endParaRPr lang="en-US" sz="1100" dirty="0"/>
          </a:p>
        </p:txBody>
      </p:sp>
      <p:sp>
        <p:nvSpPr>
          <p:cNvPr id="12" name="Shape 10"/>
          <p:cNvSpPr/>
          <p:nvPr/>
        </p:nvSpPr>
        <p:spPr>
          <a:xfrm>
            <a:off x="6949440" y="2880360"/>
            <a:ext cx="502920" cy="502920"/>
          </a:xfrm>
          <a:prstGeom prst="ellipse">
            <a:avLst/>
          </a:prstGeom>
          <a:solidFill>
            <a:srgbClr val="134074"/>
          </a:solidFill>
          <a:ln/>
        </p:spPr>
      </p:sp>
      <p:sp>
        <p:nvSpPr>
          <p:cNvPr id="13" name="Text 11"/>
          <p:cNvSpPr/>
          <p:nvPr/>
        </p:nvSpPr>
        <p:spPr>
          <a:xfrm>
            <a:off x="6949440" y="2880360"/>
            <a:ext cx="502920" cy="502920"/>
          </a:xfrm>
          <a:prstGeom prst="rect">
            <a:avLst/>
          </a:prstGeom>
          <a:noFill/>
          <a:ln/>
        </p:spPr>
        <p:txBody>
          <a:bodyPr wrap="square" rtlCol="0" anchor="ctr"/>
          <a:lstStyle/>
          <a:p>
            <a:pPr marL="0" indent="0" algn="ctr">
              <a:buNone/>
            </a:pPr>
            <a:r>
              <a:rPr lang="en-US" sz="1210" b="1" dirty="0">
                <a:solidFill>
                  <a:srgbClr val="FFFFFF"/>
                </a:solidFill>
                <a:latin typeface="Calibri" pitchFamily="34" charset="0"/>
                <a:ea typeface="Calibri" pitchFamily="34" charset="-122"/>
                <a:cs typeface="Calibri" pitchFamily="34" charset="-120"/>
              </a:rPr>
              <a:t>2</a:t>
            </a:r>
            <a:endParaRPr lang="en-US" sz="1210" dirty="0"/>
          </a:p>
        </p:txBody>
      </p:sp>
      <p:sp>
        <p:nvSpPr>
          <p:cNvPr id="14" name="Text 12"/>
          <p:cNvSpPr/>
          <p:nvPr/>
        </p:nvSpPr>
        <p:spPr>
          <a:xfrm>
            <a:off x="7635240" y="2834640"/>
            <a:ext cx="3931920" cy="365760"/>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Store</a:t>
            </a:r>
            <a:endParaRPr lang="en-US" sz="1400" dirty="0"/>
          </a:p>
        </p:txBody>
      </p:sp>
      <p:sp>
        <p:nvSpPr>
          <p:cNvPr id="15" name="Text 13"/>
          <p:cNvSpPr/>
          <p:nvPr/>
        </p:nvSpPr>
        <p:spPr>
          <a:xfrm>
            <a:off x="7635240" y="3172968"/>
            <a:ext cx="3931920" cy="502920"/>
          </a:xfrm>
          <a:prstGeom prst="rect">
            <a:avLst/>
          </a:prstGeom>
          <a:noFill/>
          <a:ln/>
        </p:spPr>
        <p:txBody>
          <a:bodyPr wrap="square" rtlCol="0" anchor="ctr"/>
          <a:lstStyle/>
          <a:p>
            <a:pPr marL="0" indent="0">
              <a:buNone/>
            </a:pPr>
            <a:r>
              <a:rPr lang="en-US" sz="1100" dirty="0">
                <a:solidFill>
                  <a:srgbClr val="3A3F4B"/>
                </a:solidFill>
                <a:latin typeface="Calibri" pitchFamily="34" charset="0"/>
                <a:ea typeface="Calibri" pitchFamily="34" charset="-122"/>
                <a:cs typeface="Calibri" pitchFamily="34" charset="-120"/>
              </a:rPr>
              <a:t>Organise data in databases, warehouses, or lakes</a:t>
            </a:r>
            <a:endParaRPr lang="en-US" sz="1100" dirty="0"/>
          </a:p>
        </p:txBody>
      </p:sp>
      <p:sp>
        <p:nvSpPr>
          <p:cNvPr id="16" name="Shape 14"/>
          <p:cNvSpPr/>
          <p:nvPr/>
        </p:nvSpPr>
        <p:spPr>
          <a:xfrm>
            <a:off x="6949440" y="3840480"/>
            <a:ext cx="502920" cy="502920"/>
          </a:xfrm>
          <a:prstGeom prst="ellipse">
            <a:avLst/>
          </a:prstGeom>
          <a:solidFill>
            <a:srgbClr val="F5A623"/>
          </a:solidFill>
          <a:ln/>
        </p:spPr>
      </p:sp>
      <p:sp>
        <p:nvSpPr>
          <p:cNvPr id="17" name="Text 15"/>
          <p:cNvSpPr/>
          <p:nvPr/>
        </p:nvSpPr>
        <p:spPr>
          <a:xfrm>
            <a:off x="6949440" y="3840480"/>
            <a:ext cx="502920" cy="502920"/>
          </a:xfrm>
          <a:prstGeom prst="rect">
            <a:avLst/>
          </a:prstGeom>
          <a:noFill/>
          <a:ln/>
        </p:spPr>
        <p:txBody>
          <a:bodyPr wrap="square" rtlCol="0" anchor="ctr"/>
          <a:lstStyle/>
          <a:p>
            <a:pPr marL="0" indent="0" algn="ctr">
              <a:buNone/>
            </a:pPr>
            <a:r>
              <a:rPr lang="en-US" sz="1210" b="1" dirty="0">
                <a:solidFill>
                  <a:srgbClr val="FFFFFF"/>
                </a:solidFill>
                <a:latin typeface="Calibri" pitchFamily="34" charset="0"/>
                <a:ea typeface="Calibri" pitchFamily="34" charset="-122"/>
                <a:cs typeface="Calibri" pitchFamily="34" charset="-120"/>
              </a:rPr>
              <a:t>3</a:t>
            </a:r>
            <a:endParaRPr lang="en-US" sz="1210" dirty="0"/>
          </a:p>
        </p:txBody>
      </p:sp>
      <p:sp>
        <p:nvSpPr>
          <p:cNvPr id="18" name="Text 16"/>
          <p:cNvSpPr/>
          <p:nvPr/>
        </p:nvSpPr>
        <p:spPr>
          <a:xfrm>
            <a:off x="7635240" y="3794760"/>
            <a:ext cx="3931920" cy="365760"/>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Process</a:t>
            </a:r>
            <a:endParaRPr lang="en-US" sz="1400" dirty="0"/>
          </a:p>
        </p:txBody>
      </p:sp>
      <p:sp>
        <p:nvSpPr>
          <p:cNvPr id="19" name="Text 17"/>
          <p:cNvSpPr/>
          <p:nvPr/>
        </p:nvSpPr>
        <p:spPr>
          <a:xfrm>
            <a:off x="7635240" y="4133088"/>
            <a:ext cx="3931920" cy="502920"/>
          </a:xfrm>
          <a:prstGeom prst="rect">
            <a:avLst/>
          </a:prstGeom>
          <a:noFill/>
          <a:ln/>
        </p:spPr>
        <p:txBody>
          <a:bodyPr wrap="square" rtlCol="0" anchor="ctr"/>
          <a:lstStyle/>
          <a:p>
            <a:pPr marL="0" indent="0">
              <a:buNone/>
            </a:pPr>
            <a:r>
              <a:rPr lang="en-US" sz="1100" dirty="0">
                <a:solidFill>
                  <a:srgbClr val="3A3F4B"/>
                </a:solidFill>
                <a:latin typeface="Calibri" pitchFamily="34" charset="0"/>
                <a:ea typeface="Calibri" pitchFamily="34" charset="-122"/>
                <a:cs typeface="Calibri" pitchFamily="34" charset="-120"/>
              </a:rPr>
              <a:t>Clean, transform, and enrich data at scale</a:t>
            </a:r>
            <a:endParaRPr lang="en-US" sz="1100" dirty="0"/>
          </a:p>
        </p:txBody>
      </p:sp>
      <p:sp>
        <p:nvSpPr>
          <p:cNvPr id="20" name="Shape 18"/>
          <p:cNvSpPr/>
          <p:nvPr/>
        </p:nvSpPr>
        <p:spPr>
          <a:xfrm>
            <a:off x="6949440" y="4800600"/>
            <a:ext cx="502920" cy="502920"/>
          </a:xfrm>
          <a:prstGeom prst="ellipse">
            <a:avLst/>
          </a:prstGeom>
          <a:solidFill>
            <a:srgbClr val="134074"/>
          </a:solidFill>
          <a:ln/>
        </p:spPr>
      </p:sp>
      <p:sp>
        <p:nvSpPr>
          <p:cNvPr id="21" name="Text 19"/>
          <p:cNvSpPr/>
          <p:nvPr/>
        </p:nvSpPr>
        <p:spPr>
          <a:xfrm>
            <a:off x="6949440" y="4800600"/>
            <a:ext cx="502920" cy="502920"/>
          </a:xfrm>
          <a:prstGeom prst="rect">
            <a:avLst/>
          </a:prstGeom>
          <a:noFill/>
          <a:ln/>
        </p:spPr>
        <p:txBody>
          <a:bodyPr wrap="square" rtlCol="0" anchor="ctr"/>
          <a:lstStyle/>
          <a:p>
            <a:pPr marL="0" indent="0" algn="ctr">
              <a:buNone/>
            </a:pPr>
            <a:r>
              <a:rPr lang="en-US" sz="1210" b="1" dirty="0">
                <a:solidFill>
                  <a:srgbClr val="FFFFFF"/>
                </a:solidFill>
                <a:latin typeface="Calibri" pitchFamily="34" charset="0"/>
                <a:ea typeface="Calibri" pitchFamily="34" charset="-122"/>
                <a:cs typeface="Calibri" pitchFamily="34" charset="-120"/>
              </a:rPr>
              <a:t>4</a:t>
            </a:r>
            <a:endParaRPr lang="en-US" sz="1210" dirty="0"/>
          </a:p>
        </p:txBody>
      </p:sp>
      <p:sp>
        <p:nvSpPr>
          <p:cNvPr id="22" name="Text 20"/>
          <p:cNvSpPr/>
          <p:nvPr/>
        </p:nvSpPr>
        <p:spPr>
          <a:xfrm>
            <a:off x="7635240" y="4754880"/>
            <a:ext cx="3931920" cy="365760"/>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Deliver</a:t>
            </a:r>
            <a:endParaRPr lang="en-US" sz="1400" dirty="0"/>
          </a:p>
        </p:txBody>
      </p:sp>
      <p:sp>
        <p:nvSpPr>
          <p:cNvPr id="23" name="Text 21"/>
          <p:cNvSpPr/>
          <p:nvPr/>
        </p:nvSpPr>
        <p:spPr>
          <a:xfrm>
            <a:off x="7635240" y="5093208"/>
            <a:ext cx="3931920" cy="502920"/>
          </a:xfrm>
          <a:prstGeom prst="rect">
            <a:avLst/>
          </a:prstGeom>
          <a:noFill/>
          <a:ln/>
        </p:spPr>
        <p:txBody>
          <a:bodyPr wrap="square" rtlCol="0" anchor="ctr"/>
          <a:lstStyle/>
          <a:p>
            <a:pPr marL="0" indent="0">
              <a:buNone/>
            </a:pPr>
            <a:r>
              <a:rPr lang="en-US" sz="1100" dirty="0">
                <a:solidFill>
                  <a:srgbClr val="3A3F4B"/>
                </a:solidFill>
                <a:latin typeface="Calibri" pitchFamily="34" charset="0"/>
                <a:ea typeface="Calibri" pitchFamily="34" charset="-122"/>
                <a:cs typeface="Calibri" pitchFamily="34" charset="-120"/>
              </a:rPr>
              <a:t>Serve reliable data to analysts, models, and dashboards</a:t>
            </a:r>
            <a:endParaRPr lang="en-US" sz="1100" dirty="0"/>
          </a:p>
        </p:txBody>
      </p:sp>
      <p:sp>
        <p:nvSpPr>
          <p:cNvPr id="25" name="Text 22"/>
          <p:cNvSpPr/>
          <p:nvPr/>
        </p:nvSpPr>
        <p:spPr>
          <a:xfrm>
            <a:off x="457200" y="6473952"/>
            <a:ext cx="5486400" cy="274320"/>
          </a:xfrm>
          <a:prstGeom prst="rect">
            <a:avLst/>
          </a:prstGeom>
          <a:noFill/>
          <a:ln/>
        </p:spPr>
        <p:txBody>
          <a:bodyPr wrap="square" rtlCol="0" anchor="ctr"/>
          <a:lstStyle/>
          <a:p>
            <a:pPr marL="0" indent="0" algn="l">
              <a:buNone/>
            </a:pPr>
            <a:r>
              <a:rPr lang="en-US" sz="900" dirty="0">
                <a:solidFill>
                  <a:srgbClr val="8A93A5"/>
                </a:solidFill>
                <a:latin typeface="Calibri" pitchFamily="34" charset="0"/>
                <a:ea typeface="Calibri" pitchFamily="34" charset="-122"/>
                <a:cs typeface="Calibri" pitchFamily="34" charset="-120"/>
              </a:rPr>
              <a:t>Data Engineering Virtual Internship</a:t>
            </a:r>
            <a:endParaRPr lang="en-US" sz="900" dirty="0"/>
          </a:p>
        </p:txBody>
      </p:sp>
      <p:sp>
        <p:nvSpPr>
          <p:cNvPr id="26" name="Text 23"/>
          <p:cNvSpPr/>
          <p:nvPr/>
        </p:nvSpPr>
        <p:spPr>
          <a:xfrm>
            <a:off x="11274552" y="6473952"/>
            <a:ext cx="548640" cy="274320"/>
          </a:xfrm>
          <a:prstGeom prst="rect">
            <a:avLst/>
          </a:prstGeom>
          <a:noFill/>
          <a:ln/>
        </p:spPr>
        <p:txBody>
          <a:bodyPr wrap="square" rtlCol="0" anchor="ctr"/>
          <a:lstStyle/>
          <a:p>
            <a:pPr marL="0" indent="0" algn="r">
              <a:buNone/>
            </a:pPr>
            <a:r>
              <a:rPr lang="en-US" sz="900" dirty="0">
                <a:solidFill>
                  <a:srgbClr val="8A93A5"/>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548640" y="502920"/>
            <a:ext cx="1554480" cy="329184"/>
          </a:xfrm>
          <a:prstGeom prst="roundRect">
            <a:avLst>
              <a:gd name="adj" fmla="val 50000"/>
            </a:avLst>
          </a:prstGeom>
          <a:solidFill>
            <a:srgbClr val="134074"/>
          </a:solidFill>
          <a:ln/>
        </p:spPr>
      </p:sp>
      <p:sp>
        <p:nvSpPr>
          <p:cNvPr id="3" name="Text 1"/>
          <p:cNvSpPr/>
          <p:nvPr/>
        </p:nvSpPr>
        <p:spPr>
          <a:xfrm>
            <a:off x="548640" y="502920"/>
            <a:ext cx="1554480" cy="329184"/>
          </a:xfrm>
          <a:prstGeom prst="rect">
            <a:avLst/>
          </a:prstGeom>
          <a:noFill/>
          <a:ln/>
        </p:spPr>
        <p:txBody>
          <a:bodyPr wrap="square"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SECTION 02</a:t>
            </a:r>
            <a:endParaRPr lang="en-US" sz="1100" dirty="0"/>
          </a:p>
        </p:txBody>
      </p:sp>
      <p:sp>
        <p:nvSpPr>
          <p:cNvPr id="4" name="Text 2"/>
          <p:cNvSpPr/>
          <p:nvPr/>
        </p:nvSpPr>
        <p:spPr>
          <a:xfrm>
            <a:off x="548640" y="914400"/>
            <a:ext cx="11064240" cy="822960"/>
          </a:xfrm>
          <a:prstGeom prst="rect">
            <a:avLst/>
          </a:prstGeom>
          <a:noFill/>
          <a:ln/>
        </p:spPr>
        <p:txBody>
          <a:bodyPr wrap="square" rtlCol="0" anchor="ctr"/>
          <a:lstStyle/>
          <a:p>
            <a:pPr marL="0" indent="0" algn="l">
              <a:buNone/>
            </a:pPr>
            <a:r>
              <a:rPr lang="en-US" sz="3000" b="1" dirty="0">
                <a:solidFill>
                  <a:srgbClr val="0B2545"/>
                </a:solidFill>
                <a:latin typeface="Calibri" pitchFamily="34" charset="0"/>
                <a:ea typeface="Calibri" pitchFamily="34" charset="-122"/>
                <a:cs typeface="Calibri" pitchFamily="34" charset="-120"/>
              </a:rPr>
              <a:t>Role of a Data Engineer</a:t>
            </a:r>
            <a:endParaRPr lang="en-US" sz="3000" dirty="0"/>
          </a:p>
        </p:txBody>
      </p:sp>
      <p:sp>
        <p:nvSpPr>
          <p:cNvPr id="5" name="Shape 3"/>
          <p:cNvSpPr/>
          <p:nvPr/>
        </p:nvSpPr>
        <p:spPr>
          <a:xfrm>
            <a:off x="548640" y="2011680"/>
            <a:ext cx="2606040" cy="3840480"/>
          </a:xfrm>
          <a:prstGeom prst="roundRect">
            <a:avLst>
              <a:gd name="adj" fmla="val 2807"/>
            </a:avLst>
          </a:prstGeom>
          <a:solidFill>
            <a:srgbClr val="FFFFFF"/>
          </a:solidFill>
          <a:ln/>
          <a:effectLst>
            <a:outerShdw blurRad="127000" dist="38100" dir="5400000" algn="bl" rotWithShape="0">
              <a:srgbClr val="1B2A4A">
                <a:alpha val="12000"/>
              </a:srgbClr>
            </a:outerShdw>
          </a:effectLst>
        </p:spPr>
      </p:sp>
      <p:sp>
        <p:nvSpPr>
          <p:cNvPr id="6" name="Shape 4"/>
          <p:cNvSpPr/>
          <p:nvPr/>
        </p:nvSpPr>
        <p:spPr>
          <a:xfrm>
            <a:off x="1417320" y="2331720"/>
            <a:ext cx="868680" cy="868680"/>
          </a:xfrm>
          <a:prstGeom prst="ellipse">
            <a:avLst/>
          </a:prstGeom>
          <a:solidFill>
            <a:srgbClr val="1B6CA8"/>
          </a:solidFill>
          <a:ln/>
        </p:spPr>
      </p:sp>
      <p:pic>
        <p:nvPicPr>
          <p:cNvPr id="7" name="Image 0" descr="/home/claude/ppt/icons/flow.png"/>
          <p:cNvPicPr>
            <a:picLocks noChangeAspect="1"/>
          </p:cNvPicPr>
          <p:nvPr/>
        </p:nvPicPr>
        <p:blipFill>
          <a:blip r:embed="rId3"/>
          <a:stretch>
            <a:fillRect/>
          </a:stretch>
        </p:blipFill>
        <p:spPr>
          <a:xfrm>
            <a:off x="1634490" y="2548890"/>
            <a:ext cx="434340" cy="434340"/>
          </a:xfrm>
          <a:prstGeom prst="rect">
            <a:avLst/>
          </a:prstGeom>
        </p:spPr>
      </p:pic>
      <p:sp>
        <p:nvSpPr>
          <p:cNvPr id="8" name="Text 5"/>
          <p:cNvSpPr/>
          <p:nvPr/>
        </p:nvSpPr>
        <p:spPr>
          <a:xfrm>
            <a:off x="685800" y="3429000"/>
            <a:ext cx="2331720" cy="685800"/>
          </a:xfrm>
          <a:prstGeom prst="rect">
            <a:avLst/>
          </a:prstGeom>
          <a:noFill/>
          <a:ln/>
        </p:spPr>
        <p:txBody>
          <a:bodyPr wrap="square" rtlCol="0" anchor="ctr"/>
          <a:lstStyle/>
          <a:p>
            <a:pPr marL="0" indent="0" algn="ctr">
              <a:buNone/>
            </a:pPr>
            <a:r>
              <a:rPr lang="en-US" sz="1350" b="1" dirty="0">
                <a:solidFill>
                  <a:srgbClr val="0B2545"/>
                </a:solidFill>
                <a:latin typeface="Calibri" pitchFamily="34" charset="0"/>
                <a:ea typeface="Calibri" pitchFamily="34" charset="-122"/>
                <a:cs typeface="Calibri" pitchFamily="34" charset="-120"/>
              </a:rPr>
              <a:t>Pipeline Builder</a:t>
            </a:r>
            <a:endParaRPr lang="en-US" sz="1350" dirty="0"/>
          </a:p>
        </p:txBody>
      </p:sp>
      <p:sp>
        <p:nvSpPr>
          <p:cNvPr id="9" name="Text 6"/>
          <p:cNvSpPr/>
          <p:nvPr/>
        </p:nvSpPr>
        <p:spPr>
          <a:xfrm>
            <a:off x="777240" y="4160520"/>
            <a:ext cx="2148840" cy="1554480"/>
          </a:xfrm>
          <a:prstGeom prst="rect">
            <a:avLst/>
          </a:prstGeom>
          <a:noFill/>
          <a:ln/>
        </p:spPr>
        <p:txBody>
          <a:bodyPr wrap="square" rtlCol="0" anchor="ctr"/>
          <a:lstStyle/>
          <a:p>
            <a:pPr marL="0" indent="0" algn="ctr">
              <a:lnSpc>
                <a:spcPts val="1400"/>
              </a:lnSpc>
              <a:buNone/>
            </a:pPr>
            <a:r>
              <a:rPr lang="en-US" sz="1050" dirty="0">
                <a:solidFill>
                  <a:srgbClr val="3A3F4B"/>
                </a:solidFill>
                <a:latin typeface="Calibri" pitchFamily="34" charset="0"/>
                <a:ea typeface="Calibri" pitchFamily="34" charset="-122"/>
                <a:cs typeface="Calibri" pitchFamily="34" charset="-120"/>
              </a:rPr>
              <a:t>Designs automated workflows that move data from source to destination reliably.</a:t>
            </a:r>
            <a:endParaRPr lang="en-US" sz="1050" dirty="0"/>
          </a:p>
        </p:txBody>
      </p:sp>
      <p:sp>
        <p:nvSpPr>
          <p:cNvPr id="10" name="Shape 7"/>
          <p:cNvSpPr/>
          <p:nvPr/>
        </p:nvSpPr>
        <p:spPr>
          <a:xfrm>
            <a:off x="3310128" y="2011680"/>
            <a:ext cx="2606040" cy="3840480"/>
          </a:xfrm>
          <a:prstGeom prst="roundRect">
            <a:avLst>
              <a:gd name="adj" fmla="val 2807"/>
            </a:avLst>
          </a:prstGeom>
          <a:solidFill>
            <a:srgbClr val="FFFFFF"/>
          </a:solidFill>
          <a:ln/>
          <a:effectLst>
            <a:outerShdw blurRad="127000" dist="38100" dir="5400000" algn="bl" rotWithShape="0">
              <a:srgbClr val="1B2A4A">
                <a:alpha val="12000"/>
              </a:srgbClr>
            </a:outerShdw>
          </a:effectLst>
        </p:spPr>
      </p:sp>
      <p:sp>
        <p:nvSpPr>
          <p:cNvPr id="11" name="Shape 8"/>
          <p:cNvSpPr/>
          <p:nvPr/>
        </p:nvSpPr>
        <p:spPr>
          <a:xfrm>
            <a:off x="4178808" y="2331720"/>
            <a:ext cx="868680" cy="868680"/>
          </a:xfrm>
          <a:prstGeom prst="ellipse">
            <a:avLst/>
          </a:prstGeom>
          <a:solidFill>
            <a:srgbClr val="D98418"/>
          </a:solidFill>
          <a:ln/>
        </p:spPr>
      </p:sp>
      <p:pic>
        <p:nvPicPr>
          <p:cNvPr id="12" name="Image 1" descr="/home/claude/ppt/icons/database.png"/>
          <p:cNvPicPr>
            <a:picLocks noChangeAspect="1"/>
          </p:cNvPicPr>
          <p:nvPr/>
        </p:nvPicPr>
        <p:blipFill>
          <a:blip r:embed="rId4"/>
          <a:stretch>
            <a:fillRect/>
          </a:stretch>
        </p:blipFill>
        <p:spPr>
          <a:xfrm>
            <a:off x="4395978" y="2548890"/>
            <a:ext cx="434340" cy="434340"/>
          </a:xfrm>
          <a:prstGeom prst="rect">
            <a:avLst/>
          </a:prstGeom>
        </p:spPr>
      </p:pic>
      <p:sp>
        <p:nvSpPr>
          <p:cNvPr id="13" name="Text 9"/>
          <p:cNvSpPr/>
          <p:nvPr/>
        </p:nvSpPr>
        <p:spPr>
          <a:xfrm>
            <a:off x="3447288" y="3429000"/>
            <a:ext cx="2331720" cy="685800"/>
          </a:xfrm>
          <a:prstGeom prst="rect">
            <a:avLst/>
          </a:prstGeom>
          <a:noFill/>
          <a:ln/>
        </p:spPr>
        <p:txBody>
          <a:bodyPr wrap="square" rtlCol="0" anchor="ctr"/>
          <a:lstStyle/>
          <a:p>
            <a:pPr marL="0" indent="0" algn="ctr">
              <a:buNone/>
            </a:pPr>
            <a:r>
              <a:rPr lang="en-US" sz="1350" b="1" dirty="0">
                <a:solidFill>
                  <a:srgbClr val="0B2545"/>
                </a:solidFill>
                <a:latin typeface="Calibri" pitchFamily="34" charset="0"/>
                <a:ea typeface="Calibri" pitchFamily="34" charset="-122"/>
                <a:cs typeface="Calibri" pitchFamily="34" charset="-120"/>
              </a:rPr>
              <a:t>Data Modeler</a:t>
            </a:r>
            <a:endParaRPr lang="en-US" sz="1350" dirty="0"/>
          </a:p>
        </p:txBody>
      </p:sp>
      <p:sp>
        <p:nvSpPr>
          <p:cNvPr id="14" name="Text 10"/>
          <p:cNvSpPr/>
          <p:nvPr/>
        </p:nvSpPr>
        <p:spPr>
          <a:xfrm>
            <a:off x="3538728" y="4160520"/>
            <a:ext cx="2148840" cy="1554480"/>
          </a:xfrm>
          <a:prstGeom prst="rect">
            <a:avLst/>
          </a:prstGeom>
          <a:noFill/>
          <a:ln/>
        </p:spPr>
        <p:txBody>
          <a:bodyPr wrap="square" rtlCol="0" anchor="ctr"/>
          <a:lstStyle/>
          <a:p>
            <a:pPr marL="0" indent="0" algn="ctr">
              <a:lnSpc>
                <a:spcPts val="1400"/>
              </a:lnSpc>
              <a:buNone/>
            </a:pPr>
            <a:r>
              <a:rPr lang="en-US" sz="1050" dirty="0">
                <a:solidFill>
                  <a:srgbClr val="3A3F4B"/>
                </a:solidFill>
                <a:latin typeface="Calibri" pitchFamily="34" charset="0"/>
                <a:ea typeface="Calibri" pitchFamily="34" charset="-122"/>
                <a:cs typeface="Calibri" pitchFamily="34" charset="-120"/>
              </a:rPr>
              <a:t>Structures data into schemas optimised for storage and fast querying.</a:t>
            </a:r>
            <a:endParaRPr lang="en-US" sz="1050" dirty="0"/>
          </a:p>
        </p:txBody>
      </p:sp>
      <p:sp>
        <p:nvSpPr>
          <p:cNvPr id="15" name="Shape 11"/>
          <p:cNvSpPr/>
          <p:nvPr/>
        </p:nvSpPr>
        <p:spPr>
          <a:xfrm>
            <a:off x="6071616" y="2011680"/>
            <a:ext cx="2606040" cy="3840480"/>
          </a:xfrm>
          <a:prstGeom prst="roundRect">
            <a:avLst>
              <a:gd name="adj" fmla="val 2807"/>
            </a:avLst>
          </a:prstGeom>
          <a:solidFill>
            <a:srgbClr val="FFFFFF"/>
          </a:solidFill>
          <a:ln/>
          <a:effectLst>
            <a:outerShdw blurRad="127000" dist="38100" dir="5400000" algn="bl" rotWithShape="0">
              <a:srgbClr val="1B2A4A">
                <a:alpha val="12000"/>
              </a:srgbClr>
            </a:outerShdw>
          </a:effectLst>
        </p:spPr>
      </p:sp>
      <p:sp>
        <p:nvSpPr>
          <p:cNvPr id="16" name="Shape 12"/>
          <p:cNvSpPr/>
          <p:nvPr/>
        </p:nvSpPr>
        <p:spPr>
          <a:xfrm>
            <a:off x="6940296" y="2331720"/>
            <a:ext cx="868680" cy="868680"/>
          </a:xfrm>
          <a:prstGeom prst="ellipse">
            <a:avLst/>
          </a:prstGeom>
          <a:solidFill>
            <a:srgbClr val="134074"/>
          </a:solidFill>
          <a:ln/>
        </p:spPr>
      </p:sp>
      <p:pic>
        <p:nvPicPr>
          <p:cNvPr id="17" name="Image 2" descr="/home/claude/ppt/icons/shield.png"/>
          <p:cNvPicPr>
            <a:picLocks noChangeAspect="1"/>
          </p:cNvPicPr>
          <p:nvPr/>
        </p:nvPicPr>
        <p:blipFill>
          <a:blip r:embed="rId5"/>
          <a:stretch>
            <a:fillRect/>
          </a:stretch>
        </p:blipFill>
        <p:spPr>
          <a:xfrm>
            <a:off x="7157466" y="2548890"/>
            <a:ext cx="434340" cy="434340"/>
          </a:xfrm>
          <a:prstGeom prst="rect">
            <a:avLst/>
          </a:prstGeom>
        </p:spPr>
      </p:pic>
      <p:sp>
        <p:nvSpPr>
          <p:cNvPr id="18" name="Text 13"/>
          <p:cNvSpPr/>
          <p:nvPr/>
        </p:nvSpPr>
        <p:spPr>
          <a:xfrm>
            <a:off x="6208776" y="3429000"/>
            <a:ext cx="2331720" cy="685800"/>
          </a:xfrm>
          <a:prstGeom prst="rect">
            <a:avLst/>
          </a:prstGeom>
          <a:noFill/>
          <a:ln/>
        </p:spPr>
        <p:txBody>
          <a:bodyPr wrap="square" rtlCol="0" anchor="ctr"/>
          <a:lstStyle/>
          <a:p>
            <a:pPr marL="0" indent="0" algn="ctr">
              <a:buNone/>
            </a:pPr>
            <a:r>
              <a:rPr lang="en-US" sz="1350" b="1" dirty="0">
                <a:solidFill>
                  <a:srgbClr val="0B2545"/>
                </a:solidFill>
                <a:latin typeface="Calibri" pitchFamily="34" charset="0"/>
                <a:ea typeface="Calibri" pitchFamily="34" charset="-122"/>
                <a:cs typeface="Calibri" pitchFamily="34" charset="-120"/>
              </a:rPr>
              <a:t>Quality Guardian</a:t>
            </a:r>
            <a:endParaRPr lang="en-US" sz="1350" dirty="0"/>
          </a:p>
        </p:txBody>
      </p:sp>
      <p:sp>
        <p:nvSpPr>
          <p:cNvPr id="19" name="Text 14"/>
          <p:cNvSpPr/>
          <p:nvPr/>
        </p:nvSpPr>
        <p:spPr>
          <a:xfrm>
            <a:off x="6300216" y="4160520"/>
            <a:ext cx="2148840" cy="1554480"/>
          </a:xfrm>
          <a:prstGeom prst="rect">
            <a:avLst/>
          </a:prstGeom>
          <a:noFill/>
          <a:ln/>
        </p:spPr>
        <p:txBody>
          <a:bodyPr wrap="square" rtlCol="0" anchor="ctr"/>
          <a:lstStyle/>
          <a:p>
            <a:pPr marL="0" indent="0" algn="ctr">
              <a:lnSpc>
                <a:spcPts val="1400"/>
              </a:lnSpc>
              <a:buNone/>
            </a:pPr>
            <a:r>
              <a:rPr lang="en-US" sz="1050" dirty="0">
                <a:solidFill>
                  <a:srgbClr val="3A3F4B"/>
                </a:solidFill>
                <a:latin typeface="Calibri" pitchFamily="34" charset="0"/>
                <a:ea typeface="Calibri" pitchFamily="34" charset="-122"/>
                <a:cs typeface="Calibri" pitchFamily="34" charset="-120"/>
              </a:rPr>
              <a:t>Validates, cleans, and monitors data for accuracy and consistency.</a:t>
            </a:r>
            <a:endParaRPr lang="en-US" sz="1050" dirty="0"/>
          </a:p>
        </p:txBody>
      </p:sp>
      <p:sp>
        <p:nvSpPr>
          <p:cNvPr id="20" name="Shape 15"/>
          <p:cNvSpPr/>
          <p:nvPr/>
        </p:nvSpPr>
        <p:spPr>
          <a:xfrm>
            <a:off x="8833104" y="2011680"/>
            <a:ext cx="2606040" cy="3840480"/>
          </a:xfrm>
          <a:prstGeom prst="roundRect">
            <a:avLst>
              <a:gd name="adj" fmla="val 2807"/>
            </a:avLst>
          </a:prstGeom>
          <a:solidFill>
            <a:srgbClr val="FFFFFF"/>
          </a:solidFill>
          <a:ln/>
          <a:effectLst>
            <a:outerShdw blurRad="127000" dist="38100" dir="5400000" algn="bl" rotWithShape="0">
              <a:srgbClr val="1B2A4A">
                <a:alpha val="12000"/>
              </a:srgbClr>
            </a:outerShdw>
          </a:effectLst>
        </p:spPr>
      </p:sp>
      <p:sp>
        <p:nvSpPr>
          <p:cNvPr id="21" name="Shape 16"/>
          <p:cNvSpPr/>
          <p:nvPr/>
        </p:nvSpPr>
        <p:spPr>
          <a:xfrm>
            <a:off x="9701784" y="2331720"/>
            <a:ext cx="868680" cy="868680"/>
          </a:xfrm>
          <a:prstGeom prst="ellipse">
            <a:avLst/>
          </a:prstGeom>
          <a:solidFill>
            <a:srgbClr val="0B2545"/>
          </a:solidFill>
          <a:ln/>
        </p:spPr>
      </p:sp>
      <p:pic>
        <p:nvPicPr>
          <p:cNvPr id="22" name="Image 3" descr="/home/claude/ppt/icons/gear.png"/>
          <p:cNvPicPr>
            <a:picLocks noChangeAspect="1"/>
          </p:cNvPicPr>
          <p:nvPr/>
        </p:nvPicPr>
        <p:blipFill>
          <a:blip r:embed="rId6"/>
          <a:stretch>
            <a:fillRect/>
          </a:stretch>
        </p:blipFill>
        <p:spPr>
          <a:xfrm>
            <a:off x="9918954" y="2548890"/>
            <a:ext cx="434340" cy="434340"/>
          </a:xfrm>
          <a:prstGeom prst="rect">
            <a:avLst/>
          </a:prstGeom>
        </p:spPr>
      </p:pic>
      <p:sp>
        <p:nvSpPr>
          <p:cNvPr id="23" name="Text 17"/>
          <p:cNvSpPr/>
          <p:nvPr/>
        </p:nvSpPr>
        <p:spPr>
          <a:xfrm>
            <a:off x="8970264" y="3429000"/>
            <a:ext cx="2331720" cy="685800"/>
          </a:xfrm>
          <a:prstGeom prst="rect">
            <a:avLst/>
          </a:prstGeom>
          <a:noFill/>
          <a:ln/>
        </p:spPr>
        <p:txBody>
          <a:bodyPr wrap="square" rtlCol="0" anchor="ctr"/>
          <a:lstStyle/>
          <a:p>
            <a:pPr marL="0" indent="0" algn="ctr">
              <a:buNone/>
            </a:pPr>
            <a:r>
              <a:rPr lang="en-US" sz="1350" b="1" dirty="0">
                <a:solidFill>
                  <a:srgbClr val="0B2545"/>
                </a:solidFill>
                <a:latin typeface="Calibri" pitchFamily="34" charset="0"/>
                <a:ea typeface="Calibri" pitchFamily="34" charset="-122"/>
                <a:cs typeface="Calibri" pitchFamily="34" charset="-120"/>
              </a:rPr>
              <a:t>Infrastructure Owner</a:t>
            </a:r>
            <a:endParaRPr lang="en-US" sz="1350" dirty="0"/>
          </a:p>
        </p:txBody>
      </p:sp>
      <p:sp>
        <p:nvSpPr>
          <p:cNvPr id="24" name="Text 18"/>
          <p:cNvSpPr/>
          <p:nvPr/>
        </p:nvSpPr>
        <p:spPr>
          <a:xfrm>
            <a:off x="9061704" y="4160520"/>
            <a:ext cx="2148840" cy="1554480"/>
          </a:xfrm>
          <a:prstGeom prst="rect">
            <a:avLst/>
          </a:prstGeom>
          <a:noFill/>
          <a:ln/>
        </p:spPr>
        <p:txBody>
          <a:bodyPr wrap="square" rtlCol="0" anchor="ctr"/>
          <a:lstStyle/>
          <a:p>
            <a:pPr marL="0" indent="0" algn="ctr">
              <a:lnSpc>
                <a:spcPts val="1400"/>
              </a:lnSpc>
              <a:buNone/>
            </a:pPr>
            <a:r>
              <a:rPr lang="en-US" sz="1050" dirty="0">
                <a:solidFill>
                  <a:srgbClr val="3A3F4B"/>
                </a:solidFill>
                <a:latin typeface="Calibri" pitchFamily="34" charset="0"/>
                <a:ea typeface="Calibri" pitchFamily="34" charset="-122"/>
                <a:cs typeface="Calibri" pitchFamily="34" charset="-120"/>
              </a:rPr>
              <a:t>Manages cloud storage, compute, and cost-efficient scaling.</a:t>
            </a:r>
            <a:endParaRPr lang="en-US" sz="1050" dirty="0"/>
          </a:p>
        </p:txBody>
      </p:sp>
      <p:sp>
        <p:nvSpPr>
          <p:cNvPr id="26" name="Text 19"/>
          <p:cNvSpPr/>
          <p:nvPr/>
        </p:nvSpPr>
        <p:spPr>
          <a:xfrm>
            <a:off x="457200" y="6473952"/>
            <a:ext cx="5486400" cy="274320"/>
          </a:xfrm>
          <a:prstGeom prst="rect">
            <a:avLst/>
          </a:prstGeom>
          <a:noFill/>
          <a:ln/>
        </p:spPr>
        <p:txBody>
          <a:bodyPr wrap="square" rtlCol="0" anchor="ctr"/>
          <a:lstStyle/>
          <a:p>
            <a:pPr marL="0" indent="0" algn="l">
              <a:buNone/>
            </a:pPr>
            <a:r>
              <a:rPr lang="en-US" sz="900" dirty="0">
                <a:solidFill>
                  <a:srgbClr val="8A93A5"/>
                </a:solidFill>
                <a:latin typeface="Calibri" pitchFamily="34" charset="0"/>
                <a:ea typeface="Calibri" pitchFamily="34" charset="-122"/>
                <a:cs typeface="Calibri" pitchFamily="34" charset="-120"/>
              </a:rPr>
              <a:t>Data Engineering Virtual Internship</a:t>
            </a:r>
            <a:endParaRPr lang="en-US" sz="900" dirty="0"/>
          </a:p>
        </p:txBody>
      </p:sp>
      <p:sp>
        <p:nvSpPr>
          <p:cNvPr id="27" name="Text 20"/>
          <p:cNvSpPr/>
          <p:nvPr/>
        </p:nvSpPr>
        <p:spPr>
          <a:xfrm>
            <a:off x="11274552" y="6473952"/>
            <a:ext cx="548640" cy="274320"/>
          </a:xfrm>
          <a:prstGeom prst="rect">
            <a:avLst/>
          </a:prstGeom>
          <a:noFill/>
          <a:ln/>
        </p:spPr>
        <p:txBody>
          <a:bodyPr wrap="square" rtlCol="0" anchor="ctr"/>
          <a:lstStyle/>
          <a:p>
            <a:pPr marL="0" indent="0" algn="r">
              <a:buNone/>
            </a:pPr>
            <a:r>
              <a:rPr lang="en-US" sz="900" dirty="0">
                <a:solidFill>
                  <a:srgbClr val="8A93A5"/>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1554480" cy="329184"/>
          </a:xfrm>
          <a:prstGeom prst="roundRect">
            <a:avLst>
              <a:gd name="adj" fmla="val 50000"/>
            </a:avLst>
          </a:prstGeom>
          <a:solidFill>
            <a:srgbClr val="134074"/>
          </a:solidFill>
          <a:ln/>
        </p:spPr>
      </p:sp>
      <p:sp>
        <p:nvSpPr>
          <p:cNvPr id="3" name="Text 1"/>
          <p:cNvSpPr/>
          <p:nvPr/>
        </p:nvSpPr>
        <p:spPr>
          <a:xfrm>
            <a:off x="548640" y="502920"/>
            <a:ext cx="1554480" cy="329184"/>
          </a:xfrm>
          <a:prstGeom prst="rect">
            <a:avLst/>
          </a:prstGeom>
          <a:noFill/>
          <a:ln/>
        </p:spPr>
        <p:txBody>
          <a:bodyPr wrap="square"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SECTION 02</a:t>
            </a:r>
            <a:endParaRPr lang="en-US" sz="1100" dirty="0"/>
          </a:p>
        </p:txBody>
      </p:sp>
      <p:sp>
        <p:nvSpPr>
          <p:cNvPr id="4" name="Text 2"/>
          <p:cNvSpPr/>
          <p:nvPr/>
        </p:nvSpPr>
        <p:spPr>
          <a:xfrm>
            <a:off x="548640" y="914400"/>
            <a:ext cx="11064240" cy="822960"/>
          </a:xfrm>
          <a:prstGeom prst="rect">
            <a:avLst/>
          </a:prstGeom>
          <a:noFill/>
          <a:ln/>
        </p:spPr>
        <p:txBody>
          <a:bodyPr wrap="square" rtlCol="0" anchor="ctr"/>
          <a:lstStyle/>
          <a:p>
            <a:pPr marL="0" indent="0" algn="l">
              <a:buNone/>
            </a:pPr>
            <a:r>
              <a:rPr lang="en-US" sz="3000" b="1" dirty="0">
                <a:solidFill>
                  <a:srgbClr val="0B2545"/>
                </a:solidFill>
                <a:latin typeface="Calibri" pitchFamily="34" charset="0"/>
                <a:ea typeface="Calibri" pitchFamily="34" charset="-122"/>
                <a:cs typeface="Calibri" pitchFamily="34" charset="-120"/>
              </a:rPr>
              <a:t>The Data Engineering Lifecycle</a:t>
            </a:r>
            <a:endParaRPr lang="en-US" sz="3000" dirty="0"/>
          </a:p>
        </p:txBody>
      </p:sp>
      <p:sp>
        <p:nvSpPr>
          <p:cNvPr id="5" name="Shape 3"/>
          <p:cNvSpPr/>
          <p:nvPr/>
        </p:nvSpPr>
        <p:spPr>
          <a:xfrm>
            <a:off x="1531620" y="3291840"/>
            <a:ext cx="8412480" cy="0"/>
          </a:xfrm>
          <a:prstGeom prst="line">
            <a:avLst/>
          </a:prstGeom>
          <a:noFill/>
          <a:ln w="38100">
            <a:solidFill>
              <a:srgbClr val="D7DEEA"/>
            </a:solidFill>
            <a:prstDash val="solid"/>
          </a:ln>
        </p:spPr>
      </p:sp>
      <p:sp>
        <p:nvSpPr>
          <p:cNvPr id="6" name="Shape 4"/>
          <p:cNvSpPr/>
          <p:nvPr/>
        </p:nvSpPr>
        <p:spPr>
          <a:xfrm>
            <a:off x="1211580" y="2971800"/>
            <a:ext cx="640080" cy="640080"/>
          </a:xfrm>
          <a:prstGeom prst="ellipse">
            <a:avLst/>
          </a:prstGeom>
          <a:solidFill>
            <a:srgbClr val="134074"/>
          </a:solidFill>
          <a:ln/>
        </p:spPr>
      </p:sp>
      <p:sp>
        <p:nvSpPr>
          <p:cNvPr id="7" name="Text 5"/>
          <p:cNvSpPr/>
          <p:nvPr/>
        </p:nvSpPr>
        <p:spPr>
          <a:xfrm>
            <a:off x="1211580" y="2971800"/>
            <a:ext cx="640080" cy="640080"/>
          </a:xfrm>
          <a:prstGeom prst="rect">
            <a:avLst/>
          </a:prstGeom>
          <a:noFill/>
          <a:ln/>
        </p:spPr>
        <p:txBody>
          <a:bodyPr wrap="square" rtlCol="0" anchor="ctr"/>
          <a:lstStyle/>
          <a:p>
            <a:pPr marL="0" indent="0" algn="ctr">
              <a:buNone/>
            </a:pPr>
            <a:r>
              <a:rPr lang="en-US" sz="1540" b="1" dirty="0">
                <a:solidFill>
                  <a:srgbClr val="FFFFFF"/>
                </a:solidFill>
                <a:latin typeface="Calibri" pitchFamily="34" charset="0"/>
                <a:ea typeface="Calibri" pitchFamily="34" charset="-122"/>
                <a:cs typeface="Calibri" pitchFamily="34" charset="-120"/>
              </a:rPr>
              <a:t>1</a:t>
            </a:r>
            <a:endParaRPr lang="en-US" sz="1540" dirty="0"/>
          </a:p>
        </p:txBody>
      </p:sp>
      <p:sp>
        <p:nvSpPr>
          <p:cNvPr id="8" name="Text 6"/>
          <p:cNvSpPr/>
          <p:nvPr/>
        </p:nvSpPr>
        <p:spPr>
          <a:xfrm>
            <a:off x="548640" y="3749040"/>
            <a:ext cx="1965960" cy="457200"/>
          </a:xfrm>
          <a:prstGeom prst="rect">
            <a:avLst/>
          </a:prstGeom>
          <a:noFill/>
          <a:ln/>
        </p:spPr>
        <p:txBody>
          <a:bodyPr wrap="square" rtlCol="0" anchor="ctr"/>
          <a:lstStyle/>
          <a:p>
            <a:pPr marL="0" indent="0" algn="ctr">
              <a:buNone/>
            </a:pPr>
            <a:r>
              <a:rPr lang="en-US" sz="1400" b="1" dirty="0">
                <a:solidFill>
                  <a:srgbClr val="0B2545"/>
                </a:solidFill>
                <a:latin typeface="Calibri" pitchFamily="34" charset="0"/>
                <a:ea typeface="Calibri" pitchFamily="34" charset="-122"/>
                <a:cs typeface="Calibri" pitchFamily="34" charset="-120"/>
              </a:rPr>
              <a:t>Generate</a:t>
            </a:r>
            <a:endParaRPr lang="en-US" sz="1400" dirty="0"/>
          </a:p>
        </p:txBody>
      </p:sp>
      <p:sp>
        <p:nvSpPr>
          <p:cNvPr id="9" name="Shape 7"/>
          <p:cNvSpPr/>
          <p:nvPr/>
        </p:nvSpPr>
        <p:spPr>
          <a:xfrm>
            <a:off x="3314700" y="2971800"/>
            <a:ext cx="640080" cy="640080"/>
          </a:xfrm>
          <a:prstGeom prst="ellipse">
            <a:avLst/>
          </a:prstGeom>
          <a:solidFill>
            <a:srgbClr val="F5A623"/>
          </a:solidFill>
          <a:ln/>
        </p:spPr>
      </p:sp>
      <p:sp>
        <p:nvSpPr>
          <p:cNvPr id="10" name="Text 8"/>
          <p:cNvSpPr/>
          <p:nvPr/>
        </p:nvSpPr>
        <p:spPr>
          <a:xfrm>
            <a:off x="3314700" y="2971800"/>
            <a:ext cx="640080" cy="640080"/>
          </a:xfrm>
          <a:prstGeom prst="rect">
            <a:avLst/>
          </a:prstGeom>
          <a:noFill/>
          <a:ln/>
        </p:spPr>
        <p:txBody>
          <a:bodyPr wrap="square" rtlCol="0" anchor="ctr"/>
          <a:lstStyle/>
          <a:p>
            <a:pPr marL="0" indent="0" algn="ctr">
              <a:buNone/>
            </a:pPr>
            <a:r>
              <a:rPr lang="en-US" sz="1540" b="1" dirty="0">
                <a:solidFill>
                  <a:srgbClr val="FFFFFF"/>
                </a:solidFill>
                <a:latin typeface="Calibri" pitchFamily="34" charset="0"/>
                <a:ea typeface="Calibri" pitchFamily="34" charset="-122"/>
                <a:cs typeface="Calibri" pitchFamily="34" charset="-120"/>
              </a:rPr>
              <a:t>2</a:t>
            </a:r>
            <a:endParaRPr lang="en-US" sz="1540" dirty="0"/>
          </a:p>
        </p:txBody>
      </p:sp>
      <p:sp>
        <p:nvSpPr>
          <p:cNvPr id="11" name="Text 9"/>
          <p:cNvSpPr/>
          <p:nvPr/>
        </p:nvSpPr>
        <p:spPr>
          <a:xfrm>
            <a:off x="2651760" y="3749040"/>
            <a:ext cx="1965960" cy="457200"/>
          </a:xfrm>
          <a:prstGeom prst="rect">
            <a:avLst/>
          </a:prstGeom>
          <a:noFill/>
          <a:ln/>
        </p:spPr>
        <p:txBody>
          <a:bodyPr wrap="square" rtlCol="0" anchor="ctr"/>
          <a:lstStyle/>
          <a:p>
            <a:pPr marL="0" indent="0" algn="ctr">
              <a:buNone/>
            </a:pPr>
            <a:r>
              <a:rPr lang="en-US" sz="1400" b="1" dirty="0">
                <a:solidFill>
                  <a:srgbClr val="0B2545"/>
                </a:solidFill>
                <a:latin typeface="Calibri" pitchFamily="34" charset="0"/>
                <a:ea typeface="Calibri" pitchFamily="34" charset="-122"/>
                <a:cs typeface="Calibri" pitchFamily="34" charset="-120"/>
              </a:rPr>
              <a:t>Ingest</a:t>
            </a:r>
            <a:endParaRPr lang="en-US" sz="1400" dirty="0"/>
          </a:p>
        </p:txBody>
      </p:sp>
      <p:sp>
        <p:nvSpPr>
          <p:cNvPr id="12" name="Shape 10"/>
          <p:cNvSpPr/>
          <p:nvPr/>
        </p:nvSpPr>
        <p:spPr>
          <a:xfrm>
            <a:off x="5417820" y="2971800"/>
            <a:ext cx="640080" cy="640080"/>
          </a:xfrm>
          <a:prstGeom prst="ellipse">
            <a:avLst/>
          </a:prstGeom>
          <a:solidFill>
            <a:srgbClr val="134074"/>
          </a:solidFill>
          <a:ln/>
        </p:spPr>
      </p:sp>
      <p:sp>
        <p:nvSpPr>
          <p:cNvPr id="13" name="Text 11"/>
          <p:cNvSpPr/>
          <p:nvPr/>
        </p:nvSpPr>
        <p:spPr>
          <a:xfrm>
            <a:off x="5417820" y="2971800"/>
            <a:ext cx="640080" cy="640080"/>
          </a:xfrm>
          <a:prstGeom prst="rect">
            <a:avLst/>
          </a:prstGeom>
          <a:noFill/>
          <a:ln/>
        </p:spPr>
        <p:txBody>
          <a:bodyPr wrap="square" rtlCol="0" anchor="ctr"/>
          <a:lstStyle/>
          <a:p>
            <a:pPr marL="0" indent="0" algn="ctr">
              <a:buNone/>
            </a:pPr>
            <a:r>
              <a:rPr lang="en-US" sz="1540" b="1" dirty="0">
                <a:solidFill>
                  <a:srgbClr val="FFFFFF"/>
                </a:solidFill>
                <a:latin typeface="Calibri" pitchFamily="34" charset="0"/>
                <a:ea typeface="Calibri" pitchFamily="34" charset="-122"/>
                <a:cs typeface="Calibri" pitchFamily="34" charset="-120"/>
              </a:rPr>
              <a:t>3</a:t>
            </a:r>
            <a:endParaRPr lang="en-US" sz="1540" dirty="0"/>
          </a:p>
        </p:txBody>
      </p:sp>
      <p:sp>
        <p:nvSpPr>
          <p:cNvPr id="14" name="Text 12"/>
          <p:cNvSpPr/>
          <p:nvPr/>
        </p:nvSpPr>
        <p:spPr>
          <a:xfrm>
            <a:off x="4754880" y="3749040"/>
            <a:ext cx="1965960" cy="457200"/>
          </a:xfrm>
          <a:prstGeom prst="rect">
            <a:avLst/>
          </a:prstGeom>
          <a:noFill/>
          <a:ln/>
        </p:spPr>
        <p:txBody>
          <a:bodyPr wrap="square" rtlCol="0" anchor="ctr"/>
          <a:lstStyle/>
          <a:p>
            <a:pPr marL="0" indent="0" algn="ctr">
              <a:buNone/>
            </a:pPr>
            <a:r>
              <a:rPr lang="en-US" sz="1400" b="1" dirty="0">
                <a:solidFill>
                  <a:srgbClr val="0B2545"/>
                </a:solidFill>
                <a:latin typeface="Calibri" pitchFamily="34" charset="0"/>
                <a:ea typeface="Calibri" pitchFamily="34" charset="-122"/>
                <a:cs typeface="Calibri" pitchFamily="34" charset="-120"/>
              </a:rPr>
              <a:t>Store</a:t>
            </a:r>
            <a:endParaRPr lang="en-US" sz="1400" dirty="0"/>
          </a:p>
        </p:txBody>
      </p:sp>
      <p:sp>
        <p:nvSpPr>
          <p:cNvPr id="15" name="Shape 13"/>
          <p:cNvSpPr/>
          <p:nvPr/>
        </p:nvSpPr>
        <p:spPr>
          <a:xfrm>
            <a:off x="7520940" y="2971800"/>
            <a:ext cx="640080" cy="640080"/>
          </a:xfrm>
          <a:prstGeom prst="ellipse">
            <a:avLst/>
          </a:prstGeom>
          <a:solidFill>
            <a:srgbClr val="F5A623"/>
          </a:solidFill>
          <a:ln/>
        </p:spPr>
      </p:sp>
      <p:sp>
        <p:nvSpPr>
          <p:cNvPr id="16" name="Text 14"/>
          <p:cNvSpPr/>
          <p:nvPr/>
        </p:nvSpPr>
        <p:spPr>
          <a:xfrm>
            <a:off x="7520940" y="2971800"/>
            <a:ext cx="640080" cy="640080"/>
          </a:xfrm>
          <a:prstGeom prst="rect">
            <a:avLst/>
          </a:prstGeom>
          <a:noFill/>
          <a:ln/>
        </p:spPr>
        <p:txBody>
          <a:bodyPr wrap="square" rtlCol="0" anchor="ctr"/>
          <a:lstStyle/>
          <a:p>
            <a:pPr marL="0" indent="0" algn="ctr">
              <a:buNone/>
            </a:pPr>
            <a:r>
              <a:rPr lang="en-US" sz="1540" b="1" dirty="0">
                <a:solidFill>
                  <a:srgbClr val="FFFFFF"/>
                </a:solidFill>
                <a:latin typeface="Calibri" pitchFamily="34" charset="0"/>
                <a:ea typeface="Calibri" pitchFamily="34" charset="-122"/>
                <a:cs typeface="Calibri" pitchFamily="34" charset="-120"/>
              </a:rPr>
              <a:t>4</a:t>
            </a:r>
            <a:endParaRPr lang="en-US" sz="1540" dirty="0"/>
          </a:p>
        </p:txBody>
      </p:sp>
      <p:sp>
        <p:nvSpPr>
          <p:cNvPr id="17" name="Text 15"/>
          <p:cNvSpPr/>
          <p:nvPr/>
        </p:nvSpPr>
        <p:spPr>
          <a:xfrm>
            <a:off x="6858000" y="3749040"/>
            <a:ext cx="1965960" cy="457200"/>
          </a:xfrm>
          <a:prstGeom prst="rect">
            <a:avLst/>
          </a:prstGeom>
          <a:noFill/>
          <a:ln/>
        </p:spPr>
        <p:txBody>
          <a:bodyPr wrap="square" rtlCol="0" anchor="ctr"/>
          <a:lstStyle/>
          <a:p>
            <a:pPr marL="0" indent="0" algn="ctr">
              <a:buNone/>
            </a:pPr>
            <a:r>
              <a:rPr lang="en-US" sz="1400" b="1" dirty="0">
                <a:solidFill>
                  <a:srgbClr val="0B2545"/>
                </a:solidFill>
                <a:latin typeface="Calibri" pitchFamily="34" charset="0"/>
                <a:ea typeface="Calibri" pitchFamily="34" charset="-122"/>
                <a:cs typeface="Calibri" pitchFamily="34" charset="-120"/>
              </a:rPr>
              <a:t>Transform</a:t>
            </a:r>
            <a:endParaRPr lang="en-US" sz="1400" dirty="0"/>
          </a:p>
        </p:txBody>
      </p:sp>
      <p:sp>
        <p:nvSpPr>
          <p:cNvPr id="18" name="Shape 16"/>
          <p:cNvSpPr/>
          <p:nvPr/>
        </p:nvSpPr>
        <p:spPr>
          <a:xfrm>
            <a:off x="9624060" y="2971800"/>
            <a:ext cx="640080" cy="640080"/>
          </a:xfrm>
          <a:prstGeom prst="ellipse">
            <a:avLst/>
          </a:prstGeom>
          <a:solidFill>
            <a:srgbClr val="134074"/>
          </a:solidFill>
          <a:ln/>
        </p:spPr>
      </p:sp>
      <p:sp>
        <p:nvSpPr>
          <p:cNvPr id="19" name="Text 17"/>
          <p:cNvSpPr/>
          <p:nvPr/>
        </p:nvSpPr>
        <p:spPr>
          <a:xfrm>
            <a:off x="9624060" y="2971800"/>
            <a:ext cx="640080" cy="640080"/>
          </a:xfrm>
          <a:prstGeom prst="rect">
            <a:avLst/>
          </a:prstGeom>
          <a:noFill/>
          <a:ln/>
        </p:spPr>
        <p:txBody>
          <a:bodyPr wrap="square" rtlCol="0" anchor="ctr"/>
          <a:lstStyle/>
          <a:p>
            <a:pPr marL="0" indent="0" algn="ctr">
              <a:buNone/>
            </a:pPr>
            <a:r>
              <a:rPr lang="en-US" sz="1540" b="1" dirty="0">
                <a:solidFill>
                  <a:srgbClr val="FFFFFF"/>
                </a:solidFill>
                <a:latin typeface="Calibri" pitchFamily="34" charset="0"/>
                <a:ea typeface="Calibri" pitchFamily="34" charset="-122"/>
                <a:cs typeface="Calibri" pitchFamily="34" charset="-120"/>
              </a:rPr>
              <a:t>5</a:t>
            </a:r>
            <a:endParaRPr lang="en-US" sz="1540" dirty="0"/>
          </a:p>
        </p:txBody>
      </p:sp>
      <p:sp>
        <p:nvSpPr>
          <p:cNvPr id="20" name="Text 18"/>
          <p:cNvSpPr/>
          <p:nvPr/>
        </p:nvSpPr>
        <p:spPr>
          <a:xfrm>
            <a:off x="8961120" y="3749040"/>
            <a:ext cx="1965960" cy="457200"/>
          </a:xfrm>
          <a:prstGeom prst="rect">
            <a:avLst/>
          </a:prstGeom>
          <a:noFill/>
          <a:ln/>
        </p:spPr>
        <p:txBody>
          <a:bodyPr wrap="square" rtlCol="0" anchor="ctr"/>
          <a:lstStyle/>
          <a:p>
            <a:pPr marL="0" indent="0" algn="ctr">
              <a:buNone/>
            </a:pPr>
            <a:r>
              <a:rPr lang="en-US" sz="1400" b="1" dirty="0">
                <a:solidFill>
                  <a:srgbClr val="0B2545"/>
                </a:solidFill>
                <a:latin typeface="Calibri" pitchFamily="34" charset="0"/>
                <a:ea typeface="Calibri" pitchFamily="34" charset="-122"/>
                <a:cs typeface="Calibri" pitchFamily="34" charset="-120"/>
              </a:rPr>
              <a:t>Serve</a:t>
            </a:r>
            <a:endParaRPr lang="en-US" sz="1400" dirty="0"/>
          </a:p>
        </p:txBody>
      </p:sp>
      <p:sp>
        <p:nvSpPr>
          <p:cNvPr id="21" name="Text 19"/>
          <p:cNvSpPr/>
          <p:nvPr/>
        </p:nvSpPr>
        <p:spPr>
          <a:xfrm>
            <a:off x="411480" y="4206240"/>
            <a:ext cx="2240280" cy="1097280"/>
          </a:xfrm>
          <a:prstGeom prst="rect">
            <a:avLst/>
          </a:prstGeom>
          <a:noFill/>
          <a:ln/>
        </p:spPr>
        <p:txBody>
          <a:bodyPr wrap="square" rtlCol="0" anchor="ctr"/>
          <a:lstStyle/>
          <a:p>
            <a:pPr marL="0" indent="0" algn="ctr">
              <a:lnSpc>
                <a:spcPts val="1400"/>
              </a:lnSpc>
              <a:buNone/>
            </a:pPr>
            <a:r>
              <a:rPr lang="en-US" sz="1000" dirty="0">
                <a:solidFill>
                  <a:srgbClr val="3A3F4B"/>
                </a:solidFill>
                <a:latin typeface="Calibri" pitchFamily="34" charset="0"/>
                <a:ea typeface="Calibri" pitchFamily="34" charset="-122"/>
                <a:cs typeface="Calibri" pitchFamily="34" charset="-120"/>
              </a:rPr>
              <a:t>Source systems create raw data</a:t>
            </a:r>
            <a:endParaRPr lang="en-US" sz="1000" dirty="0"/>
          </a:p>
        </p:txBody>
      </p:sp>
      <p:sp>
        <p:nvSpPr>
          <p:cNvPr id="22" name="Text 20"/>
          <p:cNvSpPr/>
          <p:nvPr/>
        </p:nvSpPr>
        <p:spPr>
          <a:xfrm>
            <a:off x="2514600" y="4206240"/>
            <a:ext cx="2240280" cy="1097280"/>
          </a:xfrm>
          <a:prstGeom prst="rect">
            <a:avLst/>
          </a:prstGeom>
          <a:noFill/>
          <a:ln/>
        </p:spPr>
        <p:txBody>
          <a:bodyPr wrap="square" rtlCol="0" anchor="ctr"/>
          <a:lstStyle/>
          <a:p>
            <a:pPr marL="0" indent="0" algn="ctr">
              <a:lnSpc>
                <a:spcPts val="1400"/>
              </a:lnSpc>
              <a:buNone/>
            </a:pPr>
            <a:r>
              <a:rPr lang="en-US" sz="1000" dirty="0">
                <a:solidFill>
                  <a:srgbClr val="3A3F4B"/>
                </a:solidFill>
                <a:latin typeface="Calibri" pitchFamily="34" charset="0"/>
                <a:ea typeface="Calibri" pitchFamily="34" charset="-122"/>
                <a:cs typeface="Calibri" pitchFamily="34" charset="-120"/>
              </a:rPr>
              <a:t>Pipelines pull data into the platform</a:t>
            </a:r>
            <a:endParaRPr lang="en-US" sz="1000" dirty="0"/>
          </a:p>
        </p:txBody>
      </p:sp>
      <p:sp>
        <p:nvSpPr>
          <p:cNvPr id="23" name="Text 21"/>
          <p:cNvSpPr/>
          <p:nvPr/>
        </p:nvSpPr>
        <p:spPr>
          <a:xfrm>
            <a:off x="4617720" y="4206240"/>
            <a:ext cx="2240280" cy="1097280"/>
          </a:xfrm>
          <a:prstGeom prst="rect">
            <a:avLst/>
          </a:prstGeom>
          <a:noFill/>
          <a:ln/>
        </p:spPr>
        <p:txBody>
          <a:bodyPr wrap="square" rtlCol="0" anchor="ctr"/>
          <a:lstStyle/>
          <a:p>
            <a:pPr marL="0" indent="0" algn="ctr">
              <a:lnSpc>
                <a:spcPts val="1400"/>
              </a:lnSpc>
              <a:buNone/>
            </a:pPr>
            <a:r>
              <a:rPr lang="en-US" sz="1000" dirty="0">
                <a:solidFill>
                  <a:srgbClr val="3A3F4B"/>
                </a:solidFill>
                <a:latin typeface="Calibri" pitchFamily="34" charset="0"/>
                <a:ea typeface="Calibri" pitchFamily="34" charset="-122"/>
                <a:cs typeface="Calibri" pitchFamily="34" charset="-120"/>
              </a:rPr>
              <a:t>Data lands in lakes / warehouses</a:t>
            </a:r>
            <a:endParaRPr lang="en-US" sz="1000" dirty="0"/>
          </a:p>
        </p:txBody>
      </p:sp>
      <p:sp>
        <p:nvSpPr>
          <p:cNvPr id="24" name="Text 22"/>
          <p:cNvSpPr/>
          <p:nvPr/>
        </p:nvSpPr>
        <p:spPr>
          <a:xfrm>
            <a:off x="6720840" y="4206240"/>
            <a:ext cx="2240280" cy="1097280"/>
          </a:xfrm>
          <a:prstGeom prst="rect">
            <a:avLst/>
          </a:prstGeom>
          <a:noFill/>
          <a:ln/>
        </p:spPr>
        <p:txBody>
          <a:bodyPr wrap="square" rtlCol="0" anchor="ctr"/>
          <a:lstStyle/>
          <a:p>
            <a:pPr marL="0" indent="0" algn="ctr">
              <a:lnSpc>
                <a:spcPts val="1400"/>
              </a:lnSpc>
              <a:buNone/>
            </a:pPr>
            <a:r>
              <a:rPr lang="en-US" sz="1000" dirty="0">
                <a:solidFill>
                  <a:srgbClr val="3A3F4B"/>
                </a:solidFill>
                <a:latin typeface="Calibri" pitchFamily="34" charset="0"/>
                <a:ea typeface="Calibri" pitchFamily="34" charset="-122"/>
                <a:cs typeface="Calibri" pitchFamily="34" charset="-120"/>
              </a:rPr>
              <a:t>Cleaning, joins &amp; aggregation</a:t>
            </a:r>
            <a:endParaRPr lang="en-US" sz="1000" dirty="0"/>
          </a:p>
        </p:txBody>
      </p:sp>
      <p:sp>
        <p:nvSpPr>
          <p:cNvPr id="25" name="Text 23"/>
          <p:cNvSpPr/>
          <p:nvPr/>
        </p:nvSpPr>
        <p:spPr>
          <a:xfrm>
            <a:off x="8823960" y="4206240"/>
            <a:ext cx="2240280" cy="1097280"/>
          </a:xfrm>
          <a:prstGeom prst="rect">
            <a:avLst/>
          </a:prstGeom>
          <a:noFill/>
          <a:ln/>
        </p:spPr>
        <p:txBody>
          <a:bodyPr wrap="square" rtlCol="0" anchor="ctr"/>
          <a:lstStyle/>
          <a:p>
            <a:pPr marL="0" indent="0" algn="ctr">
              <a:lnSpc>
                <a:spcPts val="1400"/>
              </a:lnSpc>
              <a:buNone/>
            </a:pPr>
            <a:r>
              <a:rPr lang="en-US" sz="1000" dirty="0">
                <a:solidFill>
                  <a:srgbClr val="3A3F4B"/>
                </a:solidFill>
                <a:latin typeface="Calibri" pitchFamily="34" charset="0"/>
                <a:ea typeface="Calibri" pitchFamily="34" charset="-122"/>
                <a:cs typeface="Calibri" pitchFamily="34" charset="-120"/>
              </a:rPr>
              <a:t>Ready for BI, apps &amp; ML models</a:t>
            </a:r>
            <a:endParaRPr lang="en-US" sz="1000" dirty="0"/>
          </a:p>
        </p:txBody>
      </p:sp>
      <p:sp>
        <p:nvSpPr>
          <p:cNvPr id="26" name="Shape 24"/>
          <p:cNvSpPr/>
          <p:nvPr/>
        </p:nvSpPr>
        <p:spPr>
          <a:xfrm>
            <a:off x="685800" y="4983480"/>
            <a:ext cx="1691640" cy="384048"/>
          </a:xfrm>
          <a:prstGeom prst="roundRect">
            <a:avLst>
              <a:gd name="adj" fmla="val 19048"/>
            </a:avLst>
          </a:prstGeom>
          <a:solidFill>
            <a:srgbClr val="F4F7FB"/>
          </a:solidFill>
          <a:ln/>
        </p:spPr>
      </p:sp>
      <p:sp>
        <p:nvSpPr>
          <p:cNvPr id="27" name="Text 25"/>
          <p:cNvSpPr/>
          <p:nvPr/>
        </p:nvSpPr>
        <p:spPr>
          <a:xfrm>
            <a:off x="685800" y="4983480"/>
            <a:ext cx="1691640" cy="384048"/>
          </a:xfrm>
          <a:prstGeom prst="rect">
            <a:avLst/>
          </a:prstGeom>
          <a:noFill/>
          <a:ln/>
        </p:spPr>
        <p:txBody>
          <a:bodyPr wrap="square" rtlCol="0" anchor="ctr"/>
          <a:lstStyle/>
          <a:p>
            <a:pPr marL="0" indent="0" algn="ctr">
              <a:buNone/>
            </a:pPr>
            <a:r>
              <a:rPr lang="en-US" sz="950" b="1" dirty="0">
                <a:solidFill>
                  <a:srgbClr val="134074"/>
                </a:solidFill>
                <a:latin typeface="Calibri" pitchFamily="34" charset="0"/>
                <a:ea typeface="Calibri" pitchFamily="34" charset="-122"/>
                <a:cs typeface="Calibri" pitchFamily="34" charset="-120"/>
              </a:rPr>
              <a:t>Apps / IoT / Logs</a:t>
            </a:r>
            <a:endParaRPr lang="en-US" sz="950" dirty="0"/>
          </a:p>
        </p:txBody>
      </p:sp>
      <p:sp>
        <p:nvSpPr>
          <p:cNvPr id="28" name="Shape 26"/>
          <p:cNvSpPr/>
          <p:nvPr/>
        </p:nvSpPr>
        <p:spPr>
          <a:xfrm>
            <a:off x="2788920" y="4983480"/>
            <a:ext cx="1691640" cy="384048"/>
          </a:xfrm>
          <a:prstGeom prst="roundRect">
            <a:avLst>
              <a:gd name="adj" fmla="val 19048"/>
            </a:avLst>
          </a:prstGeom>
          <a:solidFill>
            <a:srgbClr val="F4F7FB"/>
          </a:solidFill>
          <a:ln/>
        </p:spPr>
      </p:sp>
      <p:sp>
        <p:nvSpPr>
          <p:cNvPr id="29" name="Text 27"/>
          <p:cNvSpPr/>
          <p:nvPr/>
        </p:nvSpPr>
        <p:spPr>
          <a:xfrm>
            <a:off x="2788920" y="4983480"/>
            <a:ext cx="1691640" cy="384048"/>
          </a:xfrm>
          <a:prstGeom prst="rect">
            <a:avLst/>
          </a:prstGeom>
          <a:noFill/>
          <a:ln/>
        </p:spPr>
        <p:txBody>
          <a:bodyPr wrap="square" rtlCol="0" anchor="ctr"/>
          <a:lstStyle/>
          <a:p>
            <a:pPr marL="0" indent="0" algn="ctr">
              <a:buNone/>
            </a:pPr>
            <a:r>
              <a:rPr lang="en-US" sz="950" b="1" dirty="0">
                <a:solidFill>
                  <a:srgbClr val="134074"/>
                </a:solidFill>
                <a:latin typeface="Calibri" pitchFamily="34" charset="0"/>
                <a:ea typeface="Calibri" pitchFamily="34" charset="-122"/>
                <a:cs typeface="Calibri" pitchFamily="34" charset="-120"/>
              </a:rPr>
              <a:t>Kinesis / Glue</a:t>
            </a:r>
            <a:endParaRPr lang="en-US" sz="950" dirty="0"/>
          </a:p>
        </p:txBody>
      </p:sp>
      <p:sp>
        <p:nvSpPr>
          <p:cNvPr id="30" name="Shape 28"/>
          <p:cNvSpPr/>
          <p:nvPr/>
        </p:nvSpPr>
        <p:spPr>
          <a:xfrm>
            <a:off x="4892040" y="4983480"/>
            <a:ext cx="1691640" cy="384048"/>
          </a:xfrm>
          <a:prstGeom prst="roundRect">
            <a:avLst>
              <a:gd name="adj" fmla="val 19048"/>
            </a:avLst>
          </a:prstGeom>
          <a:solidFill>
            <a:srgbClr val="F4F7FB"/>
          </a:solidFill>
          <a:ln/>
        </p:spPr>
      </p:sp>
      <p:sp>
        <p:nvSpPr>
          <p:cNvPr id="31" name="Text 29"/>
          <p:cNvSpPr/>
          <p:nvPr/>
        </p:nvSpPr>
        <p:spPr>
          <a:xfrm>
            <a:off x="4892040" y="4983480"/>
            <a:ext cx="1691640" cy="384048"/>
          </a:xfrm>
          <a:prstGeom prst="rect">
            <a:avLst/>
          </a:prstGeom>
          <a:noFill/>
          <a:ln/>
        </p:spPr>
        <p:txBody>
          <a:bodyPr wrap="square" rtlCol="0" anchor="ctr"/>
          <a:lstStyle/>
          <a:p>
            <a:pPr marL="0" indent="0" algn="ctr">
              <a:buNone/>
            </a:pPr>
            <a:r>
              <a:rPr lang="en-US" sz="950" b="1" dirty="0">
                <a:solidFill>
                  <a:srgbClr val="134074"/>
                </a:solidFill>
                <a:latin typeface="Calibri" pitchFamily="34" charset="0"/>
                <a:ea typeface="Calibri" pitchFamily="34" charset="-122"/>
                <a:cs typeface="Calibri" pitchFamily="34" charset="-120"/>
              </a:rPr>
              <a:t>Amazon S3</a:t>
            </a:r>
            <a:endParaRPr lang="en-US" sz="950" dirty="0"/>
          </a:p>
        </p:txBody>
      </p:sp>
      <p:sp>
        <p:nvSpPr>
          <p:cNvPr id="32" name="Shape 30"/>
          <p:cNvSpPr/>
          <p:nvPr/>
        </p:nvSpPr>
        <p:spPr>
          <a:xfrm>
            <a:off x="6995160" y="4983480"/>
            <a:ext cx="1691640" cy="384048"/>
          </a:xfrm>
          <a:prstGeom prst="roundRect">
            <a:avLst>
              <a:gd name="adj" fmla="val 19048"/>
            </a:avLst>
          </a:prstGeom>
          <a:solidFill>
            <a:srgbClr val="F4F7FB"/>
          </a:solidFill>
          <a:ln/>
        </p:spPr>
      </p:sp>
      <p:sp>
        <p:nvSpPr>
          <p:cNvPr id="33" name="Text 31"/>
          <p:cNvSpPr/>
          <p:nvPr/>
        </p:nvSpPr>
        <p:spPr>
          <a:xfrm>
            <a:off x="6995160" y="4983480"/>
            <a:ext cx="1691640" cy="384048"/>
          </a:xfrm>
          <a:prstGeom prst="rect">
            <a:avLst/>
          </a:prstGeom>
          <a:noFill/>
          <a:ln/>
        </p:spPr>
        <p:txBody>
          <a:bodyPr wrap="square" rtlCol="0" anchor="ctr"/>
          <a:lstStyle/>
          <a:p>
            <a:pPr marL="0" indent="0" algn="ctr">
              <a:buNone/>
            </a:pPr>
            <a:r>
              <a:rPr lang="en-US" sz="950" b="1" dirty="0">
                <a:solidFill>
                  <a:srgbClr val="134074"/>
                </a:solidFill>
                <a:latin typeface="Calibri" pitchFamily="34" charset="0"/>
                <a:ea typeface="Calibri" pitchFamily="34" charset="-122"/>
                <a:cs typeface="Calibri" pitchFamily="34" charset="-120"/>
              </a:rPr>
              <a:t>Glue / EMR</a:t>
            </a:r>
            <a:endParaRPr lang="en-US" sz="950" dirty="0"/>
          </a:p>
        </p:txBody>
      </p:sp>
      <p:sp>
        <p:nvSpPr>
          <p:cNvPr id="34" name="Shape 32"/>
          <p:cNvSpPr/>
          <p:nvPr/>
        </p:nvSpPr>
        <p:spPr>
          <a:xfrm>
            <a:off x="9098280" y="4983480"/>
            <a:ext cx="1691640" cy="384048"/>
          </a:xfrm>
          <a:prstGeom prst="roundRect">
            <a:avLst>
              <a:gd name="adj" fmla="val 19048"/>
            </a:avLst>
          </a:prstGeom>
          <a:solidFill>
            <a:srgbClr val="F4F7FB"/>
          </a:solidFill>
          <a:ln/>
        </p:spPr>
      </p:sp>
      <p:sp>
        <p:nvSpPr>
          <p:cNvPr id="35" name="Text 33"/>
          <p:cNvSpPr/>
          <p:nvPr/>
        </p:nvSpPr>
        <p:spPr>
          <a:xfrm>
            <a:off x="9098280" y="4983480"/>
            <a:ext cx="1691640" cy="384048"/>
          </a:xfrm>
          <a:prstGeom prst="rect">
            <a:avLst/>
          </a:prstGeom>
          <a:noFill/>
          <a:ln/>
        </p:spPr>
        <p:txBody>
          <a:bodyPr wrap="square" rtlCol="0" anchor="ctr"/>
          <a:lstStyle/>
          <a:p>
            <a:pPr marL="0" indent="0" algn="ctr">
              <a:buNone/>
            </a:pPr>
            <a:r>
              <a:rPr lang="en-US" sz="950" b="1" dirty="0">
                <a:solidFill>
                  <a:srgbClr val="134074"/>
                </a:solidFill>
                <a:latin typeface="Calibri" pitchFamily="34" charset="0"/>
                <a:ea typeface="Calibri" pitchFamily="34" charset="-122"/>
                <a:cs typeface="Calibri" pitchFamily="34" charset="-120"/>
              </a:rPr>
              <a:t>Redshift / BI</a:t>
            </a:r>
            <a:endParaRPr lang="en-US" sz="950" dirty="0"/>
          </a:p>
        </p:txBody>
      </p:sp>
      <p:sp>
        <p:nvSpPr>
          <p:cNvPr id="36" name="Text 34"/>
          <p:cNvSpPr/>
          <p:nvPr/>
        </p:nvSpPr>
        <p:spPr>
          <a:xfrm>
            <a:off x="548640" y="5394960"/>
            <a:ext cx="10515600" cy="457200"/>
          </a:xfrm>
          <a:prstGeom prst="rect">
            <a:avLst/>
          </a:prstGeom>
          <a:noFill/>
          <a:ln/>
        </p:spPr>
        <p:txBody>
          <a:bodyPr wrap="square" rtlCol="0" anchor="ctr"/>
          <a:lstStyle/>
          <a:p>
            <a:pPr marL="0" indent="0">
              <a:buNone/>
            </a:pPr>
            <a:r>
              <a:rPr lang="en-US" sz="1200" i="1" dirty="0">
                <a:solidFill>
                  <a:srgbClr val="8A93A5"/>
                </a:solidFill>
                <a:latin typeface="Calibri" pitchFamily="34" charset="0"/>
                <a:ea typeface="Calibri" pitchFamily="34" charset="-122"/>
                <a:cs typeface="Calibri" pitchFamily="34" charset="-120"/>
              </a:rPr>
              <a:t>Every AWS service used in this internship maps to one of these five stages.</a:t>
            </a:r>
            <a:endParaRPr lang="en-US" sz="1200" dirty="0"/>
          </a:p>
        </p:txBody>
      </p:sp>
      <p:sp>
        <p:nvSpPr>
          <p:cNvPr id="38" name="Text 35"/>
          <p:cNvSpPr/>
          <p:nvPr/>
        </p:nvSpPr>
        <p:spPr>
          <a:xfrm>
            <a:off x="457200" y="6473952"/>
            <a:ext cx="5486400" cy="274320"/>
          </a:xfrm>
          <a:prstGeom prst="rect">
            <a:avLst/>
          </a:prstGeom>
          <a:noFill/>
          <a:ln/>
        </p:spPr>
        <p:txBody>
          <a:bodyPr wrap="square" rtlCol="0" anchor="ctr"/>
          <a:lstStyle/>
          <a:p>
            <a:pPr marL="0" indent="0" algn="l">
              <a:buNone/>
            </a:pPr>
            <a:r>
              <a:rPr lang="en-US" sz="900" dirty="0">
                <a:solidFill>
                  <a:srgbClr val="8A93A5"/>
                </a:solidFill>
                <a:latin typeface="Calibri" pitchFamily="34" charset="0"/>
                <a:ea typeface="Calibri" pitchFamily="34" charset="-122"/>
                <a:cs typeface="Calibri" pitchFamily="34" charset="-120"/>
              </a:rPr>
              <a:t>Data Engineering Virtual Internship</a:t>
            </a:r>
            <a:endParaRPr lang="en-US" sz="900" dirty="0"/>
          </a:p>
        </p:txBody>
      </p:sp>
      <p:sp>
        <p:nvSpPr>
          <p:cNvPr id="39" name="Text 36"/>
          <p:cNvSpPr/>
          <p:nvPr/>
        </p:nvSpPr>
        <p:spPr>
          <a:xfrm>
            <a:off x="11274552" y="6473952"/>
            <a:ext cx="548640" cy="274320"/>
          </a:xfrm>
          <a:prstGeom prst="rect">
            <a:avLst/>
          </a:prstGeom>
          <a:noFill/>
          <a:ln/>
        </p:spPr>
        <p:txBody>
          <a:bodyPr wrap="square" rtlCol="0" anchor="ctr"/>
          <a:lstStyle/>
          <a:p>
            <a:pPr marL="0" indent="0" algn="r">
              <a:buNone/>
            </a:pPr>
            <a:r>
              <a:rPr lang="en-US" sz="900" dirty="0">
                <a:solidFill>
                  <a:srgbClr val="8A93A5"/>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9966960" y="-2011680"/>
            <a:ext cx="5029200" cy="5029200"/>
          </a:xfrm>
          <a:prstGeom prst="ellipse">
            <a:avLst/>
          </a:prstGeom>
          <a:solidFill>
            <a:srgbClr val="134074"/>
          </a:solidFill>
          <a:ln/>
        </p:spPr>
      </p:sp>
      <p:sp>
        <p:nvSpPr>
          <p:cNvPr id="3" name="Shape 1"/>
          <p:cNvSpPr/>
          <p:nvPr/>
        </p:nvSpPr>
        <p:spPr>
          <a:xfrm>
            <a:off x="10561320" y="502920"/>
            <a:ext cx="548640" cy="548640"/>
          </a:xfrm>
          <a:prstGeom prst="roundRect">
            <a:avLst>
              <a:gd name="adj" fmla="val 23333"/>
            </a:avLst>
          </a:prstGeom>
          <a:solidFill>
            <a:srgbClr val="12335C"/>
          </a:solidFill>
          <a:ln/>
        </p:spPr>
      </p:sp>
      <p:pic>
        <p:nvPicPr>
          <p:cNvPr id="4" name="Image 0" descr="/home/claude/ppt/icons/cloud.png"/>
          <p:cNvPicPr>
            <a:picLocks noChangeAspect="1"/>
          </p:cNvPicPr>
          <p:nvPr/>
        </p:nvPicPr>
        <p:blipFill>
          <a:blip r:embed="rId3"/>
          <a:stretch>
            <a:fillRect/>
          </a:stretch>
        </p:blipFill>
        <p:spPr>
          <a:xfrm>
            <a:off x="10684764" y="626364"/>
            <a:ext cx="301752" cy="301752"/>
          </a:xfrm>
          <a:prstGeom prst="rect">
            <a:avLst/>
          </a:prstGeom>
        </p:spPr>
      </p:pic>
      <p:sp>
        <p:nvSpPr>
          <p:cNvPr id="5" name="Shape 2"/>
          <p:cNvSpPr/>
          <p:nvPr/>
        </p:nvSpPr>
        <p:spPr>
          <a:xfrm>
            <a:off x="548640" y="502920"/>
            <a:ext cx="1554480" cy="329184"/>
          </a:xfrm>
          <a:prstGeom prst="roundRect">
            <a:avLst>
              <a:gd name="adj" fmla="val 50000"/>
            </a:avLst>
          </a:prstGeom>
          <a:solidFill>
            <a:srgbClr val="F5A623"/>
          </a:solidFill>
          <a:ln/>
        </p:spPr>
      </p:sp>
      <p:sp>
        <p:nvSpPr>
          <p:cNvPr id="6" name="Text 3"/>
          <p:cNvSpPr/>
          <p:nvPr/>
        </p:nvSpPr>
        <p:spPr>
          <a:xfrm>
            <a:off x="548640" y="502920"/>
            <a:ext cx="1554480" cy="329184"/>
          </a:xfrm>
          <a:prstGeom prst="rect">
            <a:avLst/>
          </a:prstGeom>
          <a:noFill/>
          <a:ln/>
        </p:spPr>
        <p:txBody>
          <a:bodyPr wrap="square" rtlCol="0" anchor="ctr"/>
          <a:lstStyle/>
          <a:p>
            <a:pPr marL="0" indent="0" algn="ctr">
              <a:buNone/>
            </a:pPr>
            <a:r>
              <a:rPr lang="en-US" sz="1100" b="1" kern="0" spc="100" dirty="0">
                <a:solidFill>
                  <a:srgbClr val="081B33"/>
                </a:solidFill>
                <a:latin typeface="Calibri" pitchFamily="34" charset="0"/>
                <a:ea typeface="Calibri" pitchFamily="34" charset="-122"/>
                <a:cs typeface="Calibri" pitchFamily="34" charset="-120"/>
              </a:rPr>
              <a:t>SECTION 03</a:t>
            </a:r>
            <a:endParaRPr lang="en-US" sz="1100" dirty="0"/>
          </a:p>
        </p:txBody>
      </p:sp>
      <p:sp>
        <p:nvSpPr>
          <p:cNvPr id="7" name="Text 4"/>
          <p:cNvSpPr/>
          <p:nvPr/>
        </p:nvSpPr>
        <p:spPr>
          <a:xfrm>
            <a:off x="548640" y="914400"/>
            <a:ext cx="11064240" cy="822960"/>
          </a:xfrm>
          <a:prstGeom prst="rect">
            <a:avLst/>
          </a:prstGeom>
          <a:noFill/>
          <a:ln/>
        </p:spPr>
        <p:txBody>
          <a:bodyPr wrap="square"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Cloud Computing &amp; AWS</a:t>
            </a:r>
            <a:endParaRPr lang="en-US" sz="3000" dirty="0"/>
          </a:p>
        </p:txBody>
      </p:sp>
      <p:sp>
        <p:nvSpPr>
          <p:cNvPr id="8" name="Text 5"/>
          <p:cNvSpPr/>
          <p:nvPr/>
        </p:nvSpPr>
        <p:spPr>
          <a:xfrm>
            <a:off x="548640" y="1691640"/>
            <a:ext cx="10424160" cy="822960"/>
          </a:xfrm>
          <a:prstGeom prst="rect">
            <a:avLst/>
          </a:prstGeom>
          <a:noFill/>
          <a:ln/>
        </p:spPr>
        <p:txBody>
          <a:bodyPr wrap="square" rtlCol="0" anchor="ctr"/>
          <a:lstStyle/>
          <a:p>
            <a:pPr marL="0" indent="0">
              <a:lnSpc>
                <a:spcPts val="1900"/>
              </a:lnSpc>
              <a:buNone/>
            </a:pPr>
            <a:r>
              <a:rPr lang="en-US" sz="1350" dirty="0">
                <a:solidFill>
                  <a:srgbClr val="C7D2E3"/>
                </a:solidFill>
                <a:latin typeface="Calibri" pitchFamily="34" charset="0"/>
                <a:ea typeface="Calibri" pitchFamily="34" charset="-122"/>
                <a:cs typeface="Calibri" pitchFamily="34" charset="-120"/>
              </a:rPr>
              <a:t>Cloud computing delivers on-demand compute, storage, and networking over the internet — no physical servers to manage. Amazon Web Services (AWS) is the platform used throughout this internship.</a:t>
            </a:r>
            <a:endParaRPr lang="en-US" sz="1350" dirty="0"/>
          </a:p>
        </p:txBody>
      </p:sp>
      <p:sp>
        <p:nvSpPr>
          <p:cNvPr id="9" name="Shape 6"/>
          <p:cNvSpPr/>
          <p:nvPr/>
        </p:nvSpPr>
        <p:spPr>
          <a:xfrm>
            <a:off x="548640" y="2743200"/>
            <a:ext cx="2606040" cy="3017520"/>
          </a:xfrm>
          <a:prstGeom prst="roundRect">
            <a:avLst>
              <a:gd name="adj" fmla="val 2807"/>
            </a:avLst>
          </a:prstGeom>
          <a:solidFill>
            <a:srgbClr val="134074"/>
          </a:solidFill>
          <a:ln/>
        </p:spPr>
      </p:sp>
      <p:sp>
        <p:nvSpPr>
          <p:cNvPr id="10" name="Shape 7"/>
          <p:cNvSpPr/>
          <p:nvPr/>
        </p:nvSpPr>
        <p:spPr>
          <a:xfrm>
            <a:off x="749808" y="2944368"/>
            <a:ext cx="502920" cy="502920"/>
          </a:xfrm>
          <a:prstGeom prst="roundRect">
            <a:avLst>
              <a:gd name="adj" fmla="val 21818"/>
            </a:avLst>
          </a:prstGeom>
          <a:solidFill>
            <a:srgbClr val="0F2D52"/>
          </a:solidFill>
          <a:ln/>
        </p:spPr>
      </p:sp>
      <p:pic>
        <p:nvPicPr>
          <p:cNvPr id="11" name="Image 1" descr="/home/claude/ppt/icons/lightning.png"/>
          <p:cNvPicPr>
            <a:picLocks noChangeAspect="1"/>
          </p:cNvPicPr>
          <p:nvPr/>
        </p:nvPicPr>
        <p:blipFill>
          <a:blip r:embed="rId4"/>
          <a:stretch>
            <a:fillRect/>
          </a:stretch>
        </p:blipFill>
        <p:spPr>
          <a:xfrm>
            <a:off x="875538" y="3070098"/>
            <a:ext cx="251460" cy="251460"/>
          </a:xfrm>
          <a:prstGeom prst="rect">
            <a:avLst/>
          </a:prstGeom>
        </p:spPr>
      </p:pic>
      <p:sp>
        <p:nvSpPr>
          <p:cNvPr id="12" name="Text 8"/>
          <p:cNvSpPr/>
          <p:nvPr/>
        </p:nvSpPr>
        <p:spPr>
          <a:xfrm>
            <a:off x="731520" y="3566160"/>
            <a:ext cx="2240280" cy="365760"/>
          </a:xfrm>
          <a:prstGeom prst="rect">
            <a:avLst/>
          </a:prstGeom>
          <a:noFill/>
          <a:ln/>
        </p:spPr>
        <p:txBody>
          <a:bodyPr wrap="square" rtlCol="0" anchor="ctr"/>
          <a:lstStyle/>
          <a:p>
            <a:pPr marL="0" indent="0">
              <a:buNone/>
            </a:pPr>
            <a:r>
              <a:rPr lang="en-US" sz="1450" b="1" dirty="0">
                <a:solidFill>
                  <a:srgbClr val="F5A623"/>
                </a:solidFill>
                <a:latin typeface="Calibri" pitchFamily="34" charset="0"/>
                <a:ea typeface="Calibri" pitchFamily="34" charset="-122"/>
                <a:cs typeface="Calibri" pitchFamily="34" charset="-120"/>
              </a:rPr>
              <a:t>Elastic</a:t>
            </a:r>
            <a:endParaRPr lang="en-US" sz="1450" dirty="0"/>
          </a:p>
        </p:txBody>
      </p:sp>
      <p:sp>
        <p:nvSpPr>
          <p:cNvPr id="13" name="Text 9"/>
          <p:cNvSpPr/>
          <p:nvPr/>
        </p:nvSpPr>
        <p:spPr>
          <a:xfrm>
            <a:off x="731520" y="3931920"/>
            <a:ext cx="2240280" cy="1645920"/>
          </a:xfrm>
          <a:prstGeom prst="rect">
            <a:avLst/>
          </a:prstGeom>
          <a:noFill/>
          <a:ln/>
        </p:spPr>
        <p:txBody>
          <a:bodyPr wrap="square" rtlCol="0" anchor="ctr"/>
          <a:lstStyle/>
          <a:p>
            <a:pPr marL="0" indent="0">
              <a:lnSpc>
                <a:spcPts val="1500"/>
              </a:lnSpc>
              <a:buNone/>
            </a:pPr>
            <a:r>
              <a:rPr lang="en-US" sz="1100" dirty="0">
                <a:solidFill>
                  <a:srgbClr val="E4EAF4"/>
                </a:solidFill>
                <a:latin typeface="Calibri" pitchFamily="34" charset="0"/>
                <a:ea typeface="Calibri" pitchFamily="34" charset="-122"/>
                <a:cs typeface="Calibri" pitchFamily="34" charset="-120"/>
              </a:rPr>
              <a:t>Scale resources up or down instantly based on demand</a:t>
            </a:r>
            <a:endParaRPr lang="en-US" sz="1100" dirty="0"/>
          </a:p>
        </p:txBody>
      </p:sp>
      <p:sp>
        <p:nvSpPr>
          <p:cNvPr id="14" name="Shape 10"/>
          <p:cNvSpPr/>
          <p:nvPr/>
        </p:nvSpPr>
        <p:spPr>
          <a:xfrm>
            <a:off x="3310128" y="2743200"/>
            <a:ext cx="2606040" cy="3017520"/>
          </a:xfrm>
          <a:prstGeom prst="roundRect">
            <a:avLst>
              <a:gd name="adj" fmla="val 2807"/>
            </a:avLst>
          </a:prstGeom>
          <a:solidFill>
            <a:srgbClr val="134074"/>
          </a:solidFill>
          <a:ln/>
        </p:spPr>
      </p:sp>
      <p:sp>
        <p:nvSpPr>
          <p:cNvPr id="15" name="Shape 11"/>
          <p:cNvSpPr/>
          <p:nvPr/>
        </p:nvSpPr>
        <p:spPr>
          <a:xfrm>
            <a:off x="3511296" y="2944368"/>
            <a:ext cx="502920" cy="502920"/>
          </a:xfrm>
          <a:prstGeom prst="roundRect">
            <a:avLst>
              <a:gd name="adj" fmla="val 21818"/>
            </a:avLst>
          </a:prstGeom>
          <a:solidFill>
            <a:srgbClr val="0F2D52"/>
          </a:solidFill>
          <a:ln/>
        </p:spPr>
      </p:sp>
      <p:pic>
        <p:nvPicPr>
          <p:cNvPr id="16" name="Image 2" descr="/home/claude/ppt/icons/barchart.png"/>
          <p:cNvPicPr>
            <a:picLocks noChangeAspect="1"/>
          </p:cNvPicPr>
          <p:nvPr/>
        </p:nvPicPr>
        <p:blipFill>
          <a:blip r:embed="rId5"/>
          <a:stretch>
            <a:fillRect/>
          </a:stretch>
        </p:blipFill>
        <p:spPr>
          <a:xfrm>
            <a:off x="3637026" y="3070098"/>
            <a:ext cx="251460" cy="251460"/>
          </a:xfrm>
          <a:prstGeom prst="rect">
            <a:avLst/>
          </a:prstGeom>
        </p:spPr>
      </p:pic>
      <p:sp>
        <p:nvSpPr>
          <p:cNvPr id="17" name="Text 12"/>
          <p:cNvSpPr/>
          <p:nvPr/>
        </p:nvSpPr>
        <p:spPr>
          <a:xfrm>
            <a:off x="3493008" y="3566160"/>
            <a:ext cx="2240280" cy="365760"/>
          </a:xfrm>
          <a:prstGeom prst="rect">
            <a:avLst/>
          </a:prstGeom>
          <a:noFill/>
          <a:ln/>
        </p:spPr>
        <p:txBody>
          <a:bodyPr wrap="square" rtlCol="0" anchor="ctr"/>
          <a:lstStyle/>
          <a:p>
            <a:pPr marL="0" indent="0">
              <a:buNone/>
            </a:pPr>
            <a:r>
              <a:rPr lang="en-US" sz="1450" b="1" dirty="0">
                <a:solidFill>
                  <a:srgbClr val="F5A623"/>
                </a:solidFill>
                <a:latin typeface="Calibri" pitchFamily="34" charset="0"/>
                <a:ea typeface="Calibri" pitchFamily="34" charset="-122"/>
                <a:cs typeface="Calibri" pitchFamily="34" charset="-120"/>
              </a:rPr>
              <a:t>Pay-as-you-go</a:t>
            </a:r>
            <a:endParaRPr lang="en-US" sz="1450" dirty="0"/>
          </a:p>
        </p:txBody>
      </p:sp>
      <p:sp>
        <p:nvSpPr>
          <p:cNvPr id="18" name="Text 13"/>
          <p:cNvSpPr/>
          <p:nvPr/>
        </p:nvSpPr>
        <p:spPr>
          <a:xfrm>
            <a:off x="3493008" y="3931920"/>
            <a:ext cx="2240280" cy="1645920"/>
          </a:xfrm>
          <a:prstGeom prst="rect">
            <a:avLst/>
          </a:prstGeom>
          <a:noFill/>
          <a:ln/>
        </p:spPr>
        <p:txBody>
          <a:bodyPr wrap="square" rtlCol="0" anchor="ctr"/>
          <a:lstStyle/>
          <a:p>
            <a:pPr marL="0" indent="0">
              <a:lnSpc>
                <a:spcPts val="1500"/>
              </a:lnSpc>
              <a:buNone/>
            </a:pPr>
            <a:r>
              <a:rPr lang="en-US" sz="1100" dirty="0">
                <a:solidFill>
                  <a:srgbClr val="E4EAF4"/>
                </a:solidFill>
                <a:latin typeface="Calibri" pitchFamily="34" charset="0"/>
                <a:ea typeface="Calibri" pitchFamily="34" charset="-122"/>
                <a:cs typeface="Calibri" pitchFamily="34" charset="-120"/>
              </a:rPr>
              <a:t>Only pay for the compute and storage actually used</a:t>
            </a:r>
            <a:endParaRPr lang="en-US" sz="1100" dirty="0"/>
          </a:p>
        </p:txBody>
      </p:sp>
      <p:sp>
        <p:nvSpPr>
          <p:cNvPr id="19" name="Shape 14"/>
          <p:cNvSpPr/>
          <p:nvPr/>
        </p:nvSpPr>
        <p:spPr>
          <a:xfrm>
            <a:off x="6071616" y="2743200"/>
            <a:ext cx="2606040" cy="3017520"/>
          </a:xfrm>
          <a:prstGeom prst="roundRect">
            <a:avLst>
              <a:gd name="adj" fmla="val 2807"/>
            </a:avLst>
          </a:prstGeom>
          <a:solidFill>
            <a:srgbClr val="134074"/>
          </a:solidFill>
          <a:ln/>
        </p:spPr>
      </p:sp>
      <p:sp>
        <p:nvSpPr>
          <p:cNvPr id="20" name="Shape 15"/>
          <p:cNvSpPr/>
          <p:nvPr/>
        </p:nvSpPr>
        <p:spPr>
          <a:xfrm>
            <a:off x="6272784" y="2944368"/>
            <a:ext cx="502920" cy="502920"/>
          </a:xfrm>
          <a:prstGeom prst="roundRect">
            <a:avLst>
              <a:gd name="adj" fmla="val 21818"/>
            </a:avLst>
          </a:prstGeom>
          <a:solidFill>
            <a:srgbClr val="0F2D52"/>
          </a:solidFill>
          <a:ln/>
        </p:spPr>
      </p:sp>
      <p:pic>
        <p:nvPicPr>
          <p:cNvPr id="21" name="Image 3" descr="/home/claude/ppt/icons/globe.png"/>
          <p:cNvPicPr>
            <a:picLocks noChangeAspect="1"/>
          </p:cNvPicPr>
          <p:nvPr/>
        </p:nvPicPr>
        <p:blipFill>
          <a:blip r:embed="rId6"/>
          <a:stretch>
            <a:fillRect/>
          </a:stretch>
        </p:blipFill>
        <p:spPr>
          <a:xfrm>
            <a:off x="6398514" y="3070098"/>
            <a:ext cx="251460" cy="251460"/>
          </a:xfrm>
          <a:prstGeom prst="rect">
            <a:avLst/>
          </a:prstGeom>
        </p:spPr>
      </p:pic>
      <p:sp>
        <p:nvSpPr>
          <p:cNvPr id="22" name="Text 16"/>
          <p:cNvSpPr/>
          <p:nvPr/>
        </p:nvSpPr>
        <p:spPr>
          <a:xfrm>
            <a:off x="6254496" y="3566160"/>
            <a:ext cx="2240280" cy="365760"/>
          </a:xfrm>
          <a:prstGeom prst="rect">
            <a:avLst/>
          </a:prstGeom>
          <a:noFill/>
          <a:ln/>
        </p:spPr>
        <p:txBody>
          <a:bodyPr wrap="square" rtlCol="0" anchor="ctr"/>
          <a:lstStyle/>
          <a:p>
            <a:pPr marL="0" indent="0">
              <a:buNone/>
            </a:pPr>
            <a:r>
              <a:rPr lang="en-US" sz="1450" b="1" dirty="0">
                <a:solidFill>
                  <a:srgbClr val="F5A623"/>
                </a:solidFill>
                <a:latin typeface="Calibri" pitchFamily="34" charset="0"/>
                <a:ea typeface="Calibri" pitchFamily="34" charset="-122"/>
                <a:cs typeface="Calibri" pitchFamily="34" charset="-120"/>
              </a:rPr>
              <a:t>Global</a:t>
            </a:r>
            <a:endParaRPr lang="en-US" sz="1450" dirty="0"/>
          </a:p>
        </p:txBody>
      </p:sp>
      <p:sp>
        <p:nvSpPr>
          <p:cNvPr id="23" name="Text 17"/>
          <p:cNvSpPr/>
          <p:nvPr/>
        </p:nvSpPr>
        <p:spPr>
          <a:xfrm>
            <a:off x="6254496" y="3931920"/>
            <a:ext cx="2240280" cy="1645920"/>
          </a:xfrm>
          <a:prstGeom prst="rect">
            <a:avLst/>
          </a:prstGeom>
          <a:noFill/>
          <a:ln/>
        </p:spPr>
        <p:txBody>
          <a:bodyPr wrap="square" rtlCol="0" anchor="ctr"/>
          <a:lstStyle/>
          <a:p>
            <a:pPr marL="0" indent="0">
              <a:lnSpc>
                <a:spcPts val="1500"/>
              </a:lnSpc>
              <a:buNone/>
            </a:pPr>
            <a:r>
              <a:rPr lang="en-US" sz="1100" dirty="0">
                <a:solidFill>
                  <a:srgbClr val="E4EAF4"/>
                </a:solidFill>
                <a:latin typeface="Calibri" pitchFamily="34" charset="0"/>
                <a:ea typeface="Calibri" pitchFamily="34" charset="-122"/>
                <a:cs typeface="Calibri" pitchFamily="34" charset="-120"/>
              </a:rPr>
              <a:t>Deploy across data centres worldwide for speed &amp; resilience</a:t>
            </a:r>
            <a:endParaRPr lang="en-US" sz="1100" dirty="0"/>
          </a:p>
        </p:txBody>
      </p:sp>
      <p:sp>
        <p:nvSpPr>
          <p:cNvPr id="24" name="Shape 18"/>
          <p:cNvSpPr/>
          <p:nvPr/>
        </p:nvSpPr>
        <p:spPr>
          <a:xfrm>
            <a:off x="8833104" y="2743200"/>
            <a:ext cx="2606040" cy="3017520"/>
          </a:xfrm>
          <a:prstGeom prst="roundRect">
            <a:avLst>
              <a:gd name="adj" fmla="val 2807"/>
            </a:avLst>
          </a:prstGeom>
          <a:solidFill>
            <a:srgbClr val="134074"/>
          </a:solidFill>
          <a:ln/>
        </p:spPr>
      </p:sp>
      <p:sp>
        <p:nvSpPr>
          <p:cNvPr id="25" name="Shape 19"/>
          <p:cNvSpPr/>
          <p:nvPr/>
        </p:nvSpPr>
        <p:spPr>
          <a:xfrm>
            <a:off x="9034272" y="2944368"/>
            <a:ext cx="502920" cy="502920"/>
          </a:xfrm>
          <a:prstGeom prst="roundRect">
            <a:avLst>
              <a:gd name="adj" fmla="val 21818"/>
            </a:avLst>
          </a:prstGeom>
          <a:solidFill>
            <a:srgbClr val="0F2D52"/>
          </a:solidFill>
          <a:ln/>
        </p:spPr>
      </p:sp>
      <p:pic>
        <p:nvPicPr>
          <p:cNvPr id="26" name="Image 4" descr="/home/claude/ppt/icons/lock.png"/>
          <p:cNvPicPr>
            <a:picLocks noChangeAspect="1"/>
          </p:cNvPicPr>
          <p:nvPr/>
        </p:nvPicPr>
        <p:blipFill>
          <a:blip r:embed="rId7"/>
          <a:stretch>
            <a:fillRect/>
          </a:stretch>
        </p:blipFill>
        <p:spPr>
          <a:xfrm>
            <a:off x="9160002" y="3070098"/>
            <a:ext cx="251460" cy="251460"/>
          </a:xfrm>
          <a:prstGeom prst="rect">
            <a:avLst/>
          </a:prstGeom>
        </p:spPr>
      </p:pic>
      <p:sp>
        <p:nvSpPr>
          <p:cNvPr id="27" name="Text 20"/>
          <p:cNvSpPr/>
          <p:nvPr/>
        </p:nvSpPr>
        <p:spPr>
          <a:xfrm>
            <a:off x="9015984" y="3566160"/>
            <a:ext cx="2240280" cy="365760"/>
          </a:xfrm>
          <a:prstGeom prst="rect">
            <a:avLst/>
          </a:prstGeom>
          <a:noFill/>
          <a:ln/>
        </p:spPr>
        <p:txBody>
          <a:bodyPr wrap="square" rtlCol="0" anchor="ctr"/>
          <a:lstStyle/>
          <a:p>
            <a:pPr marL="0" indent="0">
              <a:buNone/>
            </a:pPr>
            <a:r>
              <a:rPr lang="en-US" sz="1450" b="1" dirty="0">
                <a:solidFill>
                  <a:srgbClr val="F5A623"/>
                </a:solidFill>
                <a:latin typeface="Calibri" pitchFamily="34" charset="0"/>
                <a:ea typeface="Calibri" pitchFamily="34" charset="-122"/>
                <a:cs typeface="Calibri" pitchFamily="34" charset="-120"/>
              </a:rPr>
              <a:t>Secure</a:t>
            </a:r>
            <a:endParaRPr lang="en-US" sz="1450" dirty="0"/>
          </a:p>
        </p:txBody>
      </p:sp>
      <p:sp>
        <p:nvSpPr>
          <p:cNvPr id="28" name="Text 21"/>
          <p:cNvSpPr/>
          <p:nvPr/>
        </p:nvSpPr>
        <p:spPr>
          <a:xfrm>
            <a:off x="9015984" y="3931920"/>
            <a:ext cx="2240280" cy="1645920"/>
          </a:xfrm>
          <a:prstGeom prst="rect">
            <a:avLst/>
          </a:prstGeom>
          <a:noFill/>
          <a:ln/>
        </p:spPr>
        <p:txBody>
          <a:bodyPr wrap="square" rtlCol="0" anchor="ctr"/>
          <a:lstStyle/>
          <a:p>
            <a:pPr marL="0" indent="0">
              <a:lnSpc>
                <a:spcPts val="1500"/>
              </a:lnSpc>
              <a:buNone/>
            </a:pPr>
            <a:r>
              <a:rPr lang="en-US" sz="1100" dirty="0">
                <a:solidFill>
                  <a:srgbClr val="E4EAF4"/>
                </a:solidFill>
                <a:latin typeface="Calibri" pitchFamily="34" charset="0"/>
                <a:ea typeface="Calibri" pitchFamily="34" charset="-122"/>
                <a:cs typeface="Calibri" pitchFamily="34" charset="-120"/>
              </a:rPr>
              <a:t>Built-in identity, encryption, and compliance controls</a:t>
            </a:r>
            <a:endParaRPr lang="en-US" sz="1100" dirty="0"/>
          </a:p>
        </p:txBody>
      </p:sp>
      <p:sp>
        <p:nvSpPr>
          <p:cNvPr id="30" name="Text 22"/>
          <p:cNvSpPr/>
          <p:nvPr/>
        </p:nvSpPr>
        <p:spPr>
          <a:xfrm>
            <a:off x="457200" y="6473952"/>
            <a:ext cx="5486400" cy="274320"/>
          </a:xfrm>
          <a:prstGeom prst="rect">
            <a:avLst/>
          </a:prstGeom>
          <a:noFill/>
          <a:ln/>
        </p:spPr>
        <p:txBody>
          <a:bodyPr wrap="square" rtlCol="0" anchor="ctr"/>
          <a:lstStyle/>
          <a:p>
            <a:pPr marL="0" indent="0" algn="l">
              <a:buNone/>
            </a:pPr>
            <a:r>
              <a:rPr lang="en-US" sz="900" dirty="0">
                <a:solidFill>
                  <a:srgbClr val="9AA6BF"/>
                </a:solidFill>
                <a:latin typeface="Calibri" pitchFamily="34" charset="0"/>
                <a:ea typeface="Calibri" pitchFamily="34" charset="-122"/>
                <a:cs typeface="Calibri" pitchFamily="34" charset="-120"/>
              </a:rPr>
              <a:t>Data Engineering Virtual Internship</a:t>
            </a:r>
            <a:endParaRPr lang="en-US" sz="900" dirty="0"/>
          </a:p>
        </p:txBody>
      </p:sp>
      <p:sp>
        <p:nvSpPr>
          <p:cNvPr id="31" name="Text 23"/>
          <p:cNvSpPr/>
          <p:nvPr/>
        </p:nvSpPr>
        <p:spPr>
          <a:xfrm>
            <a:off x="11274552" y="6473952"/>
            <a:ext cx="548640" cy="274320"/>
          </a:xfrm>
          <a:prstGeom prst="rect">
            <a:avLst/>
          </a:prstGeom>
          <a:noFill/>
          <a:ln/>
        </p:spPr>
        <p:txBody>
          <a:bodyPr wrap="square" rtlCol="0" anchor="ctr"/>
          <a:lstStyle/>
          <a:p>
            <a:pPr marL="0" indent="0" algn="r">
              <a:buNone/>
            </a:pPr>
            <a:r>
              <a:rPr lang="en-US" sz="900" dirty="0">
                <a:solidFill>
                  <a:srgbClr val="9AA6B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1554480" cy="329184"/>
          </a:xfrm>
          <a:prstGeom prst="roundRect">
            <a:avLst>
              <a:gd name="adj" fmla="val 50000"/>
            </a:avLst>
          </a:prstGeom>
          <a:solidFill>
            <a:srgbClr val="134074"/>
          </a:solidFill>
          <a:ln/>
        </p:spPr>
      </p:sp>
      <p:sp>
        <p:nvSpPr>
          <p:cNvPr id="3" name="Text 1"/>
          <p:cNvSpPr/>
          <p:nvPr/>
        </p:nvSpPr>
        <p:spPr>
          <a:xfrm>
            <a:off x="548640" y="502920"/>
            <a:ext cx="1554480" cy="329184"/>
          </a:xfrm>
          <a:prstGeom prst="rect">
            <a:avLst/>
          </a:prstGeom>
          <a:noFill/>
          <a:ln/>
        </p:spPr>
        <p:txBody>
          <a:bodyPr wrap="square"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SECTION 03</a:t>
            </a:r>
            <a:endParaRPr lang="en-US" sz="1100" dirty="0"/>
          </a:p>
        </p:txBody>
      </p:sp>
      <p:sp>
        <p:nvSpPr>
          <p:cNvPr id="4" name="Text 2"/>
          <p:cNvSpPr/>
          <p:nvPr/>
        </p:nvSpPr>
        <p:spPr>
          <a:xfrm>
            <a:off x="548640" y="914400"/>
            <a:ext cx="11064240" cy="822960"/>
          </a:xfrm>
          <a:prstGeom prst="rect">
            <a:avLst/>
          </a:prstGeom>
          <a:noFill/>
          <a:ln/>
        </p:spPr>
        <p:txBody>
          <a:bodyPr wrap="square" rtlCol="0" anchor="ctr"/>
          <a:lstStyle/>
          <a:p>
            <a:pPr marL="0" indent="0" algn="l">
              <a:buNone/>
            </a:pPr>
            <a:r>
              <a:rPr lang="en-US" sz="3000" b="1" dirty="0">
                <a:solidFill>
                  <a:srgbClr val="0B2545"/>
                </a:solidFill>
                <a:latin typeface="Calibri" pitchFamily="34" charset="0"/>
                <a:ea typeface="Calibri" pitchFamily="34" charset="-122"/>
                <a:cs typeface="Calibri" pitchFamily="34" charset="-120"/>
              </a:rPr>
              <a:t>Amazon S3 — Object Storage</a:t>
            </a:r>
            <a:endParaRPr lang="en-US" sz="3000" dirty="0"/>
          </a:p>
        </p:txBody>
      </p:sp>
      <p:sp>
        <p:nvSpPr>
          <p:cNvPr id="5" name="Text 3"/>
          <p:cNvSpPr/>
          <p:nvPr/>
        </p:nvSpPr>
        <p:spPr>
          <a:xfrm>
            <a:off x="548640" y="1600200"/>
            <a:ext cx="10515600" cy="457200"/>
          </a:xfrm>
          <a:prstGeom prst="rect">
            <a:avLst/>
          </a:prstGeom>
          <a:noFill/>
          <a:ln/>
        </p:spPr>
        <p:txBody>
          <a:bodyPr wrap="square" rtlCol="0" anchor="ctr"/>
          <a:lstStyle/>
          <a:p>
            <a:pPr marL="0" indent="0">
              <a:buNone/>
            </a:pPr>
            <a:r>
              <a:rPr lang="en-US" sz="1350" i="1" dirty="0">
                <a:solidFill>
                  <a:srgbClr val="3A3F4B"/>
                </a:solidFill>
                <a:latin typeface="Calibri" pitchFamily="34" charset="0"/>
                <a:ea typeface="Calibri" pitchFamily="34" charset="-122"/>
                <a:cs typeface="Calibri" pitchFamily="34" charset="-120"/>
              </a:rPr>
              <a:t>Scalable, durable storage for any amount of data.</a:t>
            </a:r>
            <a:endParaRPr lang="en-US" sz="1350" dirty="0"/>
          </a:p>
        </p:txBody>
      </p:sp>
      <p:sp>
        <p:nvSpPr>
          <p:cNvPr id="6" name="Shape 4"/>
          <p:cNvSpPr/>
          <p:nvPr/>
        </p:nvSpPr>
        <p:spPr>
          <a:xfrm>
            <a:off x="548640" y="2286000"/>
            <a:ext cx="2926080" cy="3566160"/>
          </a:xfrm>
          <a:prstGeom prst="roundRect">
            <a:avLst>
              <a:gd name="adj" fmla="val 3125"/>
            </a:avLst>
          </a:prstGeom>
          <a:solidFill>
            <a:srgbClr val="0B2545"/>
          </a:solidFill>
          <a:ln/>
        </p:spPr>
      </p:sp>
      <p:sp>
        <p:nvSpPr>
          <p:cNvPr id="7" name="Shape 5"/>
          <p:cNvSpPr/>
          <p:nvPr/>
        </p:nvSpPr>
        <p:spPr>
          <a:xfrm>
            <a:off x="1463040" y="2697480"/>
            <a:ext cx="1097280" cy="1097280"/>
          </a:xfrm>
          <a:prstGeom prst="ellipse">
            <a:avLst/>
          </a:prstGeom>
          <a:solidFill>
            <a:srgbClr val="12335C"/>
          </a:solidFill>
          <a:ln/>
        </p:spPr>
      </p:sp>
      <p:pic>
        <p:nvPicPr>
          <p:cNvPr id="8" name="Image 0" descr="/home/claude/ppt/icons/harddrive.png"/>
          <p:cNvPicPr>
            <a:picLocks noChangeAspect="1"/>
          </p:cNvPicPr>
          <p:nvPr/>
        </p:nvPicPr>
        <p:blipFill>
          <a:blip r:embed="rId3"/>
          <a:stretch>
            <a:fillRect/>
          </a:stretch>
        </p:blipFill>
        <p:spPr>
          <a:xfrm>
            <a:off x="1737360" y="2971800"/>
            <a:ext cx="548640" cy="548640"/>
          </a:xfrm>
          <a:prstGeom prst="rect">
            <a:avLst/>
          </a:prstGeom>
        </p:spPr>
      </p:pic>
      <p:sp>
        <p:nvSpPr>
          <p:cNvPr id="9" name="Text 6"/>
          <p:cNvSpPr/>
          <p:nvPr/>
        </p:nvSpPr>
        <p:spPr>
          <a:xfrm>
            <a:off x="548640" y="3886200"/>
            <a:ext cx="2926080" cy="594360"/>
          </a:xfrm>
          <a:prstGeom prst="rect">
            <a:avLst/>
          </a:prstGeom>
          <a:noFill/>
          <a:ln/>
        </p:spPr>
        <p:txBody>
          <a:bodyPr wrap="square" rtlCol="0" anchor="ctr"/>
          <a:lstStyle/>
          <a:p>
            <a:pPr marL="0" indent="0" algn="ctr">
              <a:buNone/>
            </a:pPr>
            <a:r>
              <a:rPr lang="en-US" sz="2600" b="1" dirty="0">
                <a:solidFill>
                  <a:srgbClr val="F5A623"/>
                </a:solidFill>
                <a:latin typeface="Calibri" pitchFamily="34" charset="0"/>
                <a:ea typeface="Calibri" pitchFamily="34" charset="-122"/>
                <a:cs typeface="Calibri" pitchFamily="34" charset="-120"/>
              </a:rPr>
              <a:t>S3</a:t>
            </a:r>
            <a:endParaRPr lang="en-US" sz="2600" dirty="0"/>
          </a:p>
        </p:txBody>
      </p:sp>
      <p:sp>
        <p:nvSpPr>
          <p:cNvPr id="10" name="Text 7"/>
          <p:cNvSpPr/>
          <p:nvPr/>
        </p:nvSpPr>
        <p:spPr>
          <a:xfrm>
            <a:off x="548640" y="4480560"/>
            <a:ext cx="2926080" cy="365760"/>
          </a:xfrm>
          <a:prstGeom prst="rect">
            <a:avLst/>
          </a:prstGeom>
          <a:noFill/>
          <a:ln/>
        </p:spPr>
        <p:txBody>
          <a:bodyPr wrap="square" rtlCol="0" anchor="ctr"/>
          <a:lstStyle/>
          <a:p>
            <a:pPr marL="0" indent="0" algn="ctr">
              <a:buNone/>
            </a:pPr>
            <a:r>
              <a:rPr lang="en-US" sz="1000" kern="0" spc="200" dirty="0">
                <a:solidFill>
                  <a:srgbClr val="9AA6BF"/>
                </a:solidFill>
                <a:latin typeface="Calibri" pitchFamily="34" charset="0"/>
                <a:ea typeface="Calibri" pitchFamily="34" charset="-122"/>
                <a:cs typeface="Calibri" pitchFamily="34" charset="-120"/>
              </a:rPr>
              <a:t>AWS SERVICE</a:t>
            </a:r>
            <a:endParaRPr lang="en-US" sz="1000" dirty="0"/>
          </a:p>
        </p:txBody>
      </p:sp>
      <p:sp>
        <p:nvSpPr>
          <p:cNvPr id="11" name="Shape 8"/>
          <p:cNvSpPr/>
          <p:nvPr/>
        </p:nvSpPr>
        <p:spPr>
          <a:xfrm>
            <a:off x="3794760" y="2377440"/>
            <a:ext cx="91440" cy="777240"/>
          </a:xfrm>
          <a:prstGeom prst="roundRect">
            <a:avLst/>
          </a:prstGeom>
          <a:solidFill>
            <a:srgbClr val="F5A623"/>
          </a:solidFill>
          <a:ln/>
        </p:spPr>
      </p:sp>
      <p:sp>
        <p:nvSpPr>
          <p:cNvPr id="12" name="Text 9"/>
          <p:cNvSpPr/>
          <p:nvPr/>
        </p:nvSpPr>
        <p:spPr>
          <a:xfrm>
            <a:off x="4023360" y="2350008"/>
            <a:ext cx="7498080" cy="384048"/>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Buckets &amp; Objects</a:t>
            </a:r>
            <a:endParaRPr lang="en-US" sz="1400" dirty="0"/>
          </a:p>
        </p:txBody>
      </p:sp>
      <p:sp>
        <p:nvSpPr>
          <p:cNvPr id="13" name="Text 10"/>
          <p:cNvSpPr/>
          <p:nvPr/>
        </p:nvSpPr>
        <p:spPr>
          <a:xfrm>
            <a:off x="4023360" y="2706624"/>
            <a:ext cx="7498080" cy="457200"/>
          </a:xfrm>
          <a:prstGeom prst="rect">
            <a:avLst/>
          </a:prstGeom>
          <a:noFill/>
          <a:ln/>
        </p:spPr>
        <p:txBody>
          <a:bodyPr wrap="square" rtlCol="0" anchor="ctr"/>
          <a:lstStyle/>
          <a:p>
            <a:pPr marL="0" indent="0">
              <a:buNone/>
            </a:pPr>
            <a:r>
              <a:rPr lang="en-US" sz="1150" dirty="0">
                <a:solidFill>
                  <a:srgbClr val="3A3F4B"/>
                </a:solidFill>
                <a:latin typeface="Calibri" pitchFamily="34" charset="0"/>
                <a:ea typeface="Calibri" pitchFamily="34" charset="-122"/>
                <a:cs typeface="Calibri" pitchFamily="34" charset="-120"/>
              </a:rPr>
              <a:t>Data is stored as objects inside logical containers called buckets</a:t>
            </a:r>
            <a:endParaRPr lang="en-US" sz="1150" dirty="0"/>
          </a:p>
        </p:txBody>
      </p:sp>
      <p:sp>
        <p:nvSpPr>
          <p:cNvPr id="14" name="Shape 11"/>
          <p:cNvSpPr/>
          <p:nvPr/>
        </p:nvSpPr>
        <p:spPr>
          <a:xfrm>
            <a:off x="3794760" y="3291840"/>
            <a:ext cx="91440" cy="777240"/>
          </a:xfrm>
          <a:prstGeom prst="roundRect">
            <a:avLst/>
          </a:prstGeom>
          <a:solidFill>
            <a:srgbClr val="F5A623"/>
          </a:solidFill>
          <a:ln/>
        </p:spPr>
      </p:sp>
      <p:sp>
        <p:nvSpPr>
          <p:cNvPr id="15" name="Text 12"/>
          <p:cNvSpPr/>
          <p:nvPr/>
        </p:nvSpPr>
        <p:spPr>
          <a:xfrm>
            <a:off x="4023360" y="3264408"/>
            <a:ext cx="7498080" cy="384048"/>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11 Nines Durability</a:t>
            </a:r>
            <a:endParaRPr lang="en-US" sz="1400" dirty="0"/>
          </a:p>
        </p:txBody>
      </p:sp>
      <p:sp>
        <p:nvSpPr>
          <p:cNvPr id="16" name="Text 13"/>
          <p:cNvSpPr/>
          <p:nvPr/>
        </p:nvSpPr>
        <p:spPr>
          <a:xfrm>
            <a:off x="4023360" y="3621024"/>
            <a:ext cx="7498080" cy="457200"/>
          </a:xfrm>
          <a:prstGeom prst="rect">
            <a:avLst/>
          </a:prstGeom>
          <a:noFill/>
          <a:ln/>
        </p:spPr>
        <p:txBody>
          <a:bodyPr wrap="square" rtlCol="0" anchor="ctr"/>
          <a:lstStyle/>
          <a:p>
            <a:pPr marL="0" indent="0">
              <a:buNone/>
            </a:pPr>
            <a:r>
              <a:rPr lang="en-US" sz="1150" dirty="0">
                <a:solidFill>
                  <a:srgbClr val="3A3F4B"/>
                </a:solidFill>
                <a:latin typeface="Calibri" pitchFamily="34" charset="0"/>
                <a:ea typeface="Calibri" pitchFamily="34" charset="-122"/>
                <a:cs typeface="Calibri" pitchFamily="34" charset="-120"/>
              </a:rPr>
              <a:t>Engineered for 99.999999999% durability of stored objects</a:t>
            </a:r>
            <a:endParaRPr lang="en-US" sz="1150" dirty="0"/>
          </a:p>
        </p:txBody>
      </p:sp>
      <p:sp>
        <p:nvSpPr>
          <p:cNvPr id="17" name="Shape 14"/>
          <p:cNvSpPr/>
          <p:nvPr/>
        </p:nvSpPr>
        <p:spPr>
          <a:xfrm>
            <a:off x="3794760" y="4206240"/>
            <a:ext cx="91440" cy="777240"/>
          </a:xfrm>
          <a:prstGeom prst="roundRect">
            <a:avLst/>
          </a:prstGeom>
          <a:solidFill>
            <a:srgbClr val="F5A623"/>
          </a:solidFill>
          <a:ln/>
        </p:spPr>
      </p:sp>
      <p:sp>
        <p:nvSpPr>
          <p:cNvPr id="18" name="Text 15"/>
          <p:cNvSpPr/>
          <p:nvPr/>
        </p:nvSpPr>
        <p:spPr>
          <a:xfrm>
            <a:off x="4023360" y="4178808"/>
            <a:ext cx="7498080" cy="384048"/>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Storage Classes</a:t>
            </a:r>
            <a:endParaRPr lang="en-US" sz="1400" dirty="0"/>
          </a:p>
        </p:txBody>
      </p:sp>
      <p:sp>
        <p:nvSpPr>
          <p:cNvPr id="19" name="Text 16"/>
          <p:cNvSpPr/>
          <p:nvPr/>
        </p:nvSpPr>
        <p:spPr>
          <a:xfrm>
            <a:off x="4023360" y="4535424"/>
            <a:ext cx="7498080" cy="457200"/>
          </a:xfrm>
          <a:prstGeom prst="rect">
            <a:avLst/>
          </a:prstGeom>
          <a:noFill/>
          <a:ln/>
        </p:spPr>
        <p:txBody>
          <a:bodyPr wrap="square" rtlCol="0" anchor="ctr"/>
          <a:lstStyle/>
          <a:p>
            <a:pPr marL="0" indent="0">
              <a:buNone/>
            </a:pPr>
            <a:r>
              <a:rPr lang="en-US" sz="1150" dirty="0">
                <a:solidFill>
                  <a:srgbClr val="3A3F4B"/>
                </a:solidFill>
                <a:latin typeface="Calibri" pitchFamily="34" charset="0"/>
                <a:ea typeface="Calibri" pitchFamily="34" charset="-122"/>
                <a:cs typeface="Calibri" pitchFamily="34" charset="-120"/>
              </a:rPr>
              <a:t>Standard, Infrequent Access &amp; Glacier tiers optimise cost</a:t>
            </a:r>
            <a:endParaRPr lang="en-US" sz="1150" dirty="0"/>
          </a:p>
        </p:txBody>
      </p:sp>
      <p:sp>
        <p:nvSpPr>
          <p:cNvPr id="20" name="Shape 17"/>
          <p:cNvSpPr/>
          <p:nvPr/>
        </p:nvSpPr>
        <p:spPr>
          <a:xfrm>
            <a:off x="3794760" y="5120640"/>
            <a:ext cx="91440" cy="777240"/>
          </a:xfrm>
          <a:prstGeom prst="roundRect">
            <a:avLst/>
          </a:prstGeom>
          <a:solidFill>
            <a:srgbClr val="F5A623"/>
          </a:solidFill>
          <a:ln/>
        </p:spPr>
      </p:sp>
      <p:sp>
        <p:nvSpPr>
          <p:cNvPr id="21" name="Text 18"/>
          <p:cNvSpPr/>
          <p:nvPr/>
        </p:nvSpPr>
        <p:spPr>
          <a:xfrm>
            <a:off x="4023360" y="5093208"/>
            <a:ext cx="7498080" cy="384048"/>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Foundation for Data Lakes</a:t>
            </a:r>
            <a:endParaRPr lang="en-US" sz="1400" dirty="0"/>
          </a:p>
        </p:txBody>
      </p:sp>
      <p:sp>
        <p:nvSpPr>
          <p:cNvPr id="22" name="Text 19"/>
          <p:cNvSpPr/>
          <p:nvPr/>
        </p:nvSpPr>
        <p:spPr>
          <a:xfrm>
            <a:off x="4023360" y="5449824"/>
            <a:ext cx="7498080" cy="457200"/>
          </a:xfrm>
          <a:prstGeom prst="rect">
            <a:avLst/>
          </a:prstGeom>
          <a:noFill/>
          <a:ln/>
        </p:spPr>
        <p:txBody>
          <a:bodyPr wrap="square" rtlCol="0" anchor="ctr"/>
          <a:lstStyle/>
          <a:p>
            <a:pPr marL="0" indent="0">
              <a:buNone/>
            </a:pPr>
            <a:r>
              <a:rPr lang="en-US" sz="1150" dirty="0">
                <a:solidFill>
                  <a:srgbClr val="3A3F4B"/>
                </a:solidFill>
                <a:latin typeface="Calibri" pitchFamily="34" charset="0"/>
                <a:ea typeface="Calibri" pitchFamily="34" charset="-122"/>
                <a:cs typeface="Calibri" pitchFamily="34" charset="-120"/>
              </a:rPr>
              <a:t>Commonly used as the raw storage layer for a data lake</a:t>
            </a:r>
            <a:endParaRPr lang="en-US" sz="1150" dirty="0"/>
          </a:p>
        </p:txBody>
      </p:sp>
      <p:sp>
        <p:nvSpPr>
          <p:cNvPr id="24" name="Text 20"/>
          <p:cNvSpPr/>
          <p:nvPr/>
        </p:nvSpPr>
        <p:spPr>
          <a:xfrm>
            <a:off x="457200" y="6473952"/>
            <a:ext cx="5486400" cy="274320"/>
          </a:xfrm>
          <a:prstGeom prst="rect">
            <a:avLst/>
          </a:prstGeom>
          <a:noFill/>
          <a:ln/>
        </p:spPr>
        <p:txBody>
          <a:bodyPr wrap="square" rtlCol="0" anchor="ctr"/>
          <a:lstStyle/>
          <a:p>
            <a:pPr marL="0" indent="0" algn="l">
              <a:buNone/>
            </a:pPr>
            <a:r>
              <a:rPr lang="en-US" sz="900" dirty="0">
                <a:solidFill>
                  <a:srgbClr val="8A93A5"/>
                </a:solidFill>
                <a:latin typeface="Calibri" pitchFamily="34" charset="0"/>
                <a:ea typeface="Calibri" pitchFamily="34" charset="-122"/>
                <a:cs typeface="Calibri" pitchFamily="34" charset="-120"/>
              </a:rPr>
              <a:t>Data Engineering Virtual Internship</a:t>
            </a:r>
            <a:endParaRPr lang="en-US" sz="900" dirty="0"/>
          </a:p>
        </p:txBody>
      </p:sp>
      <p:sp>
        <p:nvSpPr>
          <p:cNvPr id="25" name="Text 21"/>
          <p:cNvSpPr/>
          <p:nvPr/>
        </p:nvSpPr>
        <p:spPr>
          <a:xfrm>
            <a:off x="11274552" y="6473952"/>
            <a:ext cx="548640" cy="274320"/>
          </a:xfrm>
          <a:prstGeom prst="rect">
            <a:avLst/>
          </a:prstGeom>
          <a:noFill/>
          <a:ln/>
        </p:spPr>
        <p:txBody>
          <a:bodyPr wrap="square" rtlCol="0" anchor="ctr"/>
          <a:lstStyle/>
          <a:p>
            <a:pPr marL="0" indent="0" algn="r">
              <a:buNone/>
            </a:pPr>
            <a:r>
              <a:rPr lang="en-US" sz="900" dirty="0">
                <a:solidFill>
                  <a:srgbClr val="8A93A5"/>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548640" y="502920"/>
            <a:ext cx="1554480" cy="329184"/>
          </a:xfrm>
          <a:prstGeom prst="roundRect">
            <a:avLst>
              <a:gd name="adj" fmla="val 50000"/>
            </a:avLst>
          </a:prstGeom>
          <a:solidFill>
            <a:srgbClr val="134074"/>
          </a:solidFill>
          <a:ln/>
        </p:spPr>
      </p:sp>
      <p:sp>
        <p:nvSpPr>
          <p:cNvPr id="3" name="Text 1"/>
          <p:cNvSpPr/>
          <p:nvPr/>
        </p:nvSpPr>
        <p:spPr>
          <a:xfrm>
            <a:off x="548640" y="502920"/>
            <a:ext cx="1554480" cy="329184"/>
          </a:xfrm>
          <a:prstGeom prst="rect">
            <a:avLst/>
          </a:prstGeom>
          <a:noFill/>
          <a:ln/>
        </p:spPr>
        <p:txBody>
          <a:bodyPr wrap="square"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SECTION 03</a:t>
            </a:r>
            <a:endParaRPr lang="en-US" sz="1100" dirty="0"/>
          </a:p>
        </p:txBody>
      </p:sp>
      <p:sp>
        <p:nvSpPr>
          <p:cNvPr id="4" name="Text 2"/>
          <p:cNvSpPr/>
          <p:nvPr/>
        </p:nvSpPr>
        <p:spPr>
          <a:xfrm>
            <a:off x="548640" y="914400"/>
            <a:ext cx="11064240" cy="822960"/>
          </a:xfrm>
          <a:prstGeom prst="rect">
            <a:avLst/>
          </a:prstGeom>
          <a:noFill/>
          <a:ln/>
        </p:spPr>
        <p:txBody>
          <a:bodyPr wrap="square" rtlCol="0" anchor="ctr"/>
          <a:lstStyle/>
          <a:p>
            <a:pPr marL="0" indent="0" algn="l">
              <a:buNone/>
            </a:pPr>
            <a:r>
              <a:rPr lang="en-US" sz="3000" b="1" dirty="0">
                <a:solidFill>
                  <a:srgbClr val="0B2545"/>
                </a:solidFill>
                <a:latin typeface="Calibri" pitchFamily="34" charset="0"/>
                <a:ea typeface="Calibri" pitchFamily="34" charset="-122"/>
                <a:cs typeface="Calibri" pitchFamily="34" charset="-120"/>
              </a:rPr>
              <a:t>Databases: Relational vs NoSQL</a:t>
            </a:r>
            <a:endParaRPr lang="en-US" sz="3000" dirty="0"/>
          </a:p>
        </p:txBody>
      </p:sp>
      <p:sp>
        <p:nvSpPr>
          <p:cNvPr id="5" name="Shape 3"/>
          <p:cNvSpPr/>
          <p:nvPr/>
        </p:nvSpPr>
        <p:spPr>
          <a:xfrm>
            <a:off x="548640" y="1920240"/>
            <a:ext cx="5394960" cy="4114800"/>
          </a:xfrm>
          <a:prstGeom prst="roundRect">
            <a:avLst>
              <a:gd name="adj" fmla="val 2222"/>
            </a:avLst>
          </a:prstGeom>
          <a:solidFill>
            <a:srgbClr val="FFFFFF"/>
          </a:solidFill>
          <a:ln/>
          <a:effectLst>
            <a:outerShdw blurRad="127000" dist="38100" dir="5400000" algn="bl" rotWithShape="0">
              <a:srgbClr val="1B2A4A">
                <a:alpha val="12000"/>
              </a:srgbClr>
            </a:outerShdw>
          </a:effectLst>
        </p:spPr>
      </p:sp>
      <p:sp>
        <p:nvSpPr>
          <p:cNvPr id="6" name="Shape 4"/>
          <p:cNvSpPr/>
          <p:nvPr/>
        </p:nvSpPr>
        <p:spPr>
          <a:xfrm>
            <a:off x="548640" y="1920240"/>
            <a:ext cx="5394960" cy="1051560"/>
          </a:xfrm>
          <a:prstGeom prst="roundRect">
            <a:avLst>
              <a:gd name="adj" fmla="val 8696"/>
            </a:avLst>
          </a:prstGeom>
          <a:solidFill>
            <a:srgbClr val="1B6CA8"/>
          </a:solidFill>
          <a:ln/>
        </p:spPr>
      </p:sp>
      <p:sp>
        <p:nvSpPr>
          <p:cNvPr id="7" name="Shape 5"/>
          <p:cNvSpPr/>
          <p:nvPr/>
        </p:nvSpPr>
        <p:spPr>
          <a:xfrm>
            <a:off x="548640" y="2468880"/>
            <a:ext cx="5394960" cy="502920"/>
          </a:xfrm>
          <a:prstGeom prst="rect">
            <a:avLst/>
          </a:prstGeom>
          <a:solidFill>
            <a:srgbClr val="1B6CA8"/>
          </a:solidFill>
          <a:ln/>
        </p:spPr>
      </p:sp>
      <p:sp>
        <p:nvSpPr>
          <p:cNvPr id="8" name="Shape 6"/>
          <p:cNvSpPr/>
          <p:nvPr/>
        </p:nvSpPr>
        <p:spPr>
          <a:xfrm>
            <a:off x="4892040" y="2148840"/>
            <a:ext cx="621792" cy="621792"/>
          </a:xfrm>
          <a:prstGeom prst="roundRect">
            <a:avLst>
              <a:gd name="adj" fmla="val 19118"/>
            </a:avLst>
          </a:prstGeom>
          <a:solidFill>
            <a:srgbClr val="12539A"/>
          </a:solidFill>
          <a:ln/>
        </p:spPr>
      </p:sp>
      <p:pic>
        <p:nvPicPr>
          <p:cNvPr id="9" name="Image 0" descr="/home/claude/ppt/icons/database.png"/>
          <p:cNvPicPr>
            <a:picLocks noChangeAspect="1"/>
          </p:cNvPicPr>
          <p:nvPr/>
        </p:nvPicPr>
        <p:blipFill>
          <a:blip r:embed="rId3"/>
          <a:stretch>
            <a:fillRect/>
          </a:stretch>
        </p:blipFill>
        <p:spPr>
          <a:xfrm>
            <a:off x="5031943" y="2288743"/>
            <a:ext cx="341986" cy="341986"/>
          </a:xfrm>
          <a:prstGeom prst="rect">
            <a:avLst/>
          </a:prstGeom>
        </p:spPr>
      </p:pic>
      <p:sp>
        <p:nvSpPr>
          <p:cNvPr id="10" name="Text 7"/>
          <p:cNvSpPr/>
          <p:nvPr/>
        </p:nvSpPr>
        <p:spPr>
          <a:xfrm>
            <a:off x="822960" y="2057400"/>
            <a:ext cx="3840480" cy="457200"/>
          </a:xfrm>
          <a:prstGeom prst="rect">
            <a:avLst/>
          </a:prstGeom>
          <a:noFill/>
          <a:ln/>
        </p:spPr>
        <p:txBody>
          <a:bodyPr wrap="square"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Amazon RDS</a:t>
            </a:r>
            <a:endParaRPr lang="en-US" sz="1700" dirty="0"/>
          </a:p>
        </p:txBody>
      </p:sp>
      <p:sp>
        <p:nvSpPr>
          <p:cNvPr id="11" name="Text 8"/>
          <p:cNvSpPr/>
          <p:nvPr/>
        </p:nvSpPr>
        <p:spPr>
          <a:xfrm>
            <a:off x="822960" y="2514600"/>
            <a:ext cx="3840480" cy="365760"/>
          </a:xfrm>
          <a:prstGeom prst="rect">
            <a:avLst/>
          </a:prstGeom>
          <a:noFill/>
          <a:ln/>
        </p:spPr>
        <p:txBody>
          <a:bodyPr wrap="square" rtlCol="0" anchor="ctr"/>
          <a:lstStyle/>
          <a:p>
            <a:pPr marL="0" indent="0">
              <a:buNone/>
            </a:pPr>
            <a:r>
              <a:rPr lang="en-US" sz="1150" dirty="0">
                <a:solidFill>
                  <a:srgbClr val="F0F0F0"/>
                </a:solidFill>
                <a:latin typeface="Calibri" pitchFamily="34" charset="0"/>
                <a:ea typeface="Calibri" pitchFamily="34" charset="-122"/>
                <a:cs typeface="Calibri" pitchFamily="34" charset="-120"/>
              </a:rPr>
              <a:t>Relational (SQL)</a:t>
            </a:r>
            <a:endParaRPr lang="en-US" sz="1150" dirty="0"/>
          </a:p>
        </p:txBody>
      </p:sp>
      <p:sp>
        <p:nvSpPr>
          <p:cNvPr id="12" name="Text 9"/>
          <p:cNvSpPr/>
          <p:nvPr/>
        </p:nvSpPr>
        <p:spPr>
          <a:xfrm>
            <a:off x="822960" y="3154680"/>
            <a:ext cx="274320" cy="457200"/>
          </a:xfrm>
          <a:prstGeom prst="rect">
            <a:avLst/>
          </a:prstGeom>
          <a:noFill/>
          <a:ln/>
        </p:spPr>
        <p:txBody>
          <a:bodyPr wrap="square" rtlCol="0" anchor="ctr"/>
          <a:lstStyle/>
          <a:p>
            <a:pPr marL="0" indent="0">
              <a:buNone/>
            </a:pPr>
            <a:r>
              <a:rPr lang="en-US" sz="1300" b="1" dirty="0">
                <a:solidFill>
                  <a:srgbClr val="1B6CA8"/>
                </a:solidFill>
                <a:latin typeface="Calibri" pitchFamily="34" charset="0"/>
                <a:ea typeface="Calibri" pitchFamily="34" charset="-122"/>
                <a:cs typeface="Calibri" pitchFamily="34" charset="-120"/>
              </a:rPr>
              <a:t>—</a:t>
            </a:r>
            <a:endParaRPr lang="en-US" sz="1300" dirty="0"/>
          </a:p>
        </p:txBody>
      </p:sp>
      <p:sp>
        <p:nvSpPr>
          <p:cNvPr id="13" name="Text 10"/>
          <p:cNvSpPr/>
          <p:nvPr/>
        </p:nvSpPr>
        <p:spPr>
          <a:xfrm>
            <a:off x="1143000" y="3154680"/>
            <a:ext cx="4572000" cy="457200"/>
          </a:xfrm>
          <a:prstGeom prst="rect">
            <a:avLst/>
          </a:prstGeom>
          <a:noFill/>
          <a:ln/>
        </p:spPr>
        <p:txBody>
          <a:bodyPr wrap="square" rtlCol="0" anchor="ctr"/>
          <a:lstStyle/>
          <a:p>
            <a:pPr marL="0" indent="0">
              <a:buNone/>
            </a:pPr>
            <a:r>
              <a:rPr lang="en-US" sz="1250" dirty="0">
                <a:solidFill>
                  <a:srgbClr val="3A3F4B"/>
                </a:solidFill>
                <a:latin typeface="Calibri" pitchFamily="34" charset="0"/>
                <a:ea typeface="Calibri" pitchFamily="34" charset="-122"/>
                <a:cs typeface="Calibri" pitchFamily="34" charset="-120"/>
              </a:rPr>
              <a:t>Structured tables with fixed schema</a:t>
            </a:r>
            <a:endParaRPr lang="en-US" sz="1250" dirty="0"/>
          </a:p>
        </p:txBody>
      </p:sp>
      <p:sp>
        <p:nvSpPr>
          <p:cNvPr id="14" name="Text 11"/>
          <p:cNvSpPr/>
          <p:nvPr/>
        </p:nvSpPr>
        <p:spPr>
          <a:xfrm>
            <a:off x="822960" y="3813048"/>
            <a:ext cx="274320" cy="457200"/>
          </a:xfrm>
          <a:prstGeom prst="rect">
            <a:avLst/>
          </a:prstGeom>
          <a:noFill/>
          <a:ln/>
        </p:spPr>
        <p:txBody>
          <a:bodyPr wrap="square" rtlCol="0" anchor="ctr"/>
          <a:lstStyle/>
          <a:p>
            <a:pPr marL="0" indent="0">
              <a:buNone/>
            </a:pPr>
            <a:r>
              <a:rPr lang="en-US" sz="1300" b="1" dirty="0">
                <a:solidFill>
                  <a:srgbClr val="1B6CA8"/>
                </a:solidFill>
                <a:latin typeface="Calibri" pitchFamily="34" charset="0"/>
                <a:ea typeface="Calibri" pitchFamily="34" charset="-122"/>
                <a:cs typeface="Calibri" pitchFamily="34" charset="-120"/>
              </a:rPr>
              <a:t>—</a:t>
            </a:r>
            <a:endParaRPr lang="en-US" sz="1300" dirty="0"/>
          </a:p>
        </p:txBody>
      </p:sp>
      <p:sp>
        <p:nvSpPr>
          <p:cNvPr id="15" name="Text 12"/>
          <p:cNvSpPr/>
          <p:nvPr/>
        </p:nvSpPr>
        <p:spPr>
          <a:xfrm>
            <a:off x="1143000" y="3813048"/>
            <a:ext cx="4572000" cy="457200"/>
          </a:xfrm>
          <a:prstGeom prst="rect">
            <a:avLst/>
          </a:prstGeom>
          <a:noFill/>
          <a:ln/>
        </p:spPr>
        <p:txBody>
          <a:bodyPr wrap="square" rtlCol="0" anchor="ctr"/>
          <a:lstStyle/>
          <a:p>
            <a:pPr marL="0" indent="0">
              <a:buNone/>
            </a:pPr>
            <a:r>
              <a:rPr lang="en-US" sz="1250" dirty="0">
                <a:solidFill>
                  <a:srgbClr val="3A3F4B"/>
                </a:solidFill>
                <a:latin typeface="Calibri" pitchFamily="34" charset="0"/>
                <a:ea typeface="Calibri" pitchFamily="34" charset="-122"/>
                <a:cs typeface="Calibri" pitchFamily="34" charset="-120"/>
              </a:rPr>
              <a:t>Best for transactions &amp; relationships</a:t>
            </a:r>
            <a:endParaRPr lang="en-US" sz="1250" dirty="0"/>
          </a:p>
        </p:txBody>
      </p:sp>
      <p:sp>
        <p:nvSpPr>
          <p:cNvPr id="16" name="Text 13"/>
          <p:cNvSpPr/>
          <p:nvPr/>
        </p:nvSpPr>
        <p:spPr>
          <a:xfrm>
            <a:off x="822960" y="4471416"/>
            <a:ext cx="274320" cy="457200"/>
          </a:xfrm>
          <a:prstGeom prst="rect">
            <a:avLst/>
          </a:prstGeom>
          <a:noFill/>
          <a:ln/>
        </p:spPr>
        <p:txBody>
          <a:bodyPr wrap="square" rtlCol="0" anchor="ctr"/>
          <a:lstStyle/>
          <a:p>
            <a:pPr marL="0" indent="0">
              <a:buNone/>
            </a:pPr>
            <a:r>
              <a:rPr lang="en-US" sz="1300" b="1" dirty="0">
                <a:solidFill>
                  <a:srgbClr val="1B6CA8"/>
                </a:solidFill>
                <a:latin typeface="Calibri" pitchFamily="34" charset="0"/>
                <a:ea typeface="Calibri" pitchFamily="34" charset="-122"/>
                <a:cs typeface="Calibri" pitchFamily="34" charset="-120"/>
              </a:rPr>
              <a:t>—</a:t>
            </a:r>
            <a:endParaRPr lang="en-US" sz="1300" dirty="0"/>
          </a:p>
        </p:txBody>
      </p:sp>
      <p:sp>
        <p:nvSpPr>
          <p:cNvPr id="17" name="Text 14"/>
          <p:cNvSpPr/>
          <p:nvPr/>
        </p:nvSpPr>
        <p:spPr>
          <a:xfrm>
            <a:off x="1143000" y="4471416"/>
            <a:ext cx="4572000" cy="457200"/>
          </a:xfrm>
          <a:prstGeom prst="rect">
            <a:avLst/>
          </a:prstGeom>
          <a:noFill/>
          <a:ln/>
        </p:spPr>
        <p:txBody>
          <a:bodyPr wrap="square" rtlCol="0" anchor="ctr"/>
          <a:lstStyle/>
          <a:p>
            <a:pPr marL="0" indent="0">
              <a:buNone/>
            </a:pPr>
            <a:r>
              <a:rPr lang="en-US" sz="1250" dirty="0">
                <a:solidFill>
                  <a:srgbClr val="3A3F4B"/>
                </a:solidFill>
                <a:latin typeface="Calibri" pitchFamily="34" charset="0"/>
                <a:ea typeface="Calibri" pitchFamily="34" charset="-122"/>
                <a:cs typeface="Calibri" pitchFamily="34" charset="-120"/>
              </a:rPr>
              <a:t>Engines: MySQL, PostgreSQL, Aurora</a:t>
            </a:r>
            <a:endParaRPr lang="en-US" sz="1250" dirty="0"/>
          </a:p>
        </p:txBody>
      </p:sp>
      <p:sp>
        <p:nvSpPr>
          <p:cNvPr id="18" name="Shape 15"/>
          <p:cNvSpPr/>
          <p:nvPr/>
        </p:nvSpPr>
        <p:spPr>
          <a:xfrm>
            <a:off x="6172200" y="1920240"/>
            <a:ext cx="5394960" cy="4114800"/>
          </a:xfrm>
          <a:prstGeom prst="roundRect">
            <a:avLst>
              <a:gd name="adj" fmla="val 2222"/>
            </a:avLst>
          </a:prstGeom>
          <a:solidFill>
            <a:srgbClr val="FFFFFF"/>
          </a:solidFill>
          <a:ln/>
          <a:effectLst>
            <a:outerShdw blurRad="127000" dist="38100" dir="5400000" algn="bl" rotWithShape="0">
              <a:srgbClr val="1B2A4A">
                <a:alpha val="12000"/>
              </a:srgbClr>
            </a:outerShdw>
          </a:effectLst>
        </p:spPr>
      </p:sp>
      <p:sp>
        <p:nvSpPr>
          <p:cNvPr id="19" name="Shape 16"/>
          <p:cNvSpPr/>
          <p:nvPr/>
        </p:nvSpPr>
        <p:spPr>
          <a:xfrm>
            <a:off x="6172200" y="1920240"/>
            <a:ext cx="5394960" cy="1051560"/>
          </a:xfrm>
          <a:prstGeom prst="roundRect">
            <a:avLst>
              <a:gd name="adj" fmla="val 8696"/>
            </a:avLst>
          </a:prstGeom>
          <a:solidFill>
            <a:srgbClr val="D98418"/>
          </a:solidFill>
          <a:ln/>
        </p:spPr>
      </p:sp>
      <p:sp>
        <p:nvSpPr>
          <p:cNvPr id="20" name="Shape 17"/>
          <p:cNvSpPr/>
          <p:nvPr/>
        </p:nvSpPr>
        <p:spPr>
          <a:xfrm>
            <a:off x="6172200" y="2468880"/>
            <a:ext cx="5394960" cy="502920"/>
          </a:xfrm>
          <a:prstGeom prst="rect">
            <a:avLst/>
          </a:prstGeom>
          <a:solidFill>
            <a:srgbClr val="D98418"/>
          </a:solidFill>
          <a:ln/>
        </p:spPr>
      </p:sp>
      <p:sp>
        <p:nvSpPr>
          <p:cNvPr id="21" name="Shape 18"/>
          <p:cNvSpPr/>
          <p:nvPr/>
        </p:nvSpPr>
        <p:spPr>
          <a:xfrm>
            <a:off x="10515600" y="2148840"/>
            <a:ext cx="621792" cy="621792"/>
          </a:xfrm>
          <a:prstGeom prst="roundRect">
            <a:avLst>
              <a:gd name="adj" fmla="val 19118"/>
            </a:avLst>
          </a:prstGeom>
          <a:solidFill>
            <a:srgbClr val="B36F14"/>
          </a:solidFill>
          <a:ln/>
        </p:spPr>
      </p:sp>
      <p:pic>
        <p:nvPicPr>
          <p:cNvPr id="22" name="Image 1" descr="/home/claude/ppt/icons/stack.png"/>
          <p:cNvPicPr>
            <a:picLocks noChangeAspect="1"/>
          </p:cNvPicPr>
          <p:nvPr/>
        </p:nvPicPr>
        <p:blipFill>
          <a:blip r:embed="rId4"/>
          <a:stretch>
            <a:fillRect/>
          </a:stretch>
        </p:blipFill>
        <p:spPr>
          <a:xfrm>
            <a:off x="10655503" y="2288743"/>
            <a:ext cx="341986" cy="341986"/>
          </a:xfrm>
          <a:prstGeom prst="rect">
            <a:avLst/>
          </a:prstGeom>
        </p:spPr>
      </p:pic>
      <p:sp>
        <p:nvSpPr>
          <p:cNvPr id="23" name="Text 19"/>
          <p:cNvSpPr/>
          <p:nvPr/>
        </p:nvSpPr>
        <p:spPr>
          <a:xfrm>
            <a:off x="6446520" y="2057400"/>
            <a:ext cx="3840480" cy="457200"/>
          </a:xfrm>
          <a:prstGeom prst="rect">
            <a:avLst/>
          </a:prstGeom>
          <a:noFill/>
          <a:ln/>
        </p:spPr>
        <p:txBody>
          <a:bodyPr wrap="square"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Amazon DynamoDB</a:t>
            </a:r>
            <a:endParaRPr lang="en-US" sz="1700" dirty="0"/>
          </a:p>
        </p:txBody>
      </p:sp>
      <p:sp>
        <p:nvSpPr>
          <p:cNvPr id="24" name="Text 20"/>
          <p:cNvSpPr/>
          <p:nvPr/>
        </p:nvSpPr>
        <p:spPr>
          <a:xfrm>
            <a:off x="6446520" y="2514600"/>
            <a:ext cx="3840480" cy="365760"/>
          </a:xfrm>
          <a:prstGeom prst="rect">
            <a:avLst/>
          </a:prstGeom>
          <a:noFill/>
          <a:ln/>
        </p:spPr>
        <p:txBody>
          <a:bodyPr wrap="square" rtlCol="0" anchor="ctr"/>
          <a:lstStyle/>
          <a:p>
            <a:pPr marL="0" indent="0">
              <a:buNone/>
            </a:pPr>
            <a:r>
              <a:rPr lang="en-US" sz="1150" dirty="0">
                <a:solidFill>
                  <a:srgbClr val="F0F0F0"/>
                </a:solidFill>
                <a:latin typeface="Calibri" pitchFamily="34" charset="0"/>
                <a:ea typeface="Calibri" pitchFamily="34" charset="-122"/>
                <a:cs typeface="Calibri" pitchFamily="34" charset="-120"/>
              </a:rPr>
              <a:t>NoSQL (Key-Value)</a:t>
            </a:r>
            <a:endParaRPr lang="en-US" sz="1150" dirty="0"/>
          </a:p>
        </p:txBody>
      </p:sp>
      <p:sp>
        <p:nvSpPr>
          <p:cNvPr id="25" name="Text 21"/>
          <p:cNvSpPr/>
          <p:nvPr/>
        </p:nvSpPr>
        <p:spPr>
          <a:xfrm>
            <a:off x="6446520" y="3154680"/>
            <a:ext cx="274320" cy="457200"/>
          </a:xfrm>
          <a:prstGeom prst="rect">
            <a:avLst/>
          </a:prstGeom>
          <a:noFill/>
          <a:ln/>
        </p:spPr>
        <p:txBody>
          <a:bodyPr wrap="square" rtlCol="0" anchor="ctr"/>
          <a:lstStyle/>
          <a:p>
            <a:pPr marL="0" indent="0">
              <a:buNone/>
            </a:pPr>
            <a:r>
              <a:rPr lang="en-US" sz="1300" b="1" dirty="0">
                <a:solidFill>
                  <a:srgbClr val="D98418"/>
                </a:solidFill>
                <a:latin typeface="Calibri" pitchFamily="34" charset="0"/>
                <a:ea typeface="Calibri" pitchFamily="34" charset="-122"/>
                <a:cs typeface="Calibri" pitchFamily="34" charset="-120"/>
              </a:rPr>
              <a:t>—</a:t>
            </a:r>
            <a:endParaRPr lang="en-US" sz="1300" dirty="0"/>
          </a:p>
        </p:txBody>
      </p:sp>
      <p:sp>
        <p:nvSpPr>
          <p:cNvPr id="26" name="Text 22"/>
          <p:cNvSpPr/>
          <p:nvPr/>
        </p:nvSpPr>
        <p:spPr>
          <a:xfrm>
            <a:off x="6766560" y="3154680"/>
            <a:ext cx="4572000" cy="457200"/>
          </a:xfrm>
          <a:prstGeom prst="rect">
            <a:avLst/>
          </a:prstGeom>
          <a:noFill/>
          <a:ln/>
        </p:spPr>
        <p:txBody>
          <a:bodyPr wrap="square" rtlCol="0" anchor="ctr"/>
          <a:lstStyle/>
          <a:p>
            <a:pPr marL="0" indent="0">
              <a:buNone/>
            </a:pPr>
            <a:r>
              <a:rPr lang="en-US" sz="1250" dirty="0">
                <a:solidFill>
                  <a:srgbClr val="3A3F4B"/>
                </a:solidFill>
                <a:latin typeface="Calibri" pitchFamily="34" charset="0"/>
                <a:ea typeface="Calibri" pitchFamily="34" charset="-122"/>
                <a:cs typeface="Calibri" pitchFamily="34" charset="-120"/>
              </a:rPr>
              <a:t>Flexible, schema-less documents</a:t>
            </a:r>
            <a:endParaRPr lang="en-US" sz="1250" dirty="0"/>
          </a:p>
        </p:txBody>
      </p:sp>
      <p:sp>
        <p:nvSpPr>
          <p:cNvPr id="27" name="Text 23"/>
          <p:cNvSpPr/>
          <p:nvPr/>
        </p:nvSpPr>
        <p:spPr>
          <a:xfrm>
            <a:off x="6446520" y="3813048"/>
            <a:ext cx="274320" cy="457200"/>
          </a:xfrm>
          <a:prstGeom prst="rect">
            <a:avLst/>
          </a:prstGeom>
          <a:noFill/>
          <a:ln/>
        </p:spPr>
        <p:txBody>
          <a:bodyPr wrap="square" rtlCol="0" anchor="ctr"/>
          <a:lstStyle/>
          <a:p>
            <a:pPr marL="0" indent="0">
              <a:buNone/>
            </a:pPr>
            <a:r>
              <a:rPr lang="en-US" sz="1300" b="1" dirty="0">
                <a:solidFill>
                  <a:srgbClr val="D98418"/>
                </a:solidFill>
                <a:latin typeface="Calibri" pitchFamily="34" charset="0"/>
                <a:ea typeface="Calibri" pitchFamily="34" charset="-122"/>
                <a:cs typeface="Calibri" pitchFamily="34" charset="-120"/>
              </a:rPr>
              <a:t>—</a:t>
            </a:r>
            <a:endParaRPr lang="en-US" sz="1300" dirty="0"/>
          </a:p>
        </p:txBody>
      </p:sp>
      <p:sp>
        <p:nvSpPr>
          <p:cNvPr id="28" name="Text 24"/>
          <p:cNvSpPr/>
          <p:nvPr/>
        </p:nvSpPr>
        <p:spPr>
          <a:xfrm>
            <a:off x="6766560" y="3813048"/>
            <a:ext cx="4572000" cy="457200"/>
          </a:xfrm>
          <a:prstGeom prst="rect">
            <a:avLst/>
          </a:prstGeom>
          <a:noFill/>
          <a:ln/>
        </p:spPr>
        <p:txBody>
          <a:bodyPr wrap="square" rtlCol="0" anchor="ctr"/>
          <a:lstStyle/>
          <a:p>
            <a:pPr marL="0" indent="0">
              <a:buNone/>
            </a:pPr>
            <a:r>
              <a:rPr lang="en-US" sz="1250" dirty="0">
                <a:solidFill>
                  <a:srgbClr val="3A3F4B"/>
                </a:solidFill>
                <a:latin typeface="Calibri" pitchFamily="34" charset="0"/>
                <a:ea typeface="Calibri" pitchFamily="34" charset="-122"/>
                <a:cs typeface="Calibri" pitchFamily="34" charset="-120"/>
              </a:rPr>
              <a:t>Best for high-speed, large-scale apps</a:t>
            </a:r>
            <a:endParaRPr lang="en-US" sz="1250" dirty="0"/>
          </a:p>
        </p:txBody>
      </p:sp>
      <p:sp>
        <p:nvSpPr>
          <p:cNvPr id="29" name="Text 25"/>
          <p:cNvSpPr/>
          <p:nvPr/>
        </p:nvSpPr>
        <p:spPr>
          <a:xfrm>
            <a:off x="6446520" y="4471416"/>
            <a:ext cx="274320" cy="457200"/>
          </a:xfrm>
          <a:prstGeom prst="rect">
            <a:avLst/>
          </a:prstGeom>
          <a:noFill/>
          <a:ln/>
        </p:spPr>
        <p:txBody>
          <a:bodyPr wrap="square" rtlCol="0" anchor="ctr"/>
          <a:lstStyle/>
          <a:p>
            <a:pPr marL="0" indent="0">
              <a:buNone/>
            </a:pPr>
            <a:r>
              <a:rPr lang="en-US" sz="1300" b="1" dirty="0">
                <a:solidFill>
                  <a:srgbClr val="D98418"/>
                </a:solidFill>
                <a:latin typeface="Calibri" pitchFamily="34" charset="0"/>
                <a:ea typeface="Calibri" pitchFamily="34" charset="-122"/>
                <a:cs typeface="Calibri" pitchFamily="34" charset="-120"/>
              </a:rPr>
              <a:t>—</a:t>
            </a:r>
            <a:endParaRPr lang="en-US" sz="1300" dirty="0"/>
          </a:p>
        </p:txBody>
      </p:sp>
      <p:sp>
        <p:nvSpPr>
          <p:cNvPr id="30" name="Text 26"/>
          <p:cNvSpPr/>
          <p:nvPr/>
        </p:nvSpPr>
        <p:spPr>
          <a:xfrm>
            <a:off x="6766560" y="4471416"/>
            <a:ext cx="4572000" cy="457200"/>
          </a:xfrm>
          <a:prstGeom prst="rect">
            <a:avLst/>
          </a:prstGeom>
          <a:noFill/>
          <a:ln/>
        </p:spPr>
        <p:txBody>
          <a:bodyPr wrap="square" rtlCol="0" anchor="ctr"/>
          <a:lstStyle/>
          <a:p>
            <a:pPr marL="0" indent="0">
              <a:buNone/>
            </a:pPr>
            <a:r>
              <a:rPr lang="en-US" sz="1250" dirty="0">
                <a:solidFill>
                  <a:srgbClr val="3A3F4B"/>
                </a:solidFill>
                <a:latin typeface="Calibri" pitchFamily="34" charset="0"/>
                <a:ea typeface="Calibri" pitchFamily="34" charset="-122"/>
                <a:cs typeface="Calibri" pitchFamily="34" charset="-120"/>
              </a:rPr>
              <a:t>Single-digit millisecond latency</a:t>
            </a:r>
            <a:endParaRPr lang="en-US" sz="1250" dirty="0"/>
          </a:p>
        </p:txBody>
      </p:sp>
      <p:sp>
        <p:nvSpPr>
          <p:cNvPr id="32" name="Text 27"/>
          <p:cNvSpPr/>
          <p:nvPr/>
        </p:nvSpPr>
        <p:spPr>
          <a:xfrm>
            <a:off x="457200" y="6473952"/>
            <a:ext cx="5486400" cy="274320"/>
          </a:xfrm>
          <a:prstGeom prst="rect">
            <a:avLst/>
          </a:prstGeom>
          <a:noFill/>
          <a:ln/>
        </p:spPr>
        <p:txBody>
          <a:bodyPr wrap="square" rtlCol="0" anchor="ctr"/>
          <a:lstStyle/>
          <a:p>
            <a:pPr marL="0" indent="0" algn="l">
              <a:buNone/>
            </a:pPr>
            <a:r>
              <a:rPr lang="en-US" sz="900" dirty="0">
                <a:solidFill>
                  <a:srgbClr val="8A93A5"/>
                </a:solidFill>
                <a:latin typeface="Calibri" pitchFamily="34" charset="0"/>
                <a:ea typeface="Calibri" pitchFamily="34" charset="-122"/>
                <a:cs typeface="Calibri" pitchFamily="34" charset="-120"/>
              </a:rPr>
              <a:t>Data Engineering Virtual Internship</a:t>
            </a:r>
            <a:endParaRPr lang="en-US" sz="900" dirty="0"/>
          </a:p>
        </p:txBody>
      </p:sp>
      <p:sp>
        <p:nvSpPr>
          <p:cNvPr id="33" name="Text 28"/>
          <p:cNvSpPr/>
          <p:nvPr/>
        </p:nvSpPr>
        <p:spPr>
          <a:xfrm>
            <a:off x="11274552" y="6473952"/>
            <a:ext cx="548640" cy="274320"/>
          </a:xfrm>
          <a:prstGeom prst="rect">
            <a:avLst/>
          </a:prstGeom>
          <a:noFill/>
          <a:ln/>
        </p:spPr>
        <p:txBody>
          <a:bodyPr wrap="square" rtlCol="0" anchor="ctr"/>
          <a:lstStyle/>
          <a:p>
            <a:pPr marL="0" indent="0" algn="r">
              <a:buNone/>
            </a:pPr>
            <a:r>
              <a:rPr lang="en-US" sz="900" dirty="0">
                <a:solidFill>
                  <a:srgbClr val="8A93A5"/>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1554480" cy="329184"/>
          </a:xfrm>
          <a:prstGeom prst="roundRect">
            <a:avLst>
              <a:gd name="adj" fmla="val 50000"/>
            </a:avLst>
          </a:prstGeom>
          <a:solidFill>
            <a:srgbClr val="134074"/>
          </a:solidFill>
          <a:ln/>
        </p:spPr>
      </p:sp>
      <p:sp>
        <p:nvSpPr>
          <p:cNvPr id="3" name="Text 1"/>
          <p:cNvSpPr/>
          <p:nvPr/>
        </p:nvSpPr>
        <p:spPr>
          <a:xfrm>
            <a:off x="548640" y="502920"/>
            <a:ext cx="1554480" cy="329184"/>
          </a:xfrm>
          <a:prstGeom prst="rect">
            <a:avLst/>
          </a:prstGeom>
          <a:noFill/>
          <a:ln/>
        </p:spPr>
        <p:txBody>
          <a:bodyPr wrap="square"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SECTION 03</a:t>
            </a:r>
            <a:endParaRPr lang="en-US" sz="1100" dirty="0"/>
          </a:p>
        </p:txBody>
      </p:sp>
      <p:sp>
        <p:nvSpPr>
          <p:cNvPr id="4" name="Text 2"/>
          <p:cNvSpPr/>
          <p:nvPr/>
        </p:nvSpPr>
        <p:spPr>
          <a:xfrm>
            <a:off x="548640" y="914400"/>
            <a:ext cx="11064240" cy="822960"/>
          </a:xfrm>
          <a:prstGeom prst="rect">
            <a:avLst/>
          </a:prstGeom>
          <a:noFill/>
          <a:ln/>
        </p:spPr>
        <p:txBody>
          <a:bodyPr wrap="square" rtlCol="0" anchor="ctr"/>
          <a:lstStyle/>
          <a:p>
            <a:pPr marL="0" indent="0" algn="l">
              <a:buNone/>
            </a:pPr>
            <a:r>
              <a:rPr lang="en-US" sz="3000" b="1" dirty="0">
                <a:solidFill>
                  <a:srgbClr val="0B2545"/>
                </a:solidFill>
                <a:latin typeface="Calibri" pitchFamily="34" charset="0"/>
                <a:ea typeface="Calibri" pitchFamily="34" charset="-122"/>
                <a:cs typeface="Calibri" pitchFamily="34" charset="-120"/>
              </a:rPr>
              <a:t>Amazon Redshift — Data Warehouse</a:t>
            </a:r>
            <a:endParaRPr lang="en-US" sz="3000" dirty="0"/>
          </a:p>
        </p:txBody>
      </p:sp>
      <p:sp>
        <p:nvSpPr>
          <p:cNvPr id="5" name="Text 3"/>
          <p:cNvSpPr/>
          <p:nvPr/>
        </p:nvSpPr>
        <p:spPr>
          <a:xfrm>
            <a:off x="548640" y="1600200"/>
            <a:ext cx="10515600" cy="457200"/>
          </a:xfrm>
          <a:prstGeom prst="rect">
            <a:avLst/>
          </a:prstGeom>
          <a:noFill/>
          <a:ln/>
        </p:spPr>
        <p:txBody>
          <a:bodyPr wrap="square" rtlCol="0" anchor="ctr"/>
          <a:lstStyle/>
          <a:p>
            <a:pPr marL="0" indent="0">
              <a:buNone/>
            </a:pPr>
            <a:r>
              <a:rPr lang="en-US" sz="1350" i="1" dirty="0">
                <a:solidFill>
                  <a:srgbClr val="3A3F4B"/>
                </a:solidFill>
                <a:latin typeface="Calibri" pitchFamily="34" charset="0"/>
                <a:ea typeface="Calibri" pitchFamily="34" charset="-122"/>
                <a:cs typeface="Calibri" pitchFamily="34" charset="-120"/>
              </a:rPr>
              <a:t>A fast, fully-managed warehouse for analytics at petabyte scale.</a:t>
            </a:r>
            <a:endParaRPr lang="en-US" sz="1350" dirty="0"/>
          </a:p>
        </p:txBody>
      </p:sp>
      <p:sp>
        <p:nvSpPr>
          <p:cNvPr id="6" name="Shape 4"/>
          <p:cNvSpPr/>
          <p:nvPr/>
        </p:nvSpPr>
        <p:spPr>
          <a:xfrm>
            <a:off x="548640" y="2286000"/>
            <a:ext cx="2926080" cy="3566160"/>
          </a:xfrm>
          <a:prstGeom prst="roundRect">
            <a:avLst>
              <a:gd name="adj" fmla="val 3125"/>
            </a:avLst>
          </a:prstGeom>
          <a:solidFill>
            <a:srgbClr val="0B2545"/>
          </a:solidFill>
          <a:ln/>
        </p:spPr>
      </p:sp>
      <p:sp>
        <p:nvSpPr>
          <p:cNvPr id="7" name="Shape 5"/>
          <p:cNvSpPr/>
          <p:nvPr/>
        </p:nvSpPr>
        <p:spPr>
          <a:xfrm>
            <a:off x="1463040" y="2697480"/>
            <a:ext cx="1097280" cy="1097280"/>
          </a:xfrm>
          <a:prstGeom prst="ellipse">
            <a:avLst/>
          </a:prstGeom>
          <a:solidFill>
            <a:srgbClr val="12335C"/>
          </a:solidFill>
          <a:ln/>
        </p:spPr>
      </p:sp>
      <p:pic>
        <p:nvPicPr>
          <p:cNvPr id="8" name="Image 0" descr="/home/claude/ppt/icons/barchart.png"/>
          <p:cNvPicPr>
            <a:picLocks noChangeAspect="1"/>
          </p:cNvPicPr>
          <p:nvPr/>
        </p:nvPicPr>
        <p:blipFill>
          <a:blip r:embed="rId3"/>
          <a:stretch>
            <a:fillRect/>
          </a:stretch>
        </p:blipFill>
        <p:spPr>
          <a:xfrm>
            <a:off x="1737360" y="2971800"/>
            <a:ext cx="548640" cy="548640"/>
          </a:xfrm>
          <a:prstGeom prst="rect">
            <a:avLst/>
          </a:prstGeom>
        </p:spPr>
      </p:pic>
      <p:sp>
        <p:nvSpPr>
          <p:cNvPr id="9" name="Text 6"/>
          <p:cNvSpPr/>
          <p:nvPr/>
        </p:nvSpPr>
        <p:spPr>
          <a:xfrm>
            <a:off x="548640" y="3886200"/>
            <a:ext cx="2926080" cy="594360"/>
          </a:xfrm>
          <a:prstGeom prst="rect">
            <a:avLst/>
          </a:prstGeom>
          <a:noFill/>
          <a:ln/>
        </p:spPr>
        <p:txBody>
          <a:bodyPr wrap="square" rtlCol="0" anchor="ctr"/>
          <a:lstStyle/>
          <a:p>
            <a:pPr marL="0" indent="0" algn="ctr">
              <a:buNone/>
            </a:pPr>
            <a:r>
              <a:rPr lang="en-US" sz="2600" b="1" dirty="0">
                <a:solidFill>
                  <a:srgbClr val="F5A623"/>
                </a:solidFill>
                <a:latin typeface="Calibri" pitchFamily="34" charset="0"/>
                <a:ea typeface="Calibri" pitchFamily="34" charset="-122"/>
                <a:cs typeface="Calibri" pitchFamily="34" charset="-120"/>
              </a:rPr>
              <a:t>RS</a:t>
            </a:r>
            <a:endParaRPr lang="en-US" sz="2600" dirty="0"/>
          </a:p>
        </p:txBody>
      </p:sp>
      <p:sp>
        <p:nvSpPr>
          <p:cNvPr id="10" name="Text 7"/>
          <p:cNvSpPr/>
          <p:nvPr/>
        </p:nvSpPr>
        <p:spPr>
          <a:xfrm>
            <a:off x="548640" y="4480560"/>
            <a:ext cx="2926080" cy="365760"/>
          </a:xfrm>
          <a:prstGeom prst="rect">
            <a:avLst/>
          </a:prstGeom>
          <a:noFill/>
          <a:ln/>
        </p:spPr>
        <p:txBody>
          <a:bodyPr wrap="square" rtlCol="0" anchor="ctr"/>
          <a:lstStyle/>
          <a:p>
            <a:pPr marL="0" indent="0" algn="ctr">
              <a:buNone/>
            </a:pPr>
            <a:r>
              <a:rPr lang="en-US" sz="1000" kern="0" spc="200" dirty="0">
                <a:solidFill>
                  <a:srgbClr val="9AA6BF"/>
                </a:solidFill>
                <a:latin typeface="Calibri" pitchFamily="34" charset="0"/>
                <a:ea typeface="Calibri" pitchFamily="34" charset="-122"/>
                <a:cs typeface="Calibri" pitchFamily="34" charset="-120"/>
              </a:rPr>
              <a:t>AWS SERVICE</a:t>
            </a:r>
            <a:endParaRPr lang="en-US" sz="1000" dirty="0"/>
          </a:p>
        </p:txBody>
      </p:sp>
      <p:sp>
        <p:nvSpPr>
          <p:cNvPr id="11" name="Shape 8"/>
          <p:cNvSpPr/>
          <p:nvPr/>
        </p:nvSpPr>
        <p:spPr>
          <a:xfrm>
            <a:off x="3794760" y="2377440"/>
            <a:ext cx="91440" cy="777240"/>
          </a:xfrm>
          <a:prstGeom prst="roundRect">
            <a:avLst/>
          </a:prstGeom>
          <a:solidFill>
            <a:srgbClr val="F5A623"/>
          </a:solidFill>
          <a:ln/>
        </p:spPr>
      </p:sp>
      <p:sp>
        <p:nvSpPr>
          <p:cNvPr id="12" name="Text 9"/>
          <p:cNvSpPr/>
          <p:nvPr/>
        </p:nvSpPr>
        <p:spPr>
          <a:xfrm>
            <a:off x="4023360" y="2350008"/>
            <a:ext cx="7498080" cy="384048"/>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Columnar Storage</a:t>
            </a:r>
            <a:endParaRPr lang="en-US" sz="1400" dirty="0"/>
          </a:p>
        </p:txBody>
      </p:sp>
      <p:sp>
        <p:nvSpPr>
          <p:cNvPr id="13" name="Text 10"/>
          <p:cNvSpPr/>
          <p:nvPr/>
        </p:nvSpPr>
        <p:spPr>
          <a:xfrm>
            <a:off x="4023360" y="2706624"/>
            <a:ext cx="7498080" cy="457200"/>
          </a:xfrm>
          <a:prstGeom prst="rect">
            <a:avLst/>
          </a:prstGeom>
          <a:noFill/>
          <a:ln/>
        </p:spPr>
        <p:txBody>
          <a:bodyPr wrap="square" rtlCol="0" anchor="ctr"/>
          <a:lstStyle/>
          <a:p>
            <a:pPr marL="0" indent="0">
              <a:buNone/>
            </a:pPr>
            <a:r>
              <a:rPr lang="en-US" sz="1150" dirty="0">
                <a:solidFill>
                  <a:srgbClr val="3A3F4B"/>
                </a:solidFill>
                <a:latin typeface="Calibri" pitchFamily="34" charset="0"/>
                <a:ea typeface="Calibri" pitchFamily="34" charset="-122"/>
                <a:cs typeface="Calibri" pitchFamily="34" charset="-120"/>
              </a:rPr>
              <a:t>Stores data by column for faster analytical queries</a:t>
            </a:r>
            <a:endParaRPr lang="en-US" sz="1150" dirty="0"/>
          </a:p>
        </p:txBody>
      </p:sp>
      <p:sp>
        <p:nvSpPr>
          <p:cNvPr id="14" name="Shape 11"/>
          <p:cNvSpPr/>
          <p:nvPr/>
        </p:nvSpPr>
        <p:spPr>
          <a:xfrm>
            <a:off x="3794760" y="3291840"/>
            <a:ext cx="91440" cy="777240"/>
          </a:xfrm>
          <a:prstGeom prst="roundRect">
            <a:avLst/>
          </a:prstGeom>
          <a:solidFill>
            <a:srgbClr val="F5A623"/>
          </a:solidFill>
          <a:ln/>
        </p:spPr>
      </p:sp>
      <p:sp>
        <p:nvSpPr>
          <p:cNvPr id="15" name="Text 12"/>
          <p:cNvSpPr/>
          <p:nvPr/>
        </p:nvSpPr>
        <p:spPr>
          <a:xfrm>
            <a:off x="4023360" y="3264408"/>
            <a:ext cx="7498080" cy="384048"/>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Massively Parallel</a:t>
            </a:r>
            <a:endParaRPr lang="en-US" sz="1400" dirty="0"/>
          </a:p>
        </p:txBody>
      </p:sp>
      <p:sp>
        <p:nvSpPr>
          <p:cNvPr id="16" name="Text 13"/>
          <p:cNvSpPr/>
          <p:nvPr/>
        </p:nvSpPr>
        <p:spPr>
          <a:xfrm>
            <a:off x="4023360" y="3621024"/>
            <a:ext cx="7498080" cy="457200"/>
          </a:xfrm>
          <a:prstGeom prst="rect">
            <a:avLst/>
          </a:prstGeom>
          <a:noFill/>
          <a:ln/>
        </p:spPr>
        <p:txBody>
          <a:bodyPr wrap="square" rtlCol="0" anchor="ctr"/>
          <a:lstStyle/>
          <a:p>
            <a:pPr marL="0" indent="0">
              <a:buNone/>
            </a:pPr>
            <a:r>
              <a:rPr lang="en-US" sz="1150" dirty="0">
                <a:solidFill>
                  <a:srgbClr val="3A3F4B"/>
                </a:solidFill>
                <a:latin typeface="Calibri" pitchFamily="34" charset="0"/>
                <a:ea typeface="Calibri" pitchFamily="34" charset="-122"/>
                <a:cs typeface="Calibri" pitchFamily="34" charset="-120"/>
              </a:rPr>
              <a:t>Splits queries across many nodes to run in parallel</a:t>
            </a:r>
            <a:endParaRPr lang="en-US" sz="1150" dirty="0"/>
          </a:p>
        </p:txBody>
      </p:sp>
      <p:sp>
        <p:nvSpPr>
          <p:cNvPr id="17" name="Shape 14"/>
          <p:cNvSpPr/>
          <p:nvPr/>
        </p:nvSpPr>
        <p:spPr>
          <a:xfrm>
            <a:off x="3794760" y="4206240"/>
            <a:ext cx="91440" cy="777240"/>
          </a:xfrm>
          <a:prstGeom prst="roundRect">
            <a:avLst/>
          </a:prstGeom>
          <a:solidFill>
            <a:srgbClr val="F5A623"/>
          </a:solidFill>
          <a:ln/>
        </p:spPr>
      </p:sp>
      <p:sp>
        <p:nvSpPr>
          <p:cNvPr id="18" name="Text 15"/>
          <p:cNvSpPr/>
          <p:nvPr/>
        </p:nvSpPr>
        <p:spPr>
          <a:xfrm>
            <a:off x="4023360" y="4178808"/>
            <a:ext cx="7498080" cy="384048"/>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SQL-Based</a:t>
            </a:r>
            <a:endParaRPr lang="en-US" sz="1400" dirty="0"/>
          </a:p>
        </p:txBody>
      </p:sp>
      <p:sp>
        <p:nvSpPr>
          <p:cNvPr id="19" name="Text 16"/>
          <p:cNvSpPr/>
          <p:nvPr/>
        </p:nvSpPr>
        <p:spPr>
          <a:xfrm>
            <a:off x="4023360" y="4535424"/>
            <a:ext cx="7498080" cy="457200"/>
          </a:xfrm>
          <a:prstGeom prst="rect">
            <a:avLst/>
          </a:prstGeom>
          <a:noFill/>
          <a:ln/>
        </p:spPr>
        <p:txBody>
          <a:bodyPr wrap="square" rtlCol="0" anchor="ctr"/>
          <a:lstStyle/>
          <a:p>
            <a:pPr marL="0" indent="0">
              <a:buNone/>
            </a:pPr>
            <a:r>
              <a:rPr lang="en-US" sz="1150" dirty="0">
                <a:solidFill>
                  <a:srgbClr val="3A3F4B"/>
                </a:solidFill>
                <a:latin typeface="Calibri" pitchFamily="34" charset="0"/>
                <a:ea typeface="Calibri" pitchFamily="34" charset="-122"/>
                <a:cs typeface="Calibri" pitchFamily="34" charset="-120"/>
              </a:rPr>
              <a:t>Query using familiar SQL with existing BI tools</a:t>
            </a:r>
            <a:endParaRPr lang="en-US" sz="1150" dirty="0"/>
          </a:p>
        </p:txBody>
      </p:sp>
      <p:sp>
        <p:nvSpPr>
          <p:cNvPr id="20" name="Shape 17"/>
          <p:cNvSpPr/>
          <p:nvPr/>
        </p:nvSpPr>
        <p:spPr>
          <a:xfrm>
            <a:off x="3794760" y="5120640"/>
            <a:ext cx="91440" cy="777240"/>
          </a:xfrm>
          <a:prstGeom prst="roundRect">
            <a:avLst/>
          </a:prstGeom>
          <a:solidFill>
            <a:srgbClr val="F5A623"/>
          </a:solidFill>
          <a:ln/>
        </p:spPr>
      </p:sp>
      <p:sp>
        <p:nvSpPr>
          <p:cNvPr id="21" name="Text 18"/>
          <p:cNvSpPr/>
          <p:nvPr/>
        </p:nvSpPr>
        <p:spPr>
          <a:xfrm>
            <a:off x="4023360" y="5093208"/>
            <a:ext cx="7498080" cy="384048"/>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Feeds Dashboards</a:t>
            </a:r>
            <a:endParaRPr lang="en-US" sz="1400" dirty="0"/>
          </a:p>
        </p:txBody>
      </p:sp>
      <p:sp>
        <p:nvSpPr>
          <p:cNvPr id="22" name="Text 19"/>
          <p:cNvSpPr/>
          <p:nvPr/>
        </p:nvSpPr>
        <p:spPr>
          <a:xfrm>
            <a:off x="4023360" y="5449824"/>
            <a:ext cx="7498080" cy="457200"/>
          </a:xfrm>
          <a:prstGeom prst="rect">
            <a:avLst/>
          </a:prstGeom>
          <a:noFill/>
          <a:ln/>
        </p:spPr>
        <p:txBody>
          <a:bodyPr wrap="square" rtlCol="0" anchor="ctr"/>
          <a:lstStyle/>
          <a:p>
            <a:pPr marL="0" indent="0">
              <a:buNone/>
            </a:pPr>
            <a:r>
              <a:rPr lang="en-US" sz="1150" dirty="0">
                <a:solidFill>
                  <a:srgbClr val="3A3F4B"/>
                </a:solidFill>
                <a:latin typeface="Calibri" pitchFamily="34" charset="0"/>
                <a:ea typeface="Calibri" pitchFamily="34" charset="-122"/>
                <a:cs typeface="Calibri" pitchFamily="34" charset="-120"/>
              </a:rPr>
              <a:t>Powers reporting tools like QuickSight and Tableau</a:t>
            </a:r>
            <a:endParaRPr lang="en-US" sz="1150" dirty="0"/>
          </a:p>
        </p:txBody>
      </p:sp>
      <p:sp>
        <p:nvSpPr>
          <p:cNvPr id="24" name="Text 20"/>
          <p:cNvSpPr/>
          <p:nvPr/>
        </p:nvSpPr>
        <p:spPr>
          <a:xfrm>
            <a:off x="457200" y="6473952"/>
            <a:ext cx="5486400" cy="274320"/>
          </a:xfrm>
          <a:prstGeom prst="rect">
            <a:avLst/>
          </a:prstGeom>
          <a:noFill/>
          <a:ln/>
        </p:spPr>
        <p:txBody>
          <a:bodyPr wrap="square" rtlCol="0" anchor="ctr"/>
          <a:lstStyle/>
          <a:p>
            <a:pPr marL="0" indent="0" algn="l">
              <a:buNone/>
            </a:pPr>
            <a:r>
              <a:rPr lang="en-US" sz="900" dirty="0">
                <a:solidFill>
                  <a:srgbClr val="8A93A5"/>
                </a:solidFill>
                <a:latin typeface="Calibri" pitchFamily="34" charset="0"/>
                <a:ea typeface="Calibri" pitchFamily="34" charset="-122"/>
                <a:cs typeface="Calibri" pitchFamily="34" charset="-120"/>
              </a:rPr>
              <a:t>Data Engineering Virtual Internship</a:t>
            </a:r>
            <a:endParaRPr lang="en-US" sz="900" dirty="0"/>
          </a:p>
        </p:txBody>
      </p:sp>
      <p:sp>
        <p:nvSpPr>
          <p:cNvPr id="25" name="Text 21"/>
          <p:cNvSpPr/>
          <p:nvPr/>
        </p:nvSpPr>
        <p:spPr>
          <a:xfrm>
            <a:off x="11274552" y="6473952"/>
            <a:ext cx="548640" cy="274320"/>
          </a:xfrm>
          <a:prstGeom prst="rect">
            <a:avLst/>
          </a:prstGeom>
          <a:noFill/>
          <a:ln/>
        </p:spPr>
        <p:txBody>
          <a:bodyPr wrap="square" rtlCol="0" anchor="ctr"/>
          <a:lstStyle/>
          <a:p>
            <a:pPr marL="0" indent="0" algn="r">
              <a:buNone/>
            </a:pPr>
            <a:r>
              <a:rPr lang="en-US" sz="900" dirty="0">
                <a:solidFill>
                  <a:srgbClr val="8A93A5"/>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1554480" cy="329184"/>
          </a:xfrm>
          <a:prstGeom prst="roundRect">
            <a:avLst>
              <a:gd name="adj" fmla="val 50000"/>
            </a:avLst>
          </a:prstGeom>
          <a:solidFill>
            <a:srgbClr val="134074"/>
          </a:solidFill>
          <a:ln/>
        </p:spPr>
      </p:sp>
      <p:sp>
        <p:nvSpPr>
          <p:cNvPr id="3" name="Text 1"/>
          <p:cNvSpPr/>
          <p:nvPr/>
        </p:nvSpPr>
        <p:spPr>
          <a:xfrm>
            <a:off x="548640" y="502920"/>
            <a:ext cx="1554480" cy="329184"/>
          </a:xfrm>
          <a:prstGeom prst="rect">
            <a:avLst/>
          </a:prstGeom>
          <a:noFill/>
          <a:ln/>
        </p:spPr>
        <p:txBody>
          <a:bodyPr wrap="square"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SECTION 03</a:t>
            </a:r>
            <a:endParaRPr lang="en-US" sz="1100" dirty="0"/>
          </a:p>
        </p:txBody>
      </p:sp>
      <p:sp>
        <p:nvSpPr>
          <p:cNvPr id="4" name="Text 2"/>
          <p:cNvSpPr/>
          <p:nvPr/>
        </p:nvSpPr>
        <p:spPr>
          <a:xfrm>
            <a:off x="548640" y="914400"/>
            <a:ext cx="11064240" cy="822960"/>
          </a:xfrm>
          <a:prstGeom prst="rect">
            <a:avLst/>
          </a:prstGeom>
          <a:noFill/>
          <a:ln/>
        </p:spPr>
        <p:txBody>
          <a:bodyPr wrap="square" rtlCol="0" anchor="ctr"/>
          <a:lstStyle/>
          <a:p>
            <a:pPr marL="0" indent="0" algn="l">
              <a:buNone/>
            </a:pPr>
            <a:r>
              <a:rPr lang="en-US" sz="3000" b="1" dirty="0">
                <a:solidFill>
                  <a:srgbClr val="0B2545"/>
                </a:solidFill>
                <a:latin typeface="Calibri" pitchFamily="34" charset="0"/>
                <a:ea typeface="Calibri" pitchFamily="34" charset="-122"/>
                <a:cs typeface="Calibri" pitchFamily="34" charset="-120"/>
              </a:rPr>
              <a:t>AWS Glue — ETL Service</a:t>
            </a:r>
            <a:endParaRPr lang="en-US" sz="3000" dirty="0"/>
          </a:p>
        </p:txBody>
      </p:sp>
      <p:sp>
        <p:nvSpPr>
          <p:cNvPr id="5" name="Text 3"/>
          <p:cNvSpPr/>
          <p:nvPr/>
        </p:nvSpPr>
        <p:spPr>
          <a:xfrm>
            <a:off x="548640" y="1600200"/>
            <a:ext cx="10515600" cy="457200"/>
          </a:xfrm>
          <a:prstGeom prst="rect">
            <a:avLst/>
          </a:prstGeom>
          <a:noFill/>
          <a:ln/>
        </p:spPr>
        <p:txBody>
          <a:bodyPr wrap="square" rtlCol="0" anchor="ctr"/>
          <a:lstStyle/>
          <a:p>
            <a:pPr marL="0" indent="0">
              <a:buNone/>
            </a:pPr>
            <a:r>
              <a:rPr lang="en-US" sz="1350" i="1" dirty="0">
                <a:solidFill>
                  <a:srgbClr val="3A3F4B"/>
                </a:solidFill>
                <a:latin typeface="Calibri" pitchFamily="34" charset="0"/>
                <a:ea typeface="Calibri" pitchFamily="34" charset="-122"/>
                <a:cs typeface="Calibri" pitchFamily="34" charset="-120"/>
              </a:rPr>
              <a:t>Serverless service to Extract, Transform, and Load data.</a:t>
            </a:r>
            <a:endParaRPr lang="en-US" sz="1350" dirty="0"/>
          </a:p>
        </p:txBody>
      </p:sp>
      <p:sp>
        <p:nvSpPr>
          <p:cNvPr id="6" name="Shape 4"/>
          <p:cNvSpPr/>
          <p:nvPr/>
        </p:nvSpPr>
        <p:spPr>
          <a:xfrm>
            <a:off x="548640" y="2286000"/>
            <a:ext cx="2926080" cy="3566160"/>
          </a:xfrm>
          <a:prstGeom prst="roundRect">
            <a:avLst>
              <a:gd name="adj" fmla="val 3125"/>
            </a:avLst>
          </a:prstGeom>
          <a:solidFill>
            <a:srgbClr val="0B2545"/>
          </a:solidFill>
          <a:ln/>
        </p:spPr>
      </p:sp>
      <p:sp>
        <p:nvSpPr>
          <p:cNvPr id="7" name="Shape 5"/>
          <p:cNvSpPr/>
          <p:nvPr/>
        </p:nvSpPr>
        <p:spPr>
          <a:xfrm>
            <a:off x="1463040" y="2697480"/>
            <a:ext cx="1097280" cy="1097280"/>
          </a:xfrm>
          <a:prstGeom prst="ellipse">
            <a:avLst/>
          </a:prstGeom>
          <a:solidFill>
            <a:srgbClr val="12335C"/>
          </a:solidFill>
          <a:ln/>
        </p:spPr>
      </p:sp>
      <p:pic>
        <p:nvPicPr>
          <p:cNvPr id="8" name="Image 0" descr="/home/claude/ppt/icons/refresh.png"/>
          <p:cNvPicPr>
            <a:picLocks noChangeAspect="1"/>
          </p:cNvPicPr>
          <p:nvPr/>
        </p:nvPicPr>
        <p:blipFill>
          <a:blip r:embed="rId3"/>
          <a:stretch>
            <a:fillRect/>
          </a:stretch>
        </p:blipFill>
        <p:spPr>
          <a:xfrm>
            <a:off x="1737360" y="2971800"/>
            <a:ext cx="548640" cy="548640"/>
          </a:xfrm>
          <a:prstGeom prst="rect">
            <a:avLst/>
          </a:prstGeom>
        </p:spPr>
      </p:pic>
      <p:sp>
        <p:nvSpPr>
          <p:cNvPr id="9" name="Text 6"/>
          <p:cNvSpPr/>
          <p:nvPr/>
        </p:nvSpPr>
        <p:spPr>
          <a:xfrm>
            <a:off x="548640" y="3886200"/>
            <a:ext cx="2926080" cy="594360"/>
          </a:xfrm>
          <a:prstGeom prst="rect">
            <a:avLst/>
          </a:prstGeom>
          <a:noFill/>
          <a:ln/>
        </p:spPr>
        <p:txBody>
          <a:bodyPr wrap="square" rtlCol="0" anchor="ctr"/>
          <a:lstStyle/>
          <a:p>
            <a:pPr marL="0" indent="0" algn="ctr">
              <a:buNone/>
            </a:pPr>
            <a:r>
              <a:rPr lang="en-US" sz="2600" b="1" dirty="0">
                <a:solidFill>
                  <a:srgbClr val="F5A623"/>
                </a:solidFill>
                <a:latin typeface="Calibri" pitchFamily="34" charset="0"/>
                <a:ea typeface="Calibri" pitchFamily="34" charset="-122"/>
                <a:cs typeface="Calibri" pitchFamily="34" charset="-120"/>
              </a:rPr>
              <a:t>GL</a:t>
            </a:r>
            <a:endParaRPr lang="en-US" sz="2600" dirty="0"/>
          </a:p>
        </p:txBody>
      </p:sp>
      <p:sp>
        <p:nvSpPr>
          <p:cNvPr id="10" name="Text 7"/>
          <p:cNvSpPr/>
          <p:nvPr/>
        </p:nvSpPr>
        <p:spPr>
          <a:xfrm>
            <a:off x="548640" y="4480560"/>
            <a:ext cx="2926080" cy="365760"/>
          </a:xfrm>
          <a:prstGeom prst="rect">
            <a:avLst/>
          </a:prstGeom>
          <a:noFill/>
          <a:ln/>
        </p:spPr>
        <p:txBody>
          <a:bodyPr wrap="square" rtlCol="0" anchor="ctr"/>
          <a:lstStyle/>
          <a:p>
            <a:pPr marL="0" indent="0" algn="ctr">
              <a:buNone/>
            </a:pPr>
            <a:r>
              <a:rPr lang="en-US" sz="1000" kern="0" spc="200" dirty="0">
                <a:solidFill>
                  <a:srgbClr val="9AA6BF"/>
                </a:solidFill>
                <a:latin typeface="Calibri" pitchFamily="34" charset="0"/>
                <a:ea typeface="Calibri" pitchFamily="34" charset="-122"/>
                <a:cs typeface="Calibri" pitchFamily="34" charset="-120"/>
              </a:rPr>
              <a:t>AWS SERVICE</a:t>
            </a:r>
            <a:endParaRPr lang="en-US" sz="1000" dirty="0"/>
          </a:p>
        </p:txBody>
      </p:sp>
      <p:sp>
        <p:nvSpPr>
          <p:cNvPr id="11" name="Shape 8"/>
          <p:cNvSpPr/>
          <p:nvPr/>
        </p:nvSpPr>
        <p:spPr>
          <a:xfrm>
            <a:off x="3794760" y="2377440"/>
            <a:ext cx="91440" cy="777240"/>
          </a:xfrm>
          <a:prstGeom prst="roundRect">
            <a:avLst/>
          </a:prstGeom>
          <a:solidFill>
            <a:srgbClr val="F5A623"/>
          </a:solidFill>
          <a:ln/>
        </p:spPr>
      </p:sp>
      <p:sp>
        <p:nvSpPr>
          <p:cNvPr id="12" name="Text 9"/>
          <p:cNvSpPr/>
          <p:nvPr/>
        </p:nvSpPr>
        <p:spPr>
          <a:xfrm>
            <a:off x="4023360" y="2350008"/>
            <a:ext cx="7498080" cy="384048"/>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Extract</a:t>
            </a:r>
            <a:endParaRPr lang="en-US" sz="1400" dirty="0"/>
          </a:p>
        </p:txBody>
      </p:sp>
      <p:sp>
        <p:nvSpPr>
          <p:cNvPr id="13" name="Text 10"/>
          <p:cNvSpPr/>
          <p:nvPr/>
        </p:nvSpPr>
        <p:spPr>
          <a:xfrm>
            <a:off x="4023360" y="2706624"/>
            <a:ext cx="7498080" cy="457200"/>
          </a:xfrm>
          <a:prstGeom prst="rect">
            <a:avLst/>
          </a:prstGeom>
          <a:noFill/>
          <a:ln/>
        </p:spPr>
        <p:txBody>
          <a:bodyPr wrap="square" rtlCol="0" anchor="ctr"/>
          <a:lstStyle/>
          <a:p>
            <a:pPr marL="0" indent="0">
              <a:buNone/>
            </a:pPr>
            <a:r>
              <a:rPr lang="en-US" sz="1150" dirty="0">
                <a:solidFill>
                  <a:srgbClr val="3A3F4B"/>
                </a:solidFill>
                <a:latin typeface="Calibri" pitchFamily="34" charset="0"/>
                <a:ea typeface="Calibri" pitchFamily="34" charset="-122"/>
                <a:cs typeface="Calibri" pitchFamily="34" charset="-120"/>
              </a:rPr>
              <a:t>Pulls data from S3, databases, and streaming sources</a:t>
            </a:r>
            <a:endParaRPr lang="en-US" sz="1150" dirty="0"/>
          </a:p>
        </p:txBody>
      </p:sp>
      <p:sp>
        <p:nvSpPr>
          <p:cNvPr id="14" name="Shape 11"/>
          <p:cNvSpPr/>
          <p:nvPr/>
        </p:nvSpPr>
        <p:spPr>
          <a:xfrm>
            <a:off x="3794760" y="3291840"/>
            <a:ext cx="91440" cy="777240"/>
          </a:xfrm>
          <a:prstGeom prst="roundRect">
            <a:avLst/>
          </a:prstGeom>
          <a:solidFill>
            <a:srgbClr val="F5A623"/>
          </a:solidFill>
          <a:ln/>
        </p:spPr>
      </p:sp>
      <p:sp>
        <p:nvSpPr>
          <p:cNvPr id="15" name="Text 12"/>
          <p:cNvSpPr/>
          <p:nvPr/>
        </p:nvSpPr>
        <p:spPr>
          <a:xfrm>
            <a:off x="4023360" y="3264408"/>
            <a:ext cx="7498080" cy="384048"/>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Transform</a:t>
            </a:r>
            <a:endParaRPr lang="en-US" sz="1400" dirty="0"/>
          </a:p>
        </p:txBody>
      </p:sp>
      <p:sp>
        <p:nvSpPr>
          <p:cNvPr id="16" name="Text 13"/>
          <p:cNvSpPr/>
          <p:nvPr/>
        </p:nvSpPr>
        <p:spPr>
          <a:xfrm>
            <a:off x="4023360" y="3621024"/>
            <a:ext cx="7498080" cy="457200"/>
          </a:xfrm>
          <a:prstGeom prst="rect">
            <a:avLst/>
          </a:prstGeom>
          <a:noFill/>
          <a:ln/>
        </p:spPr>
        <p:txBody>
          <a:bodyPr wrap="square" rtlCol="0" anchor="ctr"/>
          <a:lstStyle/>
          <a:p>
            <a:pPr marL="0" indent="0">
              <a:buNone/>
            </a:pPr>
            <a:r>
              <a:rPr lang="en-US" sz="1150" dirty="0">
                <a:solidFill>
                  <a:srgbClr val="3A3F4B"/>
                </a:solidFill>
                <a:latin typeface="Calibri" pitchFamily="34" charset="0"/>
                <a:ea typeface="Calibri" pitchFamily="34" charset="-122"/>
                <a:cs typeface="Calibri" pitchFamily="34" charset="-120"/>
              </a:rPr>
              <a:t>Cleans, joins, and reshapes data using generated scripts</a:t>
            </a:r>
            <a:endParaRPr lang="en-US" sz="1150" dirty="0"/>
          </a:p>
        </p:txBody>
      </p:sp>
      <p:sp>
        <p:nvSpPr>
          <p:cNvPr id="17" name="Shape 14"/>
          <p:cNvSpPr/>
          <p:nvPr/>
        </p:nvSpPr>
        <p:spPr>
          <a:xfrm>
            <a:off x="3794760" y="4206240"/>
            <a:ext cx="91440" cy="777240"/>
          </a:xfrm>
          <a:prstGeom prst="roundRect">
            <a:avLst/>
          </a:prstGeom>
          <a:solidFill>
            <a:srgbClr val="F5A623"/>
          </a:solidFill>
          <a:ln/>
        </p:spPr>
      </p:sp>
      <p:sp>
        <p:nvSpPr>
          <p:cNvPr id="18" name="Text 15"/>
          <p:cNvSpPr/>
          <p:nvPr/>
        </p:nvSpPr>
        <p:spPr>
          <a:xfrm>
            <a:off x="4023360" y="4178808"/>
            <a:ext cx="7498080" cy="384048"/>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Load</a:t>
            </a:r>
            <a:endParaRPr lang="en-US" sz="1400" dirty="0"/>
          </a:p>
        </p:txBody>
      </p:sp>
      <p:sp>
        <p:nvSpPr>
          <p:cNvPr id="19" name="Text 16"/>
          <p:cNvSpPr/>
          <p:nvPr/>
        </p:nvSpPr>
        <p:spPr>
          <a:xfrm>
            <a:off x="4023360" y="4535424"/>
            <a:ext cx="7498080" cy="457200"/>
          </a:xfrm>
          <a:prstGeom prst="rect">
            <a:avLst/>
          </a:prstGeom>
          <a:noFill/>
          <a:ln/>
        </p:spPr>
        <p:txBody>
          <a:bodyPr wrap="square" rtlCol="0" anchor="ctr"/>
          <a:lstStyle/>
          <a:p>
            <a:pPr marL="0" indent="0">
              <a:buNone/>
            </a:pPr>
            <a:r>
              <a:rPr lang="en-US" sz="1150" dirty="0">
                <a:solidFill>
                  <a:srgbClr val="3A3F4B"/>
                </a:solidFill>
                <a:latin typeface="Calibri" pitchFamily="34" charset="0"/>
                <a:ea typeface="Calibri" pitchFamily="34" charset="-122"/>
                <a:cs typeface="Calibri" pitchFamily="34" charset="-120"/>
              </a:rPr>
              <a:t>Writes processed data into a warehouse or data lake</a:t>
            </a:r>
            <a:endParaRPr lang="en-US" sz="1150" dirty="0"/>
          </a:p>
        </p:txBody>
      </p:sp>
      <p:sp>
        <p:nvSpPr>
          <p:cNvPr id="20" name="Shape 17"/>
          <p:cNvSpPr/>
          <p:nvPr/>
        </p:nvSpPr>
        <p:spPr>
          <a:xfrm>
            <a:off x="3794760" y="5120640"/>
            <a:ext cx="91440" cy="777240"/>
          </a:xfrm>
          <a:prstGeom prst="roundRect">
            <a:avLst/>
          </a:prstGeom>
          <a:solidFill>
            <a:srgbClr val="F5A623"/>
          </a:solidFill>
          <a:ln/>
        </p:spPr>
      </p:sp>
      <p:sp>
        <p:nvSpPr>
          <p:cNvPr id="21" name="Text 18"/>
          <p:cNvSpPr/>
          <p:nvPr/>
        </p:nvSpPr>
        <p:spPr>
          <a:xfrm>
            <a:off x="4023360" y="5093208"/>
            <a:ext cx="7498080" cy="384048"/>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Data Catalog</a:t>
            </a:r>
            <a:endParaRPr lang="en-US" sz="1400" dirty="0"/>
          </a:p>
        </p:txBody>
      </p:sp>
      <p:sp>
        <p:nvSpPr>
          <p:cNvPr id="22" name="Text 19"/>
          <p:cNvSpPr/>
          <p:nvPr/>
        </p:nvSpPr>
        <p:spPr>
          <a:xfrm>
            <a:off x="4023360" y="5449824"/>
            <a:ext cx="7498080" cy="457200"/>
          </a:xfrm>
          <a:prstGeom prst="rect">
            <a:avLst/>
          </a:prstGeom>
          <a:noFill/>
          <a:ln/>
        </p:spPr>
        <p:txBody>
          <a:bodyPr wrap="square" rtlCol="0" anchor="ctr"/>
          <a:lstStyle/>
          <a:p>
            <a:pPr marL="0" indent="0">
              <a:buNone/>
            </a:pPr>
            <a:r>
              <a:rPr lang="en-US" sz="1150" dirty="0">
                <a:solidFill>
                  <a:srgbClr val="3A3F4B"/>
                </a:solidFill>
                <a:latin typeface="Calibri" pitchFamily="34" charset="0"/>
                <a:ea typeface="Calibri" pitchFamily="34" charset="-122"/>
                <a:cs typeface="Calibri" pitchFamily="34" charset="-120"/>
              </a:rPr>
              <a:t>Automatically crawls and catalogs dataset schemas</a:t>
            </a:r>
            <a:endParaRPr lang="en-US" sz="1150" dirty="0"/>
          </a:p>
        </p:txBody>
      </p:sp>
      <p:sp>
        <p:nvSpPr>
          <p:cNvPr id="24" name="Text 20"/>
          <p:cNvSpPr/>
          <p:nvPr/>
        </p:nvSpPr>
        <p:spPr>
          <a:xfrm>
            <a:off x="457200" y="6473952"/>
            <a:ext cx="5486400" cy="274320"/>
          </a:xfrm>
          <a:prstGeom prst="rect">
            <a:avLst/>
          </a:prstGeom>
          <a:noFill/>
          <a:ln/>
        </p:spPr>
        <p:txBody>
          <a:bodyPr wrap="square" rtlCol="0" anchor="ctr"/>
          <a:lstStyle/>
          <a:p>
            <a:pPr marL="0" indent="0" algn="l">
              <a:buNone/>
            </a:pPr>
            <a:r>
              <a:rPr lang="en-US" sz="900" dirty="0">
                <a:solidFill>
                  <a:srgbClr val="8A93A5"/>
                </a:solidFill>
                <a:latin typeface="Calibri" pitchFamily="34" charset="0"/>
                <a:ea typeface="Calibri" pitchFamily="34" charset="-122"/>
                <a:cs typeface="Calibri" pitchFamily="34" charset="-120"/>
              </a:rPr>
              <a:t>Data Engineering Virtual Internship</a:t>
            </a:r>
            <a:endParaRPr lang="en-US" sz="900" dirty="0"/>
          </a:p>
        </p:txBody>
      </p:sp>
      <p:sp>
        <p:nvSpPr>
          <p:cNvPr id="25" name="Text 21"/>
          <p:cNvSpPr/>
          <p:nvPr/>
        </p:nvSpPr>
        <p:spPr>
          <a:xfrm>
            <a:off x="11274552" y="6473952"/>
            <a:ext cx="548640" cy="274320"/>
          </a:xfrm>
          <a:prstGeom prst="rect">
            <a:avLst/>
          </a:prstGeom>
          <a:noFill/>
          <a:ln/>
        </p:spPr>
        <p:txBody>
          <a:bodyPr wrap="square" rtlCol="0" anchor="ctr"/>
          <a:lstStyle/>
          <a:p>
            <a:pPr marL="0" indent="0" algn="r">
              <a:buNone/>
            </a:pPr>
            <a:r>
              <a:rPr lang="en-US" sz="900" dirty="0">
                <a:solidFill>
                  <a:srgbClr val="8A93A5"/>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1554480" cy="329184"/>
          </a:xfrm>
          <a:prstGeom prst="roundRect">
            <a:avLst>
              <a:gd name="adj" fmla="val 50000"/>
            </a:avLst>
          </a:prstGeom>
          <a:solidFill>
            <a:srgbClr val="D98418"/>
          </a:solidFill>
          <a:ln/>
        </p:spPr>
      </p:sp>
      <p:sp>
        <p:nvSpPr>
          <p:cNvPr id="3" name="Text 1"/>
          <p:cNvSpPr/>
          <p:nvPr/>
        </p:nvSpPr>
        <p:spPr>
          <a:xfrm>
            <a:off x="548640" y="502920"/>
            <a:ext cx="1554480" cy="329184"/>
          </a:xfrm>
          <a:prstGeom prst="rect">
            <a:avLst/>
          </a:prstGeom>
          <a:noFill/>
          <a:ln/>
        </p:spPr>
        <p:txBody>
          <a:bodyPr wrap="square"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SECTION 04</a:t>
            </a:r>
            <a:endParaRPr lang="en-US" sz="1100" dirty="0"/>
          </a:p>
        </p:txBody>
      </p:sp>
      <p:sp>
        <p:nvSpPr>
          <p:cNvPr id="4" name="Text 2"/>
          <p:cNvSpPr/>
          <p:nvPr/>
        </p:nvSpPr>
        <p:spPr>
          <a:xfrm>
            <a:off x="548640" y="914400"/>
            <a:ext cx="11064240" cy="822960"/>
          </a:xfrm>
          <a:prstGeom prst="rect">
            <a:avLst/>
          </a:prstGeom>
          <a:noFill/>
          <a:ln/>
        </p:spPr>
        <p:txBody>
          <a:bodyPr wrap="square" rtlCol="0" anchor="ctr"/>
          <a:lstStyle/>
          <a:p>
            <a:pPr marL="0" indent="0" algn="l">
              <a:buNone/>
            </a:pPr>
            <a:r>
              <a:rPr lang="en-US" sz="3000" b="1" dirty="0">
                <a:solidFill>
                  <a:srgbClr val="0B2545"/>
                </a:solidFill>
                <a:latin typeface="Calibri" pitchFamily="34" charset="0"/>
                <a:ea typeface="Calibri" pitchFamily="34" charset="-122"/>
                <a:cs typeface="Calibri" pitchFamily="34" charset="-120"/>
              </a:rPr>
              <a:t>Anatomy of a Data Pipeline</a:t>
            </a:r>
            <a:endParaRPr lang="en-US" sz="3000" dirty="0"/>
          </a:p>
        </p:txBody>
      </p:sp>
      <p:sp>
        <p:nvSpPr>
          <p:cNvPr id="5" name="Shape 3"/>
          <p:cNvSpPr/>
          <p:nvPr/>
        </p:nvSpPr>
        <p:spPr>
          <a:xfrm>
            <a:off x="548640" y="2834640"/>
            <a:ext cx="1600200" cy="1371600"/>
          </a:xfrm>
          <a:prstGeom prst="roundRect">
            <a:avLst>
              <a:gd name="adj" fmla="val 6000"/>
            </a:avLst>
          </a:prstGeom>
          <a:solidFill>
            <a:srgbClr val="134074"/>
          </a:solidFill>
          <a:ln/>
        </p:spPr>
      </p:sp>
      <p:sp>
        <p:nvSpPr>
          <p:cNvPr id="6" name="Text 4"/>
          <p:cNvSpPr/>
          <p:nvPr/>
        </p:nvSpPr>
        <p:spPr>
          <a:xfrm>
            <a:off x="621792" y="3090672"/>
            <a:ext cx="1453896" cy="4114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Sources</a:t>
            </a:r>
            <a:endParaRPr lang="en-US" sz="1300" dirty="0"/>
          </a:p>
        </p:txBody>
      </p:sp>
      <p:sp>
        <p:nvSpPr>
          <p:cNvPr id="7" name="Text 5"/>
          <p:cNvSpPr/>
          <p:nvPr/>
        </p:nvSpPr>
        <p:spPr>
          <a:xfrm>
            <a:off x="621792" y="3547872"/>
            <a:ext cx="1453896" cy="548640"/>
          </a:xfrm>
          <a:prstGeom prst="rect">
            <a:avLst/>
          </a:prstGeom>
          <a:noFill/>
          <a:ln/>
        </p:spPr>
        <p:txBody>
          <a:bodyPr wrap="square" rtlCol="0" anchor="ctr"/>
          <a:lstStyle/>
          <a:p>
            <a:pPr marL="0" indent="0" algn="ctr">
              <a:buNone/>
            </a:pPr>
            <a:r>
              <a:rPr lang="en-US" sz="950" dirty="0">
                <a:solidFill>
                  <a:srgbClr val="EAEFF7"/>
                </a:solidFill>
                <a:latin typeface="Calibri" pitchFamily="34" charset="0"/>
                <a:ea typeface="Calibri" pitchFamily="34" charset="-122"/>
                <a:cs typeface="Calibri" pitchFamily="34" charset="-120"/>
              </a:rPr>
              <a:t>Apps, IoT, files</a:t>
            </a:r>
            <a:endParaRPr lang="en-US" sz="950" dirty="0"/>
          </a:p>
        </p:txBody>
      </p:sp>
      <p:sp>
        <p:nvSpPr>
          <p:cNvPr id="8" name="Text 6"/>
          <p:cNvSpPr/>
          <p:nvPr/>
        </p:nvSpPr>
        <p:spPr>
          <a:xfrm>
            <a:off x="2148840" y="3154680"/>
            <a:ext cx="146304" cy="731520"/>
          </a:xfrm>
          <a:prstGeom prst="rect">
            <a:avLst/>
          </a:prstGeom>
          <a:noFill/>
          <a:ln/>
        </p:spPr>
        <p:txBody>
          <a:bodyPr wrap="square" rtlCol="0" anchor="ctr"/>
          <a:lstStyle/>
          <a:p>
            <a:pPr marL="0" indent="0" algn="ctr">
              <a:buNone/>
            </a:pPr>
            <a:r>
              <a:rPr lang="en-US" sz="2600" b="1" dirty="0">
                <a:solidFill>
                  <a:srgbClr val="8A93A5"/>
                </a:solidFill>
                <a:latin typeface="Calibri" pitchFamily="34" charset="0"/>
                <a:ea typeface="Calibri" pitchFamily="34" charset="-122"/>
                <a:cs typeface="Calibri" pitchFamily="34" charset="-120"/>
              </a:rPr>
              <a:t>›</a:t>
            </a:r>
            <a:endParaRPr lang="en-US" sz="2600" dirty="0"/>
          </a:p>
        </p:txBody>
      </p:sp>
      <p:sp>
        <p:nvSpPr>
          <p:cNvPr id="9" name="Shape 7"/>
          <p:cNvSpPr/>
          <p:nvPr/>
        </p:nvSpPr>
        <p:spPr>
          <a:xfrm>
            <a:off x="2295144" y="2834640"/>
            <a:ext cx="1600200" cy="1371600"/>
          </a:xfrm>
          <a:prstGeom prst="roundRect">
            <a:avLst>
              <a:gd name="adj" fmla="val 6000"/>
            </a:avLst>
          </a:prstGeom>
          <a:solidFill>
            <a:srgbClr val="1B6CA8"/>
          </a:solidFill>
          <a:ln/>
        </p:spPr>
      </p:sp>
      <p:sp>
        <p:nvSpPr>
          <p:cNvPr id="10" name="Text 8"/>
          <p:cNvSpPr/>
          <p:nvPr/>
        </p:nvSpPr>
        <p:spPr>
          <a:xfrm>
            <a:off x="2368296" y="3090672"/>
            <a:ext cx="1453896" cy="4114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Ingest</a:t>
            </a:r>
            <a:endParaRPr lang="en-US" sz="1300" dirty="0"/>
          </a:p>
        </p:txBody>
      </p:sp>
      <p:sp>
        <p:nvSpPr>
          <p:cNvPr id="11" name="Text 9"/>
          <p:cNvSpPr/>
          <p:nvPr/>
        </p:nvSpPr>
        <p:spPr>
          <a:xfrm>
            <a:off x="2368296" y="3547872"/>
            <a:ext cx="1453896" cy="548640"/>
          </a:xfrm>
          <a:prstGeom prst="rect">
            <a:avLst/>
          </a:prstGeom>
          <a:noFill/>
          <a:ln/>
        </p:spPr>
        <p:txBody>
          <a:bodyPr wrap="square" rtlCol="0" anchor="ctr"/>
          <a:lstStyle/>
          <a:p>
            <a:pPr marL="0" indent="0" algn="ctr">
              <a:buNone/>
            </a:pPr>
            <a:r>
              <a:rPr lang="en-US" sz="950" dirty="0">
                <a:solidFill>
                  <a:srgbClr val="EAEFF7"/>
                </a:solidFill>
                <a:latin typeface="Calibri" pitchFamily="34" charset="0"/>
                <a:ea typeface="Calibri" pitchFamily="34" charset="-122"/>
                <a:cs typeface="Calibri" pitchFamily="34" charset="-120"/>
              </a:rPr>
              <a:t>Kinesis / Glue</a:t>
            </a:r>
            <a:endParaRPr lang="en-US" sz="950" dirty="0"/>
          </a:p>
        </p:txBody>
      </p:sp>
      <p:sp>
        <p:nvSpPr>
          <p:cNvPr id="12" name="Text 10"/>
          <p:cNvSpPr/>
          <p:nvPr/>
        </p:nvSpPr>
        <p:spPr>
          <a:xfrm>
            <a:off x="3895344" y="3154680"/>
            <a:ext cx="146304" cy="731520"/>
          </a:xfrm>
          <a:prstGeom prst="rect">
            <a:avLst/>
          </a:prstGeom>
          <a:noFill/>
          <a:ln/>
        </p:spPr>
        <p:txBody>
          <a:bodyPr wrap="square" rtlCol="0" anchor="ctr"/>
          <a:lstStyle/>
          <a:p>
            <a:pPr marL="0" indent="0" algn="ctr">
              <a:buNone/>
            </a:pPr>
            <a:r>
              <a:rPr lang="en-US" sz="2600" b="1" dirty="0">
                <a:solidFill>
                  <a:srgbClr val="8A93A5"/>
                </a:solidFill>
                <a:latin typeface="Calibri" pitchFamily="34" charset="0"/>
                <a:ea typeface="Calibri" pitchFamily="34" charset="-122"/>
                <a:cs typeface="Calibri" pitchFamily="34" charset="-120"/>
              </a:rPr>
              <a:t>›</a:t>
            </a:r>
            <a:endParaRPr lang="en-US" sz="2600" dirty="0"/>
          </a:p>
        </p:txBody>
      </p:sp>
      <p:sp>
        <p:nvSpPr>
          <p:cNvPr id="13" name="Shape 11"/>
          <p:cNvSpPr/>
          <p:nvPr/>
        </p:nvSpPr>
        <p:spPr>
          <a:xfrm>
            <a:off x="4041648" y="2834640"/>
            <a:ext cx="1600200" cy="1371600"/>
          </a:xfrm>
          <a:prstGeom prst="roundRect">
            <a:avLst>
              <a:gd name="adj" fmla="val 6000"/>
            </a:avLst>
          </a:prstGeom>
          <a:solidFill>
            <a:srgbClr val="0B2545"/>
          </a:solidFill>
          <a:ln/>
        </p:spPr>
      </p:sp>
      <p:sp>
        <p:nvSpPr>
          <p:cNvPr id="14" name="Text 12"/>
          <p:cNvSpPr/>
          <p:nvPr/>
        </p:nvSpPr>
        <p:spPr>
          <a:xfrm>
            <a:off x="4114800" y="3090672"/>
            <a:ext cx="1453896" cy="4114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Store</a:t>
            </a:r>
            <a:endParaRPr lang="en-US" sz="1300" dirty="0"/>
          </a:p>
        </p:txBody>
      </p:sp>
      <p:sp>
        <p:nvSpPr>
          <p:cNvPr id="15" name="Text 13"/>
          <p:cNvSpPr/>
          <p:nvPr/>
        </p:nvSpPr>
        <p:spPr>
          <a:xfrm>
            <a:off x="4114800" y="3547872"/>
            <a:ext cx="1453896" cy="548640"/>
          </a:xfrm>
          <a:prstGeom prst="rect">
            <a:avLst/>
          </a:prstGeom>
          <a:noFill/>
          <a:ln/>
        </p:spPr>
        <p:txBody>
          <a:bodyPr wrap="square" rtlCol="0" anchor="ctr"/>
          <a:lstStyle/>
          <a:p>
            <a:pPr marL="0" indent="0" algn="ctr">
              <a:buNone/>
            </a:pPr>
            <a:r>
              <a:rPr lang="en-US" sz="950" dirty="0">
                <a:solidFill>
                  <a:srgbClr val="EAEFF7"/>
                </a:solidFill>
                <a:latin typeface="Calibri" pitchFamily="34" charset="0"/>
                <a:ea typeface="Calibri" pitchFamily="34" charset="-122"/>
                <a:cs typeface="Calibri" pitchFamily="34" charset="-120"/>
              </a:rPr>
              <a:t>S3 Data Lake</a:t>
            </a:r>
            <a:endParaRPr lang="en-US" sz="950" dirty="0"/>
          </a:p>
        </p:txBody>
      </p:sp>
      <p:sp>
        <p:nvSpPr>
          <p:cNvPr id="16" name="Text 14"/>
          <p:cNvSpPr/>
          <p:nvPr/>
        </p:nvSpPr>
        <p:spPr>
          <a:xfrm>
            <a:off x="5641848" y="3154680"/>
            <a:ext cx="146304" cy="731520"/>
          </a:xfrm>
          <a:prstGeom prst="rect">
            <a:avLst/>
          </a:prstGeom>
          <a:noFill/>
          <a:ln/>
        </p:spPr>
        <p:txBody>
          <a:bodyPr wrap="square" rtlCol="0" anchor="ctr"/>
          <a:lstStyle/>
          <a:p>
            <a:pPr marL="0" indent="0" algn="ctr">
              <a:buNone/>
            </a:pPr>
            <a:r>
              <a:rPr lang="en-US" sz="2600" b="1" dirty="0">
                <a:solidFill>
                  <a:srgbClr val="8A93A5"/>
                </a:solidFill>
                <a:latin typeface="Calibri" pitchFamily="34" charset="0"/>
                <a:ea typeface="Calibri" pitchFamily="34" charset="-122"/>
                <a:cs typeface="Calibri" pitchFamily="34" charset="-120"/>
              </a:rPr>
              <a:t>›</a:t>
            </a:r>
            <a:endParaRPr lang="en-US" sz="2600" dirty="0"/>
          </a:p>
        </p:txBody>
      </p:sp>
      <p:sp>
        <p:nvSpPr>
          <p:cNvPr id="17" name="Shape 15"/>
          <p:cNvSpPr/>
          <p:nvPr/>
        </p:nvSpPr>
        <p:spPr>
          <a:xfrm>
            <a:off x="5788152" y="2834640"/>
            <a:ext cx="1600200" cy="1371600"/>
          </a:xfrm>
          <a:prstGeom prst="roundRect">
            <a:avLst>
              <a:gd name="adj" fmla="val 6000"/>
            </a:avLst>
          </a:prstGeom>
          <a:solidFill>
            <a:srgbClr val="D98418"/>
          </a:solidFill>
          <a:ln/>
        </p:spPr>
      </p:sp>
      <p:sp>
        <p:nvSpPr>
          <p:cNvPr id="18" name="Text 16"/>
          <p:cNvSpPr/>
          <p:nvPr/>
        </p:nvSpPr>
        <p:spPr>
          <a:xfrm>
            <a:off x="5861304" y="3090672"/>
            <a:ext cx="1453896" cy="4114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Transform</a:t>
            </a:r>
            <a:endParaRPr lang="en-US" sz="1300" dirty="0"/>
          </a:p>
        </p:txBody>
      </p:sp>
      <p:sp>
        <p:nvSpPr>
          <p:cNvPr id="19" name="Text 17"/>
          <p:cNvSpPr/>
          <p:nvPr/>
        </p:nvSpPr>
        <p:spPr>
          <a:xfrm>
            <a:off x="5861304" y="3547872"/>
            <a:ext cx="1453896" cy="548640"/>
          </a:xfrm>
          <a:prstGeom prst="rect">
            <a:avLst/>
          </a:prstGeom>
          <a:noFill/>
          <a:ln/>
        </p:spPr>
        <p:txBody>
          <a:bodyPr wrap="square" rtlCol="0" anchor="ctr"/>
          <a:lstStyle/>
          <a:p>
            <a:pPr marL="0" indent="0" algn="ctr">
              <a:buNone/>
            </a:pPr>
            <a:r>
              <a:rPr lang="en-US" sz="950" dirty="0">
                <a:solidFill>
                  <a:srgbClr val="EAEFF7"/>
                </a:solidFill>
                <a:latin typeface="Calibri" pitchFamily="34" charset="0"/>
                <a:ea typeface="Calibri" pitchFamily="34" charset="-122"/>
                <a:cs typeface="Calibri" pitchFamily="34" charset="-120"/>
              </a:rPr>
              <a:t>Glue ETL</a:t>
            </a:r>
            <a:endParaRPr lang="en-US" sz="950" dirty="0"/>
          </a:p>
        </p:txBody>
      </p:sp>
      <p:sp>
        <p:nvSpPr>
          <p:cNvPr id="20" name="Text 18"/>
          <p:cNvSpPr/>
          <p:nvPr/>
        </p:nvSpPr>
        <p:spPr>
          <a:xfrm>
            <a:off x="7388352" y="3154680"/>
            <a:ext cx="146304" cy="731520"/>
          </a:xfrm>
          <a:prstGeom prst="rect">
            <a:avLst/>
          </a:prstGeom>
          <a:noFill/>
          <a:ln/>
        </p:spPr>
        <p:txBody>
          <a:bodyPr wrap="square" rtlCol="0" anchor="ctr"/>
          <a:lstStyle/>
          <a:p>
            <a:pPr marL="0" indent="0" algn="ctr">
              <a:buNone/>
            </a:pPr>
            <a:r>
              <a:rPr lang="en-US" sz="2600" b="1" dirty="0">
                <a:solidFill>
                  <a:srgbClr val="8A93A5"/>
                </a:solidFill>
                <a:latin typeface="Calibri" pitchFamily="34" charset="0"/>
                <a:ea typeface="Calibri" pitchFamily="34" charset="-122"/>
                <a:cs typeface="Calibri" pitchFamily="34" charset="-120"/>
              </a:rPr>
              <a:t>›</a:t>
            </a:r>
            <a:endParaRPr lang="en-US" sz="2600" dirty="0"/>
          </a:p>
        </p:txBody>
      </p:sp>
      <p:sp>
        <p:nvSpPr>
          <p:cNvPr id="21" name="Shape 19"/>
          <p:cNvSpPr/>
          <p:nvPr/>
        </p:nvSpPr>
        <p:spPr>
          <a:xfrm>
            <a:off x="7534656" y="2834640"/>
            <a:ext cx="1600200" cy="1371600"/>
          </a:xfrm>
          <a:prstGeom prst="roundRect">
            <a:avLst>
              <a:gd name="adj" fmla="val 6000"/>
            </a:avLst>
          </a:prstGeom>
          <a:solidFill>
            <a:srgbClr val="F5A623"/>
          </a:solidFill>
          <a:ln/>
        </p:spPr>
      </p:sp>
      <p:sp>
        <p:nvSpPr>
          <p:cNvPr id="22" name="Text 20"/>
          <p:cNvSpPr/>
          <p:nvPr/>
        </p:nvSpPr>
        <p:spPr>
          <a:xfrm>
            <a:off x="7607808" y="3090672"/>
            <a:ext cx="1453896" cy="4114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Warehouse</a:t>
            </a:r>
            <a:endParaRPr lang="en-US" sz="1300" dirty="0"/>
          </a:p>
        </p:txBody>
      </p:sp>
      <p:sp>
        <p:nvSpPr>
          <p:cNvPr id="23" name="Text 21"/>
          <p:cNvSpPr/>
          <p:nvPr/>
        </p:nvSpPr>
        <p:spPr>
          <a:xfrm>
            <a:off x="7607808" y="3547872"/>
            <a:ext cx="1453896" cy="548640"/>
          </a:xfrm>
          <a:prstGeom prst="rect">
            <a:avLst/>
          </a:prstGeom>
          <a:noFill/>
          <a:ln/>
        </p:spPr>
        <p:txBody>
          <a:bodyPr wrap="square" rtlCol="0" anchor="ctr"/>
          <a:lstStyle/>
          <a:p>
            <a:pPr marL="0" indent="0" algn="ctr">
              <a:buNone/>
            </a:pPr>
            <a:r>
              <a:rPr lang="en-US" sz="950" dirty="0">
                <a:solidFill>
                  <a:srgbClr val="EAEFF7"/>
                </a:solidFill>
                <a:latin typeface="Calibri" pitchFamily="34" charset="0"/>
                <a:ea typeface="Calibri" pitchFamily="34" charset="-122"/>
                <a:cs typeface="Calibri" pitchFamily="34" charset="-120"/>
              </a:rPr>
              <a:t>Redshift</a:t>
            </a:r>
            <a:endParaRPr lang="en-US" sz="950" dirty="0"/>
          </a:p>
        </p:txBody>
      </p:sp>
      <p:sp>
        <p:nvSpPr>
          <p:cNvPr id="24" name="Text 22"/>
          <p:cNvSpPr/>
          <p:nvPr/>
        </p:nvSpPr>
        <p:spPr>
          <a:xfrm>
            <a:off x="9134856" y="3154680"/>
            <a:ext cx="146304" cy="731520"/>
          </a:xfrm>
          <a:prstGeom prst="rect">
            <a:avLst/>
          </a:prstGeom>
          <a:noFill/>
          <a:ln/>
        </p:spPr>
        <p:txBody>
          <a:bodyPr wrap="square" rtlCol="0" anchor="ctr"/>
          <a:lstStyle/>
          <a:p>
            <a:pPr marL="0" indent="0" algn="ctr">
              <a:buNone/>
            </a:pPr>
            <a:r>
              <a:rPr lang="en-US" sz="2600" b="1" dirty="0">
                <a:solidFill>
                  <a:srgbClr val="8A93A5"/>
                </a:solidFill>
                <a:latin typeface="Calibri" pitchFamily="34" charset="0"/>
                <a:ea typeface="Calibri" pitchFamily="34" charset="-122"/>
                <a:cs typeface="Calibri" pitchFamily="34" charset="-120"/>
              </a:rPr>
              <a:t>›</a:t>
            </a:r>
            <a:endParaRPr lang="en-US" sz="2600" dirty="0"/>
          </a:p>
        </p:txBody>
      </p:sp>
      <p:sp>
        <p:nvSpPr>
          <p:cNvPr id="25" name="Shape 23"/>
          <p:cNvSpPr/>
          <p:nvPr/>
        </p:nvSpPr>
        <p:spPr>
          <a:xfrm>
            <a:off x="9281160" y="2834640"/>
            <a:ext cx="1600200" cy="1371600"/>
          </a:xfrm>
          <a:prstGeom prst="roundRect">
            <a:avLst>
              <a:gd name="adj" fmla="val 6000"/>
            </a:avLst>
          </a:prstGeom>
          <a:solidFill>
            <a:srgbClr val="134074"/>
          </a:solidFill>
          <a:ln/>
        </p:spPr>
      </p:sp>
      <p:sp>
        <p:nvSpPr>
          <p:cNvPr id="26" name="Text 24"/>
          <p:cNvSpPr/>
          <p:nvPr/>
        </p:nvSpPr>
        <p:spPr>
          <a:xfrm>
            <a:off x="9354312" y="3090672"/>
            <a:ext cx="1453896" cy="4114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Consume</a:t>
            </a:r>
            <a:endParaRPr lang="en-US" sz="1300" dirty="0"/>
          </a:p>
        </p:txBody>
      </p:sp>
      <p:sp>
        <p:nvSpPr>
          <p:cNvPr id="27" name="Text 25"/>
          <p:cNvSpPr/>
          <p:nvPr/>
        </p:nvSpPr>
        <p:spPr>
          <a:xfrm>
            <a:off x="9354312" y="3547872"/>
            <a:ext cx="1453896" cy="548640"/>
          </a:xfrm>
          <a:prstGeom prst="rect">
            <a:avLst/>
          </a:prstGeom>
          <a:noFill/>
          <a:ln/>
        </p:spPr>
        <p:txBody>
          <a:bodyPr wrap="square" rtlCol="0" anchor="ctr"/>
          <a:lstStyle/>
          <a:p>
            <a:pPr marL="0" indent="0" algn="ctr">
              <a:buNone/>
            </a:pPr>
            <a:r>
              <a:rPr lang="en-US" sz="950" dirty="0">
                <a:solidFill>
                  <a:srgbClr val="EAEFF7"/>
                </a:solidFill>
                <a:latin typeface="Calibri" pitchFamily="34" charset="0"/>
                <a:ea typeface="Calibri" pitchFamily="34" charset="-122"/>
                <a:cs typeface="Calibri" pitchFamily="34" charset="-120"/>
              </a:rPr>
              <a:t>BI &amp; ML</a:t>
            </a:r>
            <a:endParaRPr lang="en-US" sz="950" dirty="0"/>
          </a:p>
        </p:txBody>
      </p:sp>
      <p:sp>
        <p:nvSpPr>
          <p:cNvPr id="28" name="Text 26"/>
          <p:cNvSpPr/>
          <p:nvPr/>
        </p:nvSpPr>
        <p:spPr>
          <a:xfrm>
            <a:off x="548640" y="4754880"/>
            <a:ext cx="10332720" cy="457200"/>
          </a:xfrm>
          <a:prstGeom prst="rect">
            <a:avLst/>
          </a:prstGeom>
          <a:noFill/>
          <a:ln/>
        </p:spPr>
        <p:txBody>
          <a:bodyPr wrap="square" rtlCol="0" anchor="ctr"/>
          <a:lstStyle/>
          <a:p>
            <a:pPr marL="0" indent="0" algn="ctr">
              <a:buNone/>
            </a:pPr>
            <a:r>
              <a:rPr lang="en-US" sz="1200" i="1" dirty="0">
                <a:solidFill>
                  <a:srgbClr val="3A3F4B"/>
                </a:solidFill>
                <a:latin typeface="Calibri" pitchFamily="34" charset="0"/>
                <a:ea typeface="Calibri" pitchFamily="34" charset="-122"/>
                <a:cs typeface="Calibri" pitchFamily="34" charset="-120"/>
              </a:rPr>
              <a:t>Data flows left to right — from raw generation through to business consumption.</a:t>
            </a:r>
            <a:endParaRPr lang="en-US" sz="1200" dirty="0"/>
          </a:p>
        </p:txBody>
      </p:sp>
      <p:sp>
        <p:nvSpPr>
          <p:cNvPr id="30" name="Text 27"/>
          <p:cNvSpPr/>
          <p:nvPr/>
        </p:nvSpPr>
        <p:spPr>
          <a:xfrm>
            <a:off x="457200" y="6473952"/>
            <a:ext cx="5486400" cy="274320"/>
          </a:xfrm>
          <a:prstGeom prst="rect">
            <a:avLst/>
          </a:prstGeom>
          <a:noFill/>
          <a:ln/>
        </p:spPr>
        <p:txBody>
          <a:bodyPr wrap="square" rtlCol="0" anchor="ctr"/>
          <a:lstStyle/>
          <a:p>
            <a:pPr marL="0" indent="0" algn="l">
              <a:buNone/>
            </a:pPr>
            <a:r>
              <a:rPr lang="en-US" sz="900" dirty="0">
                <a:solidFill>
                  <a:srgbClr val="8A93A5"/>
                </a:solidFill>
                <a:latin typeface="Calibri" pitchFamily="34" charset="0"/>
                <a:ea typeface="Calibri" pitchFamily="34" charset="-122"/>
                <a:cs typeface="Calibri" pitchFamily="34" charset="-120"/>
              </a:rPr>
              <a:t>Data Engineering Virtual Internship</a:t>
            </a:r>
            <a:endParaRPr lang="en-US" sz="900" dirty="0"/>
          </a:p>
        </p:txBody>
      </p:sp>
      <p:sp>
        <p:nvSpPr>
          <p:cNvPr id="31" name="Text 28"/>
          <p:cNvSpPr/>
          <p:nvPr/>
        </p:nvSpPr>
        <p:spPr>
          <a:xfrm>
            <a:off x="11274552" y="6473952"/>
            <a:ext cx="548640" cy="274320"/>
          </a:xfrm>
          <a:prstGeom prst="rect">
            <a:avLst/>
          </a:prstGeom>
          <a:noFill/>
          <a:ln/>
        </p:spPr>
        <p:txBody>
          <a:bodyPr wrap="square" rtlCol="0" anchor="ctr"/>
          <a:lstStyle/>
          <a:p>
            <a:pPr marL="0" indent="0" algn="r">
              <a:buNone/>
            </a:pPr>
            <a:r>
              <a:rPr lang="en-US" sz="900" dirty="0">
                <a:solidFill>
                  <a:srgbClr val="8A93A5"/>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1554480" cy="329184"/>
          </a:xfrm>
          <a:prstGeom prst="roundRect">
            <a:avLst>
              <a:gd name="adj" fmla="val 50000"/>
            </a:avLst>
          </a:prstGeom>
          <a:solidFill>
            <a:srgbClr val="134074"/>
          </a:solidFill>
          <a:ln/>
        </p:spPr>
      </p:sp>
      <p:sp>
        <p:nvSpPr>
          <p:cNvPr id="3" name="Text 1"/>
          <p:cNvSpPr/>
          <p:nvPr/>
        </p:nvSpPr>
        <p:spPr>
          <a:xfrm>
            <a:off x="548640" y="502920"/>
            <a:ext cx="1554480" cy="329184"/>
          </a:xfrm>
          <a:prstGeom prst="rect">
            <a:avLst/>
          </a:prstGeom>
          <a:noFill/>
          <a:ln/>
        </p:spPr>
        <p:txBody>
          <a:bodyPr wrap="square"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SECTION 03</a:t>
            </a:r>
            <a:endParaRPr lang="en-US" sz="1100" dirty="0"/>
          </a:p>
        </p:txBody>
      </p:sp>
      <p:sp>
        <p:nvSpPr>
          <p:cNvPr id="4" name="Text 2"/>
          <p:cNvSpPr/>
          <p:nvPr/>
        </p:nvSpPr>
        <p:spPr>
          <a:xfrm>
            <a:off x="548640" y="914400"/>
            <a:ext cx="11064240" cy="822960"/>
          </a:xfrm>
          <a:prstGeom prst="rect">
            <a:avLst/>
          </a:prstGeom>
          <a:noFill/>
          <a:ln/>
        </p:spPr>
        <p:txBody>
          <a:bodyPr wrap="square" rtlCol="0" anchor="ctr"/>
          <a:lstStyle/>
          <a:p>
            <a:pPr marL="0" indent="0" algn="l">
              <a:buNone/>
            </a:pPr>
            <a:r>
              <a:rPr lang="en-US" sz="3000" b="1" dirty="0">
                <a:solidFill>
                  <a:srgbClr val="0B2545"/>
                </a:solidFill>
                <a:latin typeface="Calibri" pitchFamily="34" charset="0"/>
                <a:ea typeface="Calibri" pitchFamily="34" charset="-122"/>
                <a:cs typeface="Calibri" pitchFamily="34" charset="-120"/>
              </a:rPr>
              <a:t>Amazon EMR — Big Data Processing</a:t>
            </a:r>
            <a:endParaRPr lang="en-US" sz="3000" dirty="0"/>
          </a:p>
        </p:txBody>
      </p:sp>
      <p:sp>
        <p:nvSpPr>
          <p:cNvPr id="5" name="Text 3"/>
          <p:cNvSpPr/>
          <p:nvPr/>
        </p:nvSpPr>
        <p:spPr>
          <a:xfrm>
            <a:off x="548640" y="1600200"/>
            <a:ext cx="10515600" cy="457200"/>
          </a:xfrm>
          <a:prstGeom prst="rect">
            <a:avLst/>
          </a:prstGeom>
          <a:noFill/>
          <a:ln/>
        </p:spPr>
        <p:txBody>
          <a:bodyPr wrap="square" rtlCol="0" anchor="ctr"/>
          <a:lstStyle/>
          <a:p>
            <a:pPr marL="0" indent="0">
              <a:buNone/>
            </a:pPr>
            <a:r>
              <a:rPr lang="en-US" sz="1350" i="1" dirty="0">
                <a:solidFill>
                  <a:srgbClr val="3A3F4B"/>
                </a:solidFill>
                <a:latin typeface="Calibri" pitchFamily="34" charset="0"/>
                <a:ea typeface="Calibri" pitchFamily="34" charset="-122"/>
                <a:cs typeface="Calibri" pitchFamily="34" charset="-120"/>
              </a:rPr>
              <a:t>Managed clusters for Hadoop, Spark &amp; big-data frameworks.</a:t>
            </a:r>
            <a:endParaRPr lang="en-US" sz="1350" dirty="0"/>
          </a:p>
        </p:txBody>
      </p:sp>
      <p:sp>
        <p:nvSpPr>
          <p:cNvPr id="6" name="Shape 4"/>
          <p:cNvSpPr/>
          <p:nvPr/>
        </p:nvSpPr>
        <p:spPr>
          <a:xfrm>
            <a:off x="548640" y="2286000"/>
            <a:ext cx="2926080" cy="3566160"/>
          </a:xfrm>
          <a:prstGeom prst="roundRect">
            <a:avLst>
              <a:gd name="adj" fmla="val 3125"/>
            </a:avLst>
          </a:prstGeom>
          <a:solidFill>
            <a:srgbClr val="0B2545"/>
          </a:solidFill>
          <a:ln/>
        </p:spPr>
      </p:sp>
      <p:sp>
        <p:nvSpPr>
          <p:cNvPr id="7" name="Shape 5"/>
          <p:cNvSpPr/>
          <p:nvPr/>
        </p:nvSpPr>
        <p:spPr>
          <a:xfrm>
            <a:off x="1463040" y="2697480"/>
            <a:ext cx="1097280" cy="1097280"/>
          </a:xfrm>
          <a:prstGeom prst="ellipse">
            <a:avLst/>
          </a:prstGeom>
          <a:solidFill>
            <a:srgbClr val="12335C"/>
          </a:solidFill>
          <a:ln/>
        </p:spPr>
      </p:sp>
      <p:pic>
        <p:nvPicPr>
          <p:cNvPr id="8" name="Image 0" descr="/home/claude/ppt/icons/cpu.png"/>
          <p:cNvPicPr>
            <a:picLocks noChangeAspect="1"/>
          </p:cNvPicPr>
          <p:nvPr/>
        </p:nvPicPr>
        <p:blipFill>
          <a:blip r:embed="rId3"/>
          <a:stretch>
            <a:fillRect/>
          </a:stretch>
        </p:blipFill>
        <p:spPr>
          <a:xfrm>
            <a:off x="1737360" y="2971800"/>
            <a:ext cx="548640" cy="548640"/>
          </a:xfrm>
          <a:prstGeom prst="rect">
            <a:avLst/>
          </a:prstGeom>
        </p:spPr>
      </p:pic>
      <p:sp>
        <p:nvSpPr>
          <p:cNvPr id="9" name="Text 6"/>
          <p:cNvSpPr/>
          <p:nvPr/>
        </p:nvSpPr>
        <p:spPr>
          <a:xfrm>
            <a:off x="548640" y="3886200"/>
            <a:ext cx="2926080" cy="594360"/>
          </a:xfrm>
          <a:prstGeom prst="rect">
            <a:avLst/>
          </a:prstGeom>
          <a:noFill/>
          <a:ln/>
        </p:spPr>
        <p:txBody>
          <a:bodyPr wrap="square" rtlCol="0" anchor="ctr"/>
          <a:lstStyle/>
          <a:p>
            <a:pPr marL="0" indent="0" algn="ctr">
              <a:buNone/>
            </a:pPr>
            <a:r>
              <a:rPr lang="en-US" sz="2600" b="1" dirty="0">
                <a:solidFill>
                  <a:srgbClr val="F5A623"/>
                </a:solidFill>
                <a:latin typeface="Calibri" pitchFamily="34" charset="0"/>
                <a:ea typeface="Calibri" pitchFamily="34" charset="-122"/>
                <a:cs typeface="Calibri" pitchFamily="34" charset="-120"/>
              </a:rPr>
              <a:t>EMR</a:t>
            </a:r>
            <a:endParaRPr lang="en-US" sz="2600" dirty="0"/>
          </a:p>
        </p:txBody>
      </p:sp>
      <p:sp>
        <p:nvSpPr>
          <p:cNvPr id="10" name="Text 7"/>
          <p:cNvSpPr/>
          <p:nvPr/>
        </p:nvSpPr>
        <p:spPr>
          <a:xfrm>
            <a:off x="548640" y="4480560"/>
            <a:ext cx="2926080" cy="365760"/>
          </a:xfrm>
          <a:prstGeom prst="rect">
            <a:avLst/>
          </a:prstGeom>
          <a:noFill/>
          <a:ln/>
        </p:spPr>
        <p:txBody>
          <a:bodyPr wrap="square" rtlCol="0" anchor="ctr"/>
          <a:lstStyle/>
          <a:p>
            <a:pPr marL="0" indent="0" algn="ctr">
              <a:buNone/>
            </a:pPr>
            <a:r>
              <a:rPr lang="en-US" sz="1000" kern="0" spc="200" dirty="0">
                <a:solidFill>
                  <a:srgbClr val="9AA6BF"/>
                </a:solidFill>
                <a:latin typeface="Calibri" pitchFamily="34" charset="0"/>
                <a:ea typeface="Calibri" pitchFamily="34" charset="-122"/>
                <a:cs typeface="Calibri" pitchFamily="34" charset="-120"/>
              </a:rPr>
              <a:t>AWS SERVICE</a:t>
            </a:r>
            <a:endParaRPr lang="en-US" sz="1000" dirty="0"/>
          </a:p>
        </p:txBody>
      </p:sp>
      <p:sp>
        <p:nvSpPr>
          <p:cNvPr id="11" name="Shape 8"/>
          <p:cNvSpPr/>
          <p:nvPr/>
        </p:nvSpPr>
        <p:spPr>
          <a:xfrm>
            <a:off x="3794760" y="2377440"/>
            <a:ext cx="91440" cy="777240"/>
          </a:xfrm>
          <a:prstGeom prst="roundRect">
            <a:avLst/>
          </a:prstGeom>
          <a:solidFill>
            <a:srgbClr val="F5A623"/>
          </a:solidFill>
          <a:ln/>
        </p:spPr>
      </p:sp>
      <p:sp>
        <p:nvSpPr>
          <p:cNvPr id="12" name="Text 9"/>
          <p:cNvSpPr/>
          <p:nvPr/>
        </p:nvSpPr>
        <p:spPr>
          <a:xfrm>
            <a:off x="4023360" y="2350008"/>
            <a:ext cx="7498080" cy="384048"/>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Massive Scale</a:t>
            </a:r>
            <a:endParaRPr lang="en-US" sz="1400" dirty="0"/>
          </a:p>
        </p:txBody>
      </p:sp>
      <p:sp>
        <p:nvSpPr>
          <p:cNvPr id="13" name="Text 10"/>
          <p:cNvSpPr/>
          <p:nvPr/>
        </p:nvSpPr>
        <p:spPr>
          <a:xfrm>
            <a:off x="4023360" y="2706624"/>
            <a:ext cx="7498080" cy="457200"/>
          </a:xfrm>
          <a:prstGeom prst="rect">
            <a:avLst/>
          </a:prstGeom>
          <a:noFill/>
          <a:ln/>
        </p:spPr>
        <p:txBody>
          <a:bodyPr wrap="square" rtlCol="0" anchor="ctr"/>
          <a:lstStyle/>
          <a:p>
            <a:pPr marL="0" indent="0">
              <a:buNone/>
            </a:pPr>
            <a:r>
              <a:rPr lang="en-US" sz="1150" dirty="0">
                <a:solidFill>
                  <a:srgbClr val="3A3F4B"/>
                </a:solidFill>
                <a:latin typeface="Calibri" pitchFamily="34" charset="0"/>
                <a:ea typeface="Calibri" pitchFamily="34" charset="-122"/>
                <a:cs typeface="Calibri" pitchFamily="34" charset="-120"/>
              </a:rPr>
              <a:t>Processes petabytes of data across clustered nodes</a:t>
            </a:r>
            <a:endParaRPr lang="en-US" sz="1150" dirty="0"/>
          </a:p>
        </p:txBody>
      </p:sp>
      <p:sp>
        <p:nvSpPr>
          <p:cNvPr id="14" name="Shape 11"/>
          <p:cNvSpPr/>
          <p:nvPr/>
        </p:nvSpPr>
        <p:spPr>
          <a:xfrm>
            <a:off x="3794760" y="3291840"/>
            <a:ext cx="91440" cy="777240"/>
          </a:xfrm>
          <a:prstGeom prst="roundRect">
            <a:avLst/>
          </a:prstGeom>
          <a:solidFill>
            <a:srgbClr val="F5A623"/>
          </a:solidFill>
          <a:ln/>
        </p:spPr>
      </p:sp>
      <p:sp>
        <p:nvSpPr>
          <p:cNvPr id="15" name="Text 12"/>
          <p:cNvSpPr/>
          <p:nvPr/>
        </p:nvSpPr>
        <p:spPr>
          <a:xfrm>
            <a:off x="4023360" y="3264408"/>
            <a:ext cx="7498080" cy="384048"/>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Apache Spark &amp; Hadoop</a:t>
            </a:r>
            <a:endParaRPr lang="en-US" sz="1400" dirty="0"/>
          </a:p>
        </p:txBody>
      </p:sp>
      <p:sp>
        <p:nvSpPr>
          <p:cNvPr id="16" name="Text 13"/>
          <p:cNvSpPr/>
          <p:nvPr/>
        </p:nvSpPr>
        <p:spPr>
          <a:xfrm>
            <a:off x="4023360" y="3621024"/>
            <a:ext cx="7498080" cy="457200"/>
          </a:xfrm>
          <a:prstGeom prst="rect">
            <a:avLst/>
          </a:prstGeom>
          <a:noFill/>
          <a:ln/>
        </p:spPr>
        <p:txBody>
          <a:bodyPr wrap="square" rtlCol="0" anchor="ctr"/>
          <a:lstStyle/>
          <a:p>
            <a:pPr marL="0" indent="0">
              <a:buNone/>
            </a:pPr>
            <a:r>
              <a:rPr lang="en-US" sz="1150" dirty="0">
                <a:solidFill>
                  <a:srgbClr val="3A3F4B"/>
                </a:solidFill>
                <a:latin typeface="Calibri" pitchFamily="34" charset="0"/>
                <a:ea typeface="Calibri" pitchFamily="34" charset="-122"/>
                <a:cs typeface="Calibri" pitchFamily="34" charset="-120"/>
              </a:rPr>
              <a:t>Runs popular open-source big-data engines</a:t>
            </a:r>
            <a:endParaRPr lang="en-US" sz="1150" dirty="0"/>
          </a:p>
        </p:txBody>
      </p:sp>
      <p:sp>
        <p:nvSpPr>
          <p:cNvPr id="17" name="Shape 14"/>
          <p:cNvSpPr/>
          <p:nvPr/>
        </p:nvSpPr>
        <p:spPr>
          <a:xfrm>
            <a:off x="3794760" y="4206240"/>
            <a:ext cx="91440" cy="777240"/>
          </a:xfrm>
          <a:prstGeom prst="roundRect">
            <a:avLst/>
          </a:prstGeom>
          <a:solidFill>
            <a:srgbClr val="F5A623"/>
          </a:solidFill>
          <a:ln/>
        </p:spPr>
      </p:sp>
      <p:sp>
        <p:nvSpPr>
          <p:cNvPr id="18" name="Text 15"/>
          <p:cNvSpPr/>
          <p:nvPr/>
        </p:nvSpPr>
        <p:spPr>
          <a:xfrm>
            <a:off x="4023360" y="4178808"/>
            <a:ext cx="7498080" cy="384048"/>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Elastic Clusters</a:t>
            </a:r>
            <a:endParaRPr lang="en-US" sz="1400" dirty="0"/>
          </a:p>
        </p:txBody>
      </p:sp>
      <p:sp>
        <p:nvSpPr>
          <p:cNvPr id="19" name="Text 16"/>
          <p:cNvSpPr/>
          <p:nvPr/>
        </p:nvSpPr>
        <p:spPr>
          <a:xfrm>
            <a:off x="4023360" y="4535424"/>
            <a:ext cx="7498080" cy="457200"/>
          </a:xfrm>
          <a:prstGeom prst="rect">
            <a:avLst/>
          </a:prstGeom>
          <a:noFill/>
          <a:ln/>
        </p:spPr>
        <p:txBody>
          <a:bodyPr wrap="square" rtlCol="0" anchor="ctr"/>
          <a:lstStyle/>
          <a:p>
            <a:pPr marL="0" indent="0">
              <a:buNone/>
            </a:pPr>
            <a:r>
              <a:rPr lang="en-US" sz="1150" dirty="0">
                <a:solidFill>
                  <a:srgbClr val="3A3F4B"/>
                </a:solidFill>
                <a:latin typeface="Calibri" pitchFamily="34" charset="0"/>
                <a:ea typeface="Calibri" pitchFamily="34" charset="-122"/>
                <a:cs typeface="Calibri" pitchFamily="34" charset="-120"/>
              </a:rPr>
              <a:t>Add or remove compute nodes as workload changes</a:t>
            </a:r>
            <a:endParaRPr lang="en-US" sz="1150" dirty="0"/>
          </a:p>
        </p:txBody>
      </p:sp>
      <p:sp>
        <p:nvSpPr>
          <p:cNvPr id="20" name="Shape 17"/>
          <p:cNvSpPr/>
          <p:nvPr/>
        </p:nvSpPr>
        <p:spPr>
          <a:xfrm>
            <a:off x="3794760" y="5120640"/>
            <a:ext cx="91440" cy="777240"/>
          </a:xfrm>
          <a:prstGeom prst="roundRect">
            <a:avLst/>
          </a:prstGeom>
          <a:solidFill>
            <a:srgbClr val="F5A623"/>
          </a:solidFill>
          <a:ln/>
        </p:spPr>
      </p:sp>
      <p:sp>
        <p:nvSpPr>
          <p:cNvPr id="21" name="Text 18"/>
          <p:cNvSpPr/>
          <p:nvPr/>
        </p:nvSpPr>
        <p:spPr>
          <a:xfrm>
            <a:off x="4023360" y="5093208"/>
            <a:ext cx="7498080" cy="384048"/>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Cost Efficient</a:t>
            </a:r>
            <a:endParaRPr lang="en-US" sz="1400" dirty="0"/>
          </a:p>
        </p:txBody>
      </p:sp>
      <p:sp>
        <p:nvSpPr>
          <p:cNvPr id="22" name="Text 19"/>
          <p:cNvSpPr/>
          <p:nvPr/>
        </p:nvSpPr>
        <p:spPr>
          <a:xfrm>
            <a:off x="4023360" y="5449824"/>
            <a:ext cx="7498080" cy="457200"/>
          </a:xfrm>
          <a:prstGeom prst="rect">
            <a:avLst/>
          </a:prstGeom>
          <a:noFill/>
          <a:ln/>
        </p:spPr>
        <p:txBody>
          <a:bodyPr wrap="square" rtlCol="0" anchor="ctr"/>
          <a:lstStyle/>
          <a:p>
            <a:pPr marL="0" indent="0">
              <a:buNone/>
            </a:pPr>
            <a:r>
              <a:rPr lang="en-US" sz="1150" dirty="0">
                <a:solidFill>
                  <a:srgbClr val="3A3F4B"/>
                </a:solidFill>
                <a:latin typeface="Calibri" pitchFamily="34" charset="0"/>
                <a:ea typeface="Calibri" pitchFamily="34" charset="-122"/>
                <a:cs typeface="Calibri" pitchFamily="34" charset="-120"/>
              </a:rPr>
              <a:t>Uses Spot Instances to cut processing costs</a:t>
            </a:r>
            <a:endParaRPr lang="en-US" sz="1150" dirty="0"/>
          </a:p>
        </p:txBody>
      </p:sp>
      <p:sp>
        <p:nvSpPr>
          <p:cNvPr id="24" name="Text 20"/>
          <p:cNvSpPr/>
          <p:nvPr/>
        </p:nvSpPr>
        <p:spPr>
          <a:xfrm>
            <a:off x="457200" y="6473952"/>
            <a:ext cx="5486400" cy="274320"/>
          </a:xfrm>
          <a:prstGeom prst="rect">
            <a:avLst/>
          </a:prstGeom>
          <a:noFill/>
          <a:ln/>
        </p:spPr>
        <p:txBody>
          <a:bodyPr wrap="square" rtlCol="0" anchor="ctr"/>
          <a:lstStyle/>
          <a:p>
            <a:pPr marL="0" indent="0" algn="l">
              <a:buNone/>
            </a:pPr>
            <a:r>
              <a:rPr lang="en-US" sz="900" dirty="0">
                <a:solidFill>
                  <a:srgbClr val="8A93A5"/>
                </a:solidFill>
                <a:latin typeface="Calibri" pitchFamily="34" charset="0"/>
                <a:ea typeface="Calibri" pitchFamily="34" charset="-122"/>
                <a:cs typeface="Calibri" pitchFamily="34" charset="-120"/>
              </a:rPr>
              <a:t>Data Engineering Virtual Internship</a:t>
            </a:r>
            <a:endParaRPr lang="en-US" sz="900" dirty="0"/>
          </a:p>
        </p:txBody>
      </p:sp>
      <p:sp>
        <p:nvSpPr>
          <p:cNvPr id="25" name="Text 21"/>
          <p:cNvSpPr/>
          <p:nvPr/>
        </p:nvSpPr>
        <p:spPr>
          <a:xfrm>
            <a:off x="11274552" y="6473952"/>
            <a:ext cx="548640" cy="274320"/>
          </a:xfrm>
          <a:prstGeom prst="rect">
            <a:avLst/>
          </a:prstGeom>
          <a:noFill/>
          <a:ln/>
        </p:spPr>
        <p:txBody>
          <a:bodyPr wrap="square" rtlCol="0" anchor="ctr"/>
          <a:lstStyle/>
          <a:p>
            <a:pPr marL="0" indent="0" algn="r">
              <a:buNone/>
            </a:pPr>
            <a:r>
              <a:rPr lang="en-US" sz="900" dirty="0">
                <a:solidFill>
                  <a:srgbClr val="8A93A5"/>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1554480" cy="329184"/>
          </a:xfrm>
          <a:prstGeom prst="roundRect">
            <a:avLst>
              <a:gd name="adj" fmla="val 50000"/>
            </a:avLst>
          </a:prstGeom>
          <a:solidFill>
            <a:srgbClr val="134074"/>
          </a:solidFill>
          <a:ln/>
        </p:spPr>
      </p:sp>
      <p:sp>
        <p:nvSpPr>
          <p:cNvPr id="3" name="Text 1"/>
          <p:cNvSpPr/>
          <p:nvPr/>
        </p:nvSpPr>
        <p:spPr>
          <a:xfrm>
            <a:off x="548640" y="502920"/>
            <a:ext cx="1554480" cy="329184"/>
          </a:xfrm>
          <a:prstGeom prst="rect">
            <a:avLst/>
          </a:prstGeom>
          <a:noFill/>
          <a:ln/>
        </p:spPr>
        <p:txBody>
          <a:bodyPr wrap="square"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SECTION 03</a:t>
            </a:r>
            <a:endParaRPr lang="en-US" sz="1100" dirty="0"/>
          </a:p>
        </p:txBody>
      </p:sp>
      <p:sp>
        <p:nvSpPr>
          <p:cNvPr id="4" name="Text 2"/>
          <p:cNvSpPr/>
          <p:nvPr/>
        </p:nvSpPr>
        <p:spPr>
          <a:xfrm>
            <a:off x="548640" y="914400"/>
            <a:ext cx="11064240" cy="822960"/>
          </a:xfrm>
          <a:prstGeom prst="rect">
            <a:avLst/>
          </a:prstGeom>
          <a:noFill/>
          <a:ln/>
        </p:spPr>
        <p:txBody>
          <a:bodyPr wrap="square" rtlCol="0" anchor="ctr"/>
          <a:lstStyle/>
          <a:p>
            <a:pPr marL="0" indent="0" algn="l">
              <a:buNone/>
            </a:pPr>
            <a:r>
              <a:rPr lang="en-US" sz="3000" b="1" dirty="0">
                <a:solidFill>
                  <a:srgbClr val="0B2545"/>
                </a:solidFill>
                <a:latin typeface="Calibri" pitchFamily="34" charset="0"/>
                <a:ea typeface="Calibri" pitchFamily="34" charset="-122"/>
                <a:cs typeface="Calibri" pitchFamily="34" charset="-120"/>
              </a:rPr>
              <a:t>Amazon Kinesis — Real-Time Streaming</a:t>
            </a:r>
            <a:endParaRPr lang="en-US" sz="3000" dirty="0"/>
          </a:p>
        </p:txBody>
      </p:sp>
      <p:sp>
        <p:nvSpPr>
          <p:cNvPr id="5" name="Text 3"/>
          <p:cNvSpPr/>
          <p:nvPr/>
        </p:nvSpPr>
        <p:spPr>
          <a:xfrm>
            <a:off x="548640" y="1600200"/>
            <a:ext cx="10515600" cy="457200"/>
          </a:xfrm>
          <a:prstGeom prst="rect">
            <a:avLst/>
          </a:prstGeom>
          <a:noFill/>
          <a:ln/>
        </p:spPr>
        <p:txBody>
          <a:bodyPr wrap="square" rtlCol="0" anchor="ctr"/>
          <a:lstStyle/>
          <a:p>
            <a:pPr marL="0" indent="0">
              <a:buNone/>
            </a:pPr>
            <a:r>
              <a:rPr lang="en-US" sz="1350" i="1" dirty="0">
                <a:solidFill>
                  <a:srgbClr val="3A3F4B"/>
                </a:solidFill>
                <a:latin typeface="Calibri" pitchFamily="34" charset="0"/>
                <a:ea typeface="Calibri" pitchFamily="34" charset="-122"/>
                <a:cs typeface="Calibri" pitchFamily="34" charset="-120"/>
              </a:rPr>
              <a:t>Captures and processes data the moment it's generated.</a:t>
            </a:r>
            <a:endParaRPr lang="en-US" sz="1350" dirty="0"/>
          </a:p>
        </p:txBody>
      </p:sp>
      <p:sp>
        <p:nvSpPr>
          <p:cNvPr id="6" name="Shape 4"/>
          <p:cNvSpPr/>
          <p:nvPr/>
        </p:nvSpPr>
        <p:spPr>
          <a:xfrm>
            <a:off x="548640" y="2286000"/>
            <a:ext cx="2926080" cy="3566160"/>
          </a:xfrm>
          <a:prstGeom prst="roundRect">
            <a:avLst>
              <a:gd name="adj" fmla="val 3125"/>
            </a:avLst>
          </a:prstGeom>
          <a:solidFill>
            <a:srgbClr val="0B2545"/>
          </a:solidFill>
          <a:ln/>
        </p:spPr>
      </p:sp>
      <p:sp>
        <p:nvSpPr>
          <p:cNvPr id="7" name="Shape 5"/>
          <p:cNvSpPr/>
          <p:nvPr/>
        </p:nvSpPr>
        <p:spPr>
          <a:xfrm>
            <a:off x="1463040" y="2697480"/>
            <a:ext cx="1097280" cy="1097280"/>
          </a:xfrm>
          <a:prstGeom prst="ellipse">
            <a:avLst/>
          </a:prstGeom>
          <a:solidFill>
            <a:srgbClr val="12335C"/>
          </a:solidFill>
          <a:ln/>
        </p:spPr>
      </p:sp>
      <p:pic>
        <p:nvPicPr>
          <p:cNvPr id="8" name="Image 0" descr="/home/claude/ppt/icons/lightning.png"/>
          <p:cNvPicPr>
            <a:picLocks noChangeAspect="1"/>
          </p:cNvPicPr>
          <p:nvPr/>
        </p:nvPicPr>
        <p:blipFill>
          <a:blip r:embed="rId3"/>
          <a:stretch>
            <a:fillRect/>
          </a:stretch>
        </p:blipFill>
        <p:spPr>
          <a:xfrm>
            <a:off x="1737360" y="2971800"/>
            <a:ext cx="548640" cy="548640"/>
          </a:xfrm>
          <a:prstGeom prst="rect">
            <a:avLst/>
          </a:prstGeom>
        </p:spPr>
      </p:pic>
      <p:sp>
        <p:nvSpPr>
          <p:cNvPr id="9" name="Text 6"/>
          <p:cNvSpPr/>
          <p:nvPr/>
        </p:nvSpPr>
        <p:spPr>
          <a:xfrm>
            <a:off x="548640" y="3886200"/>
            <a:ext cx="2926080" cy="594360"/>
          </a:xfrm>
          <a:prstGeom prst="rect">
            <a:avLst/>
          </a:prstGeom>
          <a:noFill/>
          <a:ln/>
        </p:spPr>
        <p:txBody>
          <a:bodyPr wrap="square" rtlCol="0" anchor="ctr"/>
          <a:lstStyle/>
          <a:p>
            <a:pPr marL="0" indent="0" algn="ctr">
              <a:buNone/>
            </a:pPr>
            <a:r>
              <a:rPr lang="en-US" sz="2600" b="1" dirty="0">
                <a:solidFill>
                  <a:srgbClr val="F5A623"/>
                </a:solidFill>
                <a:latin typeface="Calibri" pitchFamily="34" charset="0"/>
                <a:ea typeface="Calibri" pitchFamily="34" charset="-122"/>
                <a:cs typeface="Calibri" pitchFamily="34" charset="-120"/>
              </a:rPr>
              <a:t>KDS</a:t>
            </a:r>
            <a:endParaRPr lang="en-US" sz="2600" dirty="0"/>
          </a:p>
        </p:txBody>
      </p:sp>
      <p:sp>
        <p:nvSpPr>
          <p:cNvPr id="10" name="Text 7"/>
          <p:cNvSpPr/>
          <p:nvPr/>
        </p:nvSpPr>
        <p:spPr>
          <a:xfrm>
            <a:off x="548640" y="4480560"/>
            <a:ext cx="2926080" cy="365760"/>
          </a:xfrm>
          <a:prstGeom prst="rect">
            <a:avLst/>
          </a:prstGeom>
          <a:noFill/>
          <a:ln/>
        </p:spPr>
        <p:txBody>
          <a:bodyPr wrap="square" rtlCol="0" anchor="ctr"/>
          <a:lstStyle/>
          <a:p>
            <a:pPr marL="0" indent="0" algn="ctr">
              <a:buNone/>
            </a:pPr>
            <a:r>
              <a:rPr lang="en-US" sz="1000" kern="0" spc="200" dirty="0">
                <a:solidFill>
                  <a:srgbClr val="9AA6BF"/>
                </a:solidFill>
                <a:latin typeface="Calibri" pitchFamily="34" charset="0"/>
                <a:ea typeface="Calibri" pitchFamily="34" charset="-122"/>
                <a:cs typeface="Calibri" pitchFamily="34" charset="-120"/>
              </a:rPr>
              <a:t>AWS SERVICE</a:t>
            </a:r>
            <a:endParaRPr lang="en-US" sz="1000" dirty="0"/>
          </a:p>
        </p:txBody>
      </p:sp>
      <p:sp>
        <p:nvSpPr>
          <p:cNvPr id="11" name="Shape 8"/>
          <p:cNvSpPr/>
          <p:nvPr/>
        </p:nvSpPr>
        <p:spPr>
          <a:xfrm>
            <a:off x="3794760" y="2377440"/>
            <a:ext cx="91440" cy="777240"/>
          </a:xfrm>
          <a:prstGeom prst="roundRect">
            <a:avLst/>
          </a:prstGeom>
          <a:solidFill>
            <a:srgbClr val="F5A623"/>
          </a:solidFill>
          <a:ln/>
        </p:spPr>
      </p:sp>
      <p:sp>
        <p:nvSpPr>
          <p:cNvPr id="12" name="Text 9"/>
          <p:cNvSpPr/>
          <p:nvPr/>
        </p:nvSpPr>
        <p:spPr>
          <a:xfrm>
            <a:off x="4023360" y="2350008"/>
            <a:ext cx="7498080" cy="384048"/>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Continuous Ingestion</a:t>
            </a:r>
            <a:endParaRPr lang="en-US" sz="1400" dirty="0"/>
          </a:p>
        </p:txBody>
      </p:sp>
      <p:sp>
        <p:nvSpPr>
          <p:cNvPr id="13" name="Text 10"/>
          <p:cNvSpPr/>
          <p:nvPr/>
        </p:nvSpPr>
        <p:spPr>
          <a:xfrm>
            <a:off x="4023360" y="2706624"/>
            <a:ext cx="7498080" cy="457200"/>
          </a:xfrm>
          <a:prstGeom prst="rect">
            <a:avLst/>
          </a:prstGeom>
          <a:noFill/>
          <a:ln/>
        </p:spPr>
        <p:txBody>
          <a:bodyPr wrap="square" rtlCol="0" anchor="ctr"/>
          <a:lstStyle/>
          <a:p>
            <a:pPr marL="0" indent="0">
              <a:buNone/>
            </a:pPr>
            <a:r>
              <a:rPr lang="en-US" sz="1150" dirty="0">
                <a:solidFill>
                  <a:srgbClr val="3A3F4B"/>
                </a:solidFill>
                <a:latin typeface="Calibri" pitchFamily="34" charset="0"/>
                <a:ea typeface="Calibri" pitchFamily="34" charset="-122"/>
                <a:cs typeface="Calibri" pitchFamily="34" charset="-120"/>
              </a:rPr>
              <a:t>Streams data in real time from thousands of sources</a:t>
            </a:r>
            <a:endParaRPr lang="en-US" sz="1150" dirty="0"/>
          </a:p>
        </p:txBody>
      </p:sp>
      <p:sp>
        <p:nvSpPr>
          <p:cNvPr id="14" name="Shape 11"/>
          <p:cNvSpPr/>
          <p:nvPr/>
        </p:nvSpPr>
        <p:spPr>
          <a:xfrm>
            <a:off x="3794760" y="3291840"/>
            <a:ext cx="91440" cy="777240"/>
          </a:xfrm>
          <a:prstGeom prst="roundRect">
            <a:avLst/>
          </a:prstGeom>
          <a:solidFill>
            <a:srgbClr val="F5A623"/>
          </a:solidFill>
          <a:ln/>
        </p:spPr>
      </p:sp>
      <p:sp>
        <p:nvSpPr>
          <p:cNvPr id="15" name="Text 12"/>
          <p:cNvSpPr/>
          <p:nvPr/>
        </p:nvSpPr>
        <p:spPr>
          <a:xfrm>
            <a:off x="4023360" y="3264408"/>
            <a:ext cx="7498080" cy="384048"/>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Low Latency</a:t>
            </a:r>
            <a:endParaRPr lang="en-US" sz="1400" dirty="0"/>
          </a:p>
        </p:txBody>
      </p:sp>
      <p:sp>
        <p:nvSpPr>
          <p:cNvPr id="16" name="Text 13"/>
          <p:cNvSpPr/>
          <p:nvPr/>
        </p:nvSpPr>
        <p:spPr>
          <a:xfrm>
            <a:off x="4023360" y="3621024"/>
            <a:ext cx="7498080" cy="457200"/>
          </a:xfrm>
          <a:prstGeom prst="rect">
            <a:avLst/>
          </a:prstGeom>
          <a:noFill/>
          <a:ln/>
        </p:spPr>
        <p:txBody>
          <a:bodyPr wrap="square" rtlCol="0" anchor="ctr"/>
          <a:lstStyle/>
          <a:p>
            <a:pPr marL="0" indent="0">
              <a:buNone/>
            </a:pPr>
            <a:r>
              <a:rPr lang="en-US" sz="1150" dirty="0">
                <a:solidFill>
                  <a:srgbClr val="3A3F4B"/>
                </a:solidFill>
                <a:latin typeface="Calibri" pitchFamily="34" charset="0"/>
                <a:ea typeface="Calibri" pitchFamily="34" charset="-122"/>
                <a:cs typeface="Calibri" pitchFamily="34" charset="-120"/>
              </a:rPr>
              <a:t>Processes records within seconds of arrival</a:t>
            </a:r>
            <a:endParaRPr lang="en-US" sz="1150" dirty="0"/>
          </a:p>
        </p:txBody>
      </p:sp>
      <p:sp>
        <p:nvSpPr>
          <p:cNvPr id="17" name="Shape 14"/>
          <p:cNvSpPr/>
          <p:nvPr/>
        </p:nvSpPr>
        <p:spPr>
          <a:xfrm>
            <a:off x="3794760" y="4206240"/>
            <a:ext cx="91440" cy="777240"/>
          </a:xfrm>
          <a:prstGeom prst="roundRect">
            <a:avLst/>
          </a:prstGeom>
          <a:solidFill>
            <a:srgbClr val="F5A623"/>
          </a:solidFill>
          <a:ln/>
        </p:spPr>
      </p:sp>
      <p:sp>
        <p:nvSpPr>
          <p:cNvPr id="18" name="Text 15"/>
          <p:cNvSpPr/>
          <p:nvPr/>
        </p:nvSpPr>
        <p:spPr>
          <a:xfrm>
            <a:off x="4023360" y="4178808"/>
            <a:ext cx="7498080" cy="384048"/>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Use Cases</a:t>
            </a:r>
            <a:endParaRPr lang="en-US" sz="1400" dirty="0"/>
          </a:p>
        </p:txBody>
      </p:sp>
      <p:sp>
        <p:nvSpPr>
          <p:cNvPr id="19" name="Text 16"/>
          <p:cNvSpPr/>
          <p:nvPr/>
        </p:nvSpPr>
        <p:spPr>
          <a:xfrm>
            <a:off x="4023360" y="4535424"/>
            <a:ext cx="7498080" cy="457200"/>
          </a:xfrm>
          <a:prstGeom prst="rect">
            <a:avLst/>
          </a:prstGeom>
          <a:noFill/>
          <a:ln/>
        </p:spPr>
        <p:txBody>
          <a:bodyPr wrap="square" rtlCol="0" anchor="ctr"/>
          <a:lstStyle/>
          <a:p>
            <a:pPr marL="0" indent="0">
              <a:buNone/>
            </a:pPr>
            <a:r>
              <a:rPr lang="en-US" sz="1150" dirty="0">
                <a:solidFill>
                  <a:srgbClr val="3A3F4B"/>
                </a:solidFill>
                <a:latin typeface="Calibri" pitchFamily="34" charset="0"/>
                <a:ea typeface="Calibri" pitchFamily="34" charset="-122"/>
                <a:cs typeface="Calibri" pitchFamily="34" charset="-120"/>
              </a:rPr>
              <a:t>Clickstreams, IoT telemetry, log &amp; metric monitoring</a:t>
            </a:r>
            <a:endParaRPr lang="en-US" sz="1150" dirty="0"/>
          </a:p>
        </p:txBody>
      </p:sp>
      <p:sp>
        <p:nvSpPr>
          <p:cNvPr id="20" name="Shape 17"/>
          <p:cNvSpPr/>
          <p:nvPr/>
        </p:nvSpPr>
        <p:spPr>
          <a:xfrm>
            <a:off x="3794760" y="5120640"/>
            <a:ext cx="91440" cy="777240"/>
          </a:xfrm>
          <a:prstGeom prst="roundRect">
            <a:avLst/>
          </a:prstGeom>
          <a:solidFill>
            <a:srgbClr val="F5A623"/>
          </a:solidFill>
          <a:ln/>
        </p:spPr>
      </p:sp>
      <p:sp>
        <p:nvSpPr>
          <p:cNvPr id="21" name="Text 18"/>
          <p:cNvSpPr/>
          <p:nvPr/>
        </p:nvSpPr>
        <p:spPr>
          <a:xfrm>
            <a:off x="4023360" y="5093208"/>
            <a:ext cx="7498080" cy="384048"/>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Pairs with Lambda</a:t>
            </a:r>
            <a:endParaRPr lang="en-US" sz="1400" dirty="0"/>
          </a:p>
        </p:txBody>
      </p:sp>
      <p:sp>
        <p:nvSpPr>
          <p:cNvPr id="22" name="Text 19"/>
          <p:cNvSpPr/>
          <p:nvPr/>
        </p:nvSpPr>
        <p:spPr>
          <a:xfrm>
            <a:off x="4023360" y="5449824"/>
            <a:ext cx="7498080" cy="457200"/>
          </a:xfrm>
          <a:prstGeom prst="rect">
            <a:avLst/>
          </a:prstGeom>
          <a:noFill/>
          <a:ln/>
        </p:spPr>
        <p:txBody>
          <a:bodyPr wrap="square" rtlCol="0" anchor="ctr"/>
          <a:lstStyle/>
          <a:p>
            <a:pPr marL="0" indent="0">
              <a:buNone/>
            </a:pPr>
            <a:r>
              <a:rPr lang="en-US" sz="1150" dirty="0">
                <a:solidFill>
                  <a:srgbClr val="3A3F4B"/>
                </a:solidFill>
                <a:latin typeface="Calibri" pitchFamily="34" charset="0"/>
                <a:ea typeface="Calibri" pitchFamily="34" charset="-122"/>
                <a:cs typeface="Calibri" pitchFamily="34" charset="-120"/>
              </a:rPr>
              <a:t>Triggers serverless functions on incoming events</a:t>
            </a:r>
            <a:endParaRPr lang="en-US" sz="1150" dirty="0"/>
          </a:p>
        </p:txBody>
      </p:sp>
      <p:sp>
        <p:nvSpPr>
          <p:cNvPr id="24" name="Text 20"/>
          <p:cNvSpPr/>
          <p:nvPr/>
        </p:nvSpPr>
        <p:spPr>
          <a:xfrm>
            <a:off x="457200" y="6473952"/>
            <a:ext cx="5486400" cy="274320"/>
          </a:xfrm>
          <a:prstGeom prst="rect">
            <a:avLst/>
          </a:prstGeom>
          <a:noFill/>
          <a:ln/>
        </p:spPr>
        <p:txBody>
          <a:bodyPr wrap="square" rtlCol="0" anchor="ctr"/>
          <a:lstStyle/>
          <a:p>
            <a:pPr marL="0" indent="0" algn="l">
              <a:buNone/>
            </a:pPr>
            <a:r>
              <a:rPr lang="en-US" sz="900" dirty="0">
                <a:solidFill>
                  <a:srgbClr val="8A93A5"/>
                </a:solidFill>
                <a:latin typeface="Calibri" pitchFamily="34" charset="0"/>
                <a:ea typeface="Calibri" pitchFamily="34" charset="-122"/>
                <a:cs typeface="Calibri" pitchFamily="34" charset="-120"/>
              </a:rPr>
              <a:t>Data Engineering Virtual Internship</a:t>
            </a:r>
            <a:endParaRPr lang="en-US" sz="900" dirty="0"/>
          </a:p>
        </p:txBody>
      </p:sp>
      <p:sp>
        <p:nvSpPr>
          <p:cNvPr id="25" name="Text 21"/>
          <p:cNvSpPr/>
          <p:nvPr/>
        </p:nvSpPr>
        <p:spPr>
          <a:xfrm>
            <a:off x="11274552" y="6473952"/>
            <a:ext cx="548640" cy="274320"/>
          </a:xfrm>
          <a:prstGeom prst="rect">
            <a:avLst/>
          </a:prstGeom>
          <a:noFill/>
          <a:ln/>
        </p:spPr>
        <p:txBody>
          <a:bodyPr wrap="square" rtlCol="0" anchor="ctr"/>
          <a:lstStyle/>
          <a:p>
            <a:pPr marL="0" indent="0" algn="r">
              <a:buNone/>
            </a:pPr>
            <a:r>
              <a:rPr lang="en-US" sz="900" dirty="0">
                <a:solidFill>
                  <a:srgbClr val="8A93A5"/>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548640" y="502920"/>
            <a:ext cx="1554480" cy="329184"/>
          </a:xfrm>
          <a:prstGeom prst="roundRect">
            <a:avLst>
              <a:gd name="adj" fmla="val 50000"/>
            </a:avLst>
          </a:prstGeom>
          <a:solidFill>
            <a:srgbClr val="F5A623"/>
          </a:solidFill>
          <a:ln/>
        </p:spPr>
      </p:sp>
      <p:sp>
        <p:nvSpPr>
          <p:cNvPr id="3" name="Text 1"/>
          <p:cNvSpPr/>
          <p:nvPr/>
        </p:nvSpPr>
        <p:spPr>
          <a:xfrm>
            <a:off x="548640" y="502920"/>
            <a:ext cx="1554480" cy="329184"/>
          </a:xfrm>
          <a:prstGeom prst="rect">
            <a:avLst/>
          </a:prstGeom>
          <a:noFill/>
          <a:ln/>
        </p:spPr>
        <p:txBody>
          <a:bodyPr wrap="square" rtlCol="0" anchor="ctr"/>
          <a:lstStyle/>
          <a:p>
            <a:pPr marL="0" indent="0" algn="ctr">
              <a:buNone/>
            </a:pPr>
            <a:r>
              <a:rPr lang="en-US" sz="1100" b="1" kern="0" spc="100" dirty="0">
                <a:solidFill>
                  <a:srgbClr val="081B33"/>
                </a:solidFill>
                <a:latin typeface="Calibri" pitchFamily="34" charset="0"/>
                <a:ea typeface="Calibri" pitchFamily="34" charset="-122"/>
                <a:cs typeface="Calibri" pitchFamily="34" charset="-120"/>
              </a:rPr>
              <a:t>SECTION 04</a:t>
            </a:r>
            <a:endParaRPr lang="en-US" sz="1100" dirty="0"/>
          </a:p>
        </p:txBody>
      </p:sp>
      <p:sp>
        <p:nvSpPr>
          <p:cNvPr id="4" name="Text 2"/>
          <p:cNvSpPr/>
          <p:nvPr/>
        </p:nvSpPr>
        <p:spPr>
          <a:xfrm>
            <a:off x="548640" y="914400"/>
            <a:ext cx="11064240" cy="822960"/>
          </a:xfrm>
          <a:prstGeom prst="rect">
            <a:avLst/>
          </a:prstGeom>
          <a:noFill/>
          <a:ln/>
        </p:spPr>
        <p:txBody>
          <a:bodyPr wrap="square"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Data Lakes &amp; Governance</a:t>
            </a:r>
            <a:endParaRPr lang="en-US" sz="3000" dirty="0"/>
          </a:p>
        </p:txBody>
      </p:sp>
      <p:sp>
        <p:nvSpPr>
          <p:cNvPr id="5" name="Shape 3"/>
          <p:cNvSpPr/>
          <p:nvPr/>
        </p:nvSpPr>
        <p:spPr>
          <a:xfrm>
            <a:off x="548640" y="1920240"/>
            <a:ext cx="5120640" cy="3931920"/>
          </a:xfrm>
          <a:prstGeom prst="roundRect">
            <a:avLst>
              <a:gd name="adj" fmla="val 2326"/>
            </a:avLst>
          </a:prstGeom>
          <a:solidFill>
            <a:srgbClr val="134074"/>
          </a:solidFill>
          <a:ln/>
        </p:spPr>
      </p:sp>
      <p:sp>
        <p:nvSpPr>
          <p:cNvPr id="6" name="Shape 4"/>
          <p:cNvSpPr/>
          <p:nvPr/>
        </p:nvSpPr>
        <p:spPr>
          <a:xfrm>
            <a:off x="822960" y="2148840"/>
            <a:ext cx="566928" cy="566928"/>
          </a:xfrm>
          <a:prstGeom prst="roundRect">
            <a:avLst>
              <a:gd name="adj" fmla="val 20968"/>
            </a:avLst>
          </a:prstGeom>
          <a:solidFill>
            <a:srgbClr val="0F2D52"/>
          </a:solidFill>
          <a:ln/>
        </p:spPr>
      </p:sp>
      <p:pic>
        <p:nvPicPr>
          <p:cNvPr id="7" name="Image 0" descr="/home/claude/ppt/icons/layers.png"/>
          <p:cNvPicPr>
            <a:picLocks noChangeAspect="1"/>
          </p:cNvPicPr>
          <p:nvPr/>
        </p:nvPicPr>
        <p:blipFill>
          <a:blip r:embed="rId3"/>
          <a:stretch>
            <a:fillRect/>
          </a:stretch>
        </p:blipFill>
        <p:spPr>
          <a:xfrm>
            <a:off x="950519" y="2276399"/>
            <a:ext cx="311810" cy="311810"/>
          </a:xfrm>
          <a:prstGeom prst="rect">
            <a:avLst/>
          </a:prstGeom>
        </p:spPr>
      </p:pic>
      <p:sp>
        <p:nvSpPr>
          <p:cNvPr id="8" name="Text 5"/>
          <p:cNvSpPr/>
          <p:nvPr/>
        </p:nvSpPr>
        <p:spPr>
          <a:xfrm>
            <a:off x="1508760" y="2148840"/>
            <a:ext cx="3931920" cy="566928"/>
          </a:xfrm>
          <a:prstGeom prst="rect">
            <a:avLst/>
          </a:prstGeom>
          <a:noFill/>
          <a:ln/>
        </p:spPr>
        <p:txBody>
          <a:bodyPr wrap="square" rtlCol="0" anchor="ctr"/>
          <a:lstStyle/>
          <a:p>
            <a:pPr marL="0" indent="0">
              <a:buNone/>
            </a:pPr>
            <a:r>
              <a:rPr lang="en-US" sz="1800" b="1" dirty="0">
                <a:solidFill>
                  <a:srgbClr val="F5A623"/>
                </a:solidFill>
                <a:latin typeface="Calibri" pitchFamily="34" charset="0"/>
                <a:ea typeface="Calibri" pitchFamily="34" charset="-122"/>
                <a:cs typeface="Calibri" pitchFamily="34" charset="-120"/>
              </a:rPr>
              <a:t>Data Lake</a:t>
            </a:r>
            <a:endParaRPr lang="en-US" sz="1800" dirty="0"/>
          </a:p>
        </p:txBody>
      </p:sp>
      <p:sp>
        <p:nvSpPr>
          <p:cNvPr id="9" name="Text 6"/>
          <p:cNvSpPr/>
          <p:nvPr/>
        </p:nvSpPr>
        <p:spPr>
          <a:xfrm>
            <a:off x="822960" y="2880360"/>
            <a:ext cx="4572000" cy="1005840"/>
          </a:xfrm>
          <a:prstGeom prst="rect">
            <a:avLst/>
          </a:prstGeom>
          <a:noFill/>
          <a:ln/>
        </p:spPr>
        <p:txBody>
          <a:bodyPr wrap="square" rtlCol="0" anchor="ctr"/>
          <a:lstStyle/>
          <a:p>
            <a:pPr marL="0" indent="0">
              <a:lnSpc>
                <a:spcPts val="1700"/>
              </a:lnSpc>
              <a:buNone/>
            </a:pPr>
            <a:r>
              <a:rPr lang="en-US" sz="1250" dirty="0">
                <a:solidFill>
                  <a:srgbClr val="E4EAF4"/>
                </a:solidFill>
                <a:latin typeface="Calibri" pitchFamily="34" charset="0"/>
                <a:ea typeface="Calibri" pitchFamily="34" charset="-122"/>
                <a:cs typeface="Calibri" pitchFamily="34" charset="-120"/>
              </a:rPr>
              <a:t>A centralised repository that stores structured and unstructured data at any scale, in its native format, until it's needed.</a:t>
            </a:r>
            <a:endParaRPr lang="en-US" sz="1250" dirty="0"/>
          </a:p>
        </p:txBody>
      </p:sp>
      <p:sp>
        <p:nvSpPr>
          <p:cNvPr id="10" name="Text 7"/>
          <p:cNvSpPr/>
          <p:nvPr/>
        </p:nvSpPr>
        <p:spPr>
          <a:xfrm>
            <a:off x="822960" y="3977640"/>
            <a:ext cx="4572000" cy="457200"/>
          </a:xfrm>
          <a:prstGeom prst="rect">
            <a:avLst/>
          </a:prstGeom>
          <a:noFill/>
          <a:ln/>
        </p:spPr>
        <p:txBody>
          <a:bodyPr wrap="square" rtlCol="0" anchor="ctr"/>
          <a:lstStyle/>
          <a:p>
            <a:pPr marL="0" indent="0">
              <a:buNone/>
            </a:pPr>
            <a:r>
              <a:rPr lang="en-US" sz="1200" dirty="0">
                <a:solidFill>
                  <a:srgbClr val="E4EAF4"/>
                </a:solidFill>
                <a:latin typeface="Calibri" pitchFamily="34" charset="0"/>
                <a:ea typeface="Calibri" pitchFamily="34" charset="-122"/>
                <a:cs typeface="Calibri" pitchFamily="34" charset="-120"/>
              </a:rPr>
              <a:t>•  Raw zone for unprocessed data</a:t>
            </a:r>
            <a:endParaRPr lang="en-US" sz="1200" dirty="0"/>
          </a:p>
        </p:txBody>
      </p:sp>
      <p:sp>
        <p:nvSpPr>
          <p:cNvPr id="11" name="Text 8"/>
          <p:cNvSpPr/>
          <p:nvPr/>
        </p:nvSpPr>
        <p:spPr>
          <a:xfrm>
            <a:off x="822960" y="4480560"/>
            <a:ext cx="4572000" cy="457200"/>
          </a:xfrm>
          <a:prstGeom prst="rect">
            <a:avLst/>
          </a:prstGeom>
          <a:noFill/>
          <a:ln/>
        </p:spPr>
        <p:txBody>
          <a:bodyPr wrap="square" rtlCol="0" anchor="ctr"/>
          <a:lstStyle/>
          <a:p>
            <a:pPr marL="0" indent="0">
              <a:buNone/>
            </a:pPr>
            <a:r>
              <a:rPr lang="en-US" sz="1200" dirty="0">
                <a:solidFill>
                  <a:srgbClr val="E4EAF4"/>
                </a:solidFill>
                <a:latin typeface="Calibri" pitchFamily="34" charset="0"/>
                <a:ea typeface="Calibri" pitchFamily="34" charset="-122"/>
                <a:cs typeface="Calibri" pitchFamily="34" charset="-120"/>
              </a:rPr>
              <a:t>•  Curated zone for cleaned datasets</a:t>
            </a:r>
            <a:endParaRPr lang="en-US" sz="1200" dirty="0"/>
          </a:p>
        </p:txBody>
      </p:sp>
      <p:sp>
        <p:nvSpPr>
          <p:cNvPr id="12" name="Text 9"/>
          <p:cNvSpPr/>
          <p:nvPr/>
        </p:nvSpPr>
        <p:spPr>
          <a:xfrm>
            <a:off x="822960" y="4983480"/>
            <a:ext cx="4572000" cy="457200"/>
          </a:xfrm>
          <a:prstGeom prst="rect">
            <a:avLst/>
          </a:prstGeom>
          <a:noFill/>
          <a:ln/>
        </p:spPr>
        <p:txBody>
          <a:bodyPr wrap="square" rtlCol="0" anchor="ctr"/>
          <a:lstStyle/>
          <a:p>
            <a:pPr marL="0" indent="0">
              <a:buNone/>
            </a:pPr>
            <a:r>
              <a:rPr lang="en-US" sz="1200" dirty="0">
                <a:solidFill>
                  <a:srgbClr val="E4EAF4"/>
                </a:solidFill>
                <a:latin typeface="Calibri" pitchFamily="34" charset="0"/>
                <a:ea typeface="Calibri" pitchFamily="34" charset="-122"/>
                <a:cs typeface="Calibri" pitchFamily="34" charset="-120"/>
              </a:rPr>
              <a:t>•  Built on Amazon S3 storage</a:t>
            </a:r>
            <a:endParaRPr lang="en-US" sz="1200" dirty="0"/>
          </a:p>
        </p:txBody>
      </p:sp>
      <p:sp>
        <p:nvSpPr>
          <p:cNvPr id="13" name="Shape 10"/>
          <p:cNvSpPr/>
          <p:nvPr/>
        </p:nvSpPr>
        <p:spPr>
          <a:xfrm>
            <a:off x="5943600" y="1920240"/>
            <a:ext cx="5669280" cy="3931920"/>
          </a:xfrm>
          <a:prstGeom prst="roundRect">
            <a:avLst>
              <a:gd name="adj" fmla="val 2326"/>
            </a:avLst>
          </a:prstGeom>
          <a:solidFill>
            <a:srgbClr val="0F2D52"/>
          </a:solidFill>
          <a:ln/>
        </p:spPr>
      </p:sp>
      <p:sp>
        <p:nvSpPr>
          <p:cNvPr id="14" name="Shape 11"/>
          <p:cNvSpPr/>
          <p:nvPr/>
        </p:nvSpPr>
        <p:spPr>
          <a:xfrm>
            <a:off x="6217920" y="2148840"/>
            <a:ext cx="566928" cy="566928"/>
          </a:xfrm>
          <a:prstGeom prst="roundRect">
            <a:avLst>
              <a:gd name="adj" fmla="val 20968"/>
            </a:avLst>
          </a:prstGeom>
          <a:solidFill>
            <a:srgbClr val="134074"/>
          </a:solidFill>
          <a:ln/>
        </p:spPr>
      </p:sp>
      <p:pic>
        <p:nvPicPr>
          <p:cNvPr id="15" name="Image 1" descr="/home/claude/ppt/icons/shield.png"/>
          <p:cNvPicPr>
            <a:picLocks noChangeAspect="1"/>
          </p:cNvPicPr>
          <p:nvPr/>
        </p:nvPicPr>
        <p:blipFill>
          <a:blip r:embed="rId4"/>
          <a:stretch>
            <a:fillRect/>
          </a:stretch>
        </p:blipFill>
        <p:spPr>
          <a:xfrm>
            <a:off x="6345479" y="2276399"/>
            <a:ext cx="311810" cy="311810"/>
          </a:xfrm>
          <a:prstGeom prst="rect">
            <a:avLst/>
          </a:prstGeom>
        </p:spPr>
      </p:pic>
      <p:sp>
        <p:nvSpPr>
          <p:cNvPr id="16" name="Text 12"/>
          <p:cNvSpPr/>
          <p:nvPr/>
        </p:nvSpPr>
        <p:spPr>
          <a:xfrm>
            <a:off x="6903720" y="2148840"/>
            <a:ext cx="4572000" cy="566928"/>
          </a:xfrm>
          <a:prstGeom prst="rect">
            <a:avLst/>
          </a:prstGeom>
          <a:noFill/>
          <a:ln/>
        </p:spPr>
        <p:txBody>
          <a:bodyPr wrap="square" rtlCol="0" anchor="ctr"/>
          <a:lstStyle/>
          <a:p>
            <a:pPr marL="0" indent="0">
              <a:buNone/>
            </a:pPr>
            <a:r>
              <a:rPr lang="en-US" sz="1800" b="1" dirty="0">
                <a:solidFill>
                  <a:srgbClr val="F5A623"/>
                </a:solidFill>
                <a:latin typeface="Calibri" pitchFamily="34" charset="0"/>
                <a:ea typeface="Calibri" pitchFamily="34" charset="-122"/>
                <a:cs typeface="Calibri" pitchFamily="34" charset="-120"/>
              </a:rPr>
              <a:t>Governance &amp; Security</a:t>
            </a:r>
            <a:endParaRPr lang="en-US" sz="1800" dirty="0"/>
          </a:p>
        </p:txBody>
      </p:sp>
      <p:sp>
        <p:nvSpPr>
          <p:cNvPr id="17" name="Text 13"/>
          <p:cNvSpPr/>
          <p:nvPr/>
        </p:nvSpPr>
        <p:spPr>
          <a:xfrm>
            <a:off x="6217920" y="2926080"/>
            <a:ext cx="1828800"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IAM</a:t>
            </a:r>
            <a:endParaRPr lang="en-US" sz="1300" dirty="0"/>
          </a:p>
        </p:txBody>
      </p:sp>
      <p:sp>
        <p:nvSpPr>
          <p:cNvPr id="18" name="Text 14"/>
          <p:cNvSpPr/>
          <p:nvPr/>
        </p:nvSpPr>
        <p:spPr>
          <a:xfrm>
            <a:off x="6217920" y="3236976"/>
            <a:ext cx="5120640" cy="365760"/>
          </a:xfrm>
          <a:prstGeom prst="rect">
            <a:avLst/>
          </a:prstGeom>
          <a:noFill/>
          <a:ln/>
        </p:spPr>
        <p:txBody>
          <a:bodyPr wrap="square" rtlCol="0" anchor="ctr"/>
          <a:lstStyle/>
          <a:p>
            <a:pPr marL="0" indent="0">
              <a:buNone/>
            </a:pPr>
            <a:r>
              <a:rPr lang="en-US" sz="1100" dirty="0">
                <a:solidFill>
                  <a:srgbClr val="C7D2E3"/>
                </a:solidFill>
                <a:latin typeface="Calibri" pitchFamily="34" charset="0"/>
                <a:ea typeface="Calibri" pitchFamily="34" charset="-122"/>
                <a:cs typeface="Calibri" pitchFamily="34" charset="-120"/>
              </a:rPr>
              <a:t>Fine-grained identity &amp; access management</a:t>
            </a:r>
            <a:endParaRPr lang="en-US" sz="1100" dirty="0"/>
          </a:p>
        </p:txBody>
      </p:sp>
      <p:sp>
        <p:nvSpPr>
          <p:cNvPr id="19" name="Text 15"/>
          <p:cNvSpPr/>
          <p:nvPr/>
        </p:nvSpPr>
        <p:spPr>
          <a:xfrm>
            <a:off x="6217920" y="3675888"/>
            <a:ext cx="1828800"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Encryption</a:t>
            </a:r>
            <a:endParaRPr lang="en-US" sz="1300" dirty="0"/>
          </a:p>
        </p:txBody>
      </p:sp>
      <p:sp>
        <p:nvSpPr>
          <p:cNvPr id="20" name="Text 16"/>
          <p:cNvSpPr/>
          <p:nvPr/>
        </p:nvSpPr>
        <p:spPr>
          <a:xfrm>
            <a:off x="6217920" y="3986784"/>
            <a:ext cx="5120640" cy="365760"/>
          </a:xfrm>
          <a:prstGeom prst="rect">
            <a:avLst/>
          </a:prstGeom>
          <a:noFill/>
          <a:ln/>
        </p:spPr>
        <p:txBody>
          <a:bodyPr wrap="square" rtlCol="0" anchor="ctr"/>
          <a:lstStyle/>
          <a:p>
            <a:pPr marL="0" indent="0">
              <a:buNone/>
            </a:pPr>
            <a:r>
              <a:rPr lang="en-US" sz="1100" dirty="0">
                <a:solidFill>
                  <a:srgbClr val="C7D2E3"/>
                </a:solidFill>
                <a:latin typeface="Calibri" pitchFamily="34" charset="0"/>
                <a:ea typeface="Calibri" pitchFamily="34" charset="-122"/>
                <a:cs typeface="Calibri" pitchFamily="34" charset="-120"/>
              </a:rPr>
              <a:t>Data protected at rest and in transit</a:t>
            </a:r>
            <a:endParaRPr lang="en-US" sz="1100" dirty="0"/>
          </a:p>
        </p:txBody>
      </p:sp>
      <p:sp>
        <p:nvSpPr>
          <p:cNvPr id="21" name="Text 17"/>
          <p:cNvSpPr/>
          <p:nvPr/>
        </p:nvSpPr>
        <p:spPr>
          <a:xfrm>
            <a:off x="6217920" y="4425696"/>
            <a:ext cx="1828800"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Data Catalog</a:t>
            </a:r>
            <a:endParaRPr lang="en-US" sz="1300" dirty="0"/>
          </a:p>
        </p:txBody>
      </p:sp>
      <p:sp>
        <p:nvSpPr>
          <p:cNvPr id="22" name="Text 18"/>
          <p:cNvSpPr/>
          <p:nvPr/>
        </p:nvSpPr>
        <p:spPr>
          <a:xfrm>
            <a:off x="6217920" y="4736592"/>
            <a:ext cx="5120640" cy="365760"/>
          </a:xfrm>
          <a:prstGeom prst="rect">
            <a:avLst/>
          </a:prstGeom>
          <a:noFill/>
          <a:ln/>
        </p:spPr>
        <p:txBody>
          <a:bodyPr wrap="square" rtlCol="0" anchor="ctr"/>
          <a:lstStyle/>
          <a:p>
            <a:pPr marL="0" indent="0">
              <a:buNone/>
            </a:pPr>
            <a:r>
              <a:rPr lang="en-US" sz="1100" dirty="0">
                <a:solidFill>
                  <a:srgbClr val="C7D2E3"/>
                </a:solidFill>
                <a:latin typeface="Calibri" pitchFamily="34" charset="0"/>
                <a:ea typeface="Calibri" pitchFamily="34" charset="-122"/>
                <a:cs typeface="Calibri" pitchFamily="34" charset="-120"/>
              </a:rPr>
              <a:t>Central metadata for discoverability</a:t>
            </a:r>
            <a:endParaRPr lang="en-US" sz="1100" dirty="0"/>
          </a:p>
        </p:txBody>
      </p:sp>
      <p:sp>
        <p:nvSpPr>
          <p:cNvPr id="23" name="Text 19"/>
          <p:cNvSpPr/>
          <p:nvPr/>
        </p:nvSpPr>
        <p:spPr>
          <a:xfrm>
            <a:off x="6217920" y="5175504"/>
            <a:ext cx="1828800"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Compliance</a:t>
            </a:r>
            <a:endParaRPr lang="en-US" sz="1300" dirty="0"/>
          </a:p>
        </p:txBody>
      </p:sp>
      <p:sp>
        <p:nvSpPr>
          <p:cNvPr id="24" name="Text 20"/>
          <p:cNvSpPr/>
          <p:nvPr/>
        </p:nvSpPr>
        <p:spPr>
          <a:xfrm>
            <a:off x="6217920" y="5486400"/>
            <a:ext cx="5120640" cy="365760"/>
          </a:xfrm>
          <a:prstGeom prst="rect">
            <a:avLst/>
          </a:prstGeom>
          <a:noFill/>
          <a:ln/>
        </p:spPr>
        <p:txBody>
          <a:bodyPr wrap="square" rtlCol="0" anchor="ctr"/>
          <a:lstStyle/>
          <a:p>
            <a:pPr marL="0" indent="0">
              <a:buNone/>
            </a:pPr>
            <a:r>
              <a:rPr lang="en-US" sz="1100" dirty="0">
                <a:solidFill>
                  <a:srgbClr val="C7D2E3"/>
                </a:solidFill>
                <a:latin typeface="Calibri" pitchFamily="34" charset="0"/>
                <a:ea typeface="Calibri" pitchFamily="34" charset="-122"/>
                <a:cs typeface="Calibri" pitchFamily="34" charset="-120"/>
              </a:rPr>
              <a:t>Auditing &amp; lifecycle policies for retention</a:t>
            </a:r>
            <a:endParaRPr lang="en-US" sz="1100" dirty="0"/>
          </a:p>
        </p:txBody>
      </p:sp>
      <p:sp>
        <p:nvSpPr>
          <p:cNvPr id="26" name="Text 21"/>
          <p:cNvSpPr/>
          <p:nvPr/>
        </p:nvSpPr>
        <p:spPr>
          <a:xfrm>
            <a:off x="457200" y="6473952"/>
            <a:ext cx="5486400" cy="274320"/>
          </a:xfrm>
          <a:prstGeom prst="rect">
            <a:avLst/>
          </a:prstGeom>
          <a:noFill/>
          <a:ln/>
        </p:spPr>
        <p:txBody>
          <a:bodyPr wrap="square" rtlCol="0" anchor="ctr"/>
          <a:lstStyle/>
          <a:p>
            <a:pPr marL="0" indent="0" algn="l">
              <a:buNone/>
            </a:pPr>
            <a:r>
              <a:rPr lang="en-US" sz="900" dirty="0">
                <a:solidFill>
                  <a:srgbClr val="9AA6BF"/>
                </a:solidFill>
                <a:latin typeface="Calibri" pitchFamily="34" charset="0"/>
                <a:ea typeface="Calibri" pitchFamily="34" charset="-122"/>
                <a:cs typeface="Calibri" pitchFamily="34" charset="-120"/>
              </a:rPr>
              <a:t>Data Engineering Virtual Internship</a:t>
            </a:r>
            <a:endParaRPr lang="en-US" sz="900" dirty="0"/>
          </a:p>
        </p:txBody>
      </p:sp>
      <p:sp>
        <p:nvSpPr>
          <p:cNvPr id="27" name="Text 22"/>
          <p:cNvSpPr/>
          <p:nvPr/>
        </p:nvSpPr>
        <p:spPr>
          <a:xfrm>
            <a:off x="11274552" y="6473952"/>
            <a:ext cx="548640" cy="274320"/>
          </a:xfrm>
          <a:prstGeom prst="rect">
            <a:avLst/>
          </a:prstGeom>
          <a:noFill/>
          <a:ln/>
        </p:spPr>
        <p:txBody>
          <a:bodyPr wrap="square" rtlCol="0" anchor="ctr"/>
          <a:lstStyle/>
          <a:p>
            <a:pPr marL="0" indent="0" algn="r">
              <a:buNone/>
            </a:pPr>
            <a:r>
              <a:rPr lang="en-US" sz="900" dirty="0">
                <a:solidFill>
                  <a:srgbClr val="9AA6BF"/>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1554480" cy="329184"/>
          </a:xfrm>
          <a:prstGeom prst="roundRect">
            <a:avLst>
              <a:gd name="adj" fmla="val 50000"/>
            </a:avLst>
          </a:prstGeom>
          <a:solidFill>
            <a:srgbClr val="134074"/>
          </a:solidFill>
          <a:ln/>
        </p:spPr>
      </p:sp>
      <p:sp>
        <p:nvSpPr>
          <p:cNvPr id="3" name="Text 1"/>
          <p:cNvSpPr/>
          <p:nvPr/>
        </p:nvSpPr>
        <p:spPr>
          <a:xfrm>
            <a:off x="548640" y="502920"/>
            <a:ext cx="1554480" cy="329184"/>
          </a:xfrm>
          <a:prstGeom prst="rect">
            <a:avLst/>
          </a:prstGeom>
          <a:noFill/>
          <a:ln/>
        </p:spPr>
        <p:txBody>
          <a:bodyPr wrap="square"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SECTION 05</a:t>
            </a:r>
            <a:endParaRPr lang="en-US" sz="1100" dirty="0"/>
          </a:p>
        </p:txBody>
      </p:sp>
      <p:sp>
        <p:nvSpPr>
          <p:cNvPr id="4" name="Text 2"/>
          <p:cNvSpPr/>
          <p:nvPr/>
        </p:nvSpPr>
        <p:spPr>
          <a:xfrm>
            <a:off x="548640" y="914400"/>
            <a:ext cx="11064240" cy="822960"/>
          </a:xfrm>
          <a:prstGeom prst="rect">
            <a:avLst/>
          </a:prstGeom>
          <a:noFill/>
          <a:ln/>
        </p:spPr>
        <p:txBody>
          <a:bodyPr wrap="square" rtlCol="0" anchor="ctr"/>
          <a:lstStyle/>
          <a:p>
            <a:pPr marL="0" indent="0" algn="l">
              <a:buNone/>
            </a:pPr>
            <a:r>
              <a:rPr lang="en-US" sz="3000" b="1" dirty="0">
                <a:solidFill>
                  <a:srgbClr val="0B2545"/>
                </a:solidFill>
                <a:latin typeface="Calibri" pitchFamily="34" charset="0"/>
                <a:ea typeface="Calibri" pitchFamily="34" charset="-122"/>
                <a:cs typeface="Calibri" pitchFamily="34" charset="-120"/>
              </a:rPr>
              <a:t>Skills Gained</a:t>
            </a:r>
            <a:endParaRPr lang="en-US" sz="3000" dirty="0"/>
          </a:p>
        </p:txBody>
      </p:sp>
      <p:sp>
        <p:nvSpPr>
          <p:cNvPr id="5" name="Shape 3"/>
          <p:cNvSpPr/>
          <p:nvPr/>
        </p:nvSpPr>
        <p:spPr>
          <a:xfrm>
            <a:off x="548640" y="1920240"/>
            <a:ext cx="3520440" cy="4114800"/>
          </a:xfrm>
          <a:prstGeom prst="roundRect">
            <a:avLst>
              <a:gd name="adj" fmla="val 2338"/>
            </a:avLst>
          </a:prstGeom>
          <a:solidFill>
            <a:srgbClr val="F4F7FB"/>
          </a:solidFill>
          <a:ln/>
        </p:spPr>
      </p:sp>
      <p:sp>
        <p:nvSpPr>
          <p:cNvPr id="6" name="Shape 4"/>
          <p:cNvSpPr/>
          <p:nvPr/>
        </p:nvSpPr>
        <p:spPr>
          <a:xfrm>
            <a:off x="548640" y="1920240"/>
            <a:ext cx="3520440" cy="137160"/>
          </a:xfrm>
          <a:prstGeom prst="roundRect">
            <a:avLst/>
          </a:prstGeom>
          <a:solidFill>
            <a:srgbClr val="1B6CA8"/>
          </a:solidFill>
          <a:ln/>
        </p:spPr>
      </p:sp>
      <p:sp>
        <p:nvSpPr>
          <p:cNvPr id="7" name="Shape 5"/>
          <p:cNvSpPr/>
          <p:nvPr/>
        </p:nvSpPr>
        <p:spPr>
          <a:xfrm>
            <a:off x="822960" y="2212848"/>
            <a:ext cx="502920" cy="502920"/>
          </a:xfrm>
          <a:prstGeom prst="roundRect">
            <a:avLst>
              <a:gd name="adj" fmla="val 21818"/>
            </a:avLst>
          </a:prstGeom>
          <a:solidFill>
            <a:srgbClr val="1B6CA8"/>
          </a:solidFill>
          <a:ln/>
        </p:spPr>
      </p:sp>
      <p:pic>
        <p:nvPicPr>
          <p:cNvPr id="8" name="Image 0" descr="/home/claude/ppt/icons/wrench.png"/>
          <p:cNvPicPr>
            <a:picLocks noChangeAspect="1"/>
          </p:cNvPicPr>
          <p:nvPr/>
        </p:nvPicPr>
        <p:blipFill>
          <a:blip r:embed="rId3"/>
          <a:stretch>
            <a:fillRect/>
          </a:stretch>
        </p:blipFill>
        <p:spPr>
          <a:xfrm>
            <a:off x="948690" y="2338578"/>
            <a:ext cx="251460" cy="251460"/>
          </a:xfrm>
          <a:prstGeom prst="rect">
            <a:avLst/>
          </a:prstGeom>
        </p:spPr>
      </p:pic>
      <p:sp>
        <p:nvSpPr>
          <p:cNvPr id="9" name="Text 6"/>
          <p:cNvSpPr/>
          <p:nvPr/>
        </p:nvSpPr>
        <p:spPr>
          <a:xfrm>
            <a:off x="1463040" y="2212848"/>
            <a:ext cx="2377440" cy="502920"/>
          </a:xfrm>
          <a:prstGeom prst="rect">
            <a:avLst/>
          </a:prstGeom>
          <a:noFill/>
          <a:ln/>
        </p:spPr>
        <p:txBody>
          <a:bodyPr wrap="square" rtlCol="0" anchor="ctr"/>
          <a:lstStyle/>
          <a:p>
            <a:pPr marL="0" indent="0">
              <a:buNone/>
            </a:pPr>
            <a:r>
              <a:rPr lang="en-US" sz="1600" b="1" dirty="0">
                <a:solidFill>
                  <a:srgbClr val="0B2545"/>
                </a:solidFill>
                <a:latin typeface="Calibri" pitchFamily="34" charset="0"/>
                <a:ea typeface="Calibri" pitchFamily="34" charset="-122"/>
                <a:cs typeface="Calibri" pitchFamily="34" charset="-120"/>
              </a:rPr>
              <a:t>Technical</a:t>
            </a:r>
            <a:endParaRPr lang="en-US" sz="1600" dirty="0"/>
          </a:p>
        </p:txBody>
      </p:sp>
      <p:sp>
        <p:nvSpPr>
          <p:cNvPr id="10" name="Shape 7"/>
          <p:cNvSpPr/>
          <p:nvPr/>
        </p:nvSpPr>
        <p:spPr>
          <a:xfrm>
            <a:off x="822960" y="2971800"/>
            <a:ext cx="292608" cy="292608"/>
          </a:xfrm>
          <a:prstGeom prst="ellipse">
            <a:avLst/>
          </a:prstGeom>
          <a:solidFill>
            <a:srgbClr val="1B6CA8"/>
          </a:solidFill>
          <a:ln/>
        </p:spPr>
      </p:sp>
      <p:pic>
        <p:nvPicPr>
          <p:cNvPr id="11" name="Image 1" descr="/home/claude/ppt/icons/check.png"/>
          <p:cNvPicPr>
            <a:picLocks noChangeAspect="1"/>
          </p:cNvPicPr>
          <p:nvPr/>
        </p:nvPicPr>
        <p:blipFill>
          <a:blip r:embed="rId4"/>
          <a:stretch>
            <a:fillRect/>
          </a:stretch>
        </p:blipFill>
        <p:spPr>
          <a:xfrm>
            <a:off x="888797" y="3037637"/>
            <a:ext cx="160934" cy="160934"/>
          </a:xfrm>
          <a:prstGeom prst="rect">
            <a:avLst/>
          </a:prstGeom>
        </p:spPr>
      </p:pic>
      <p:sp>
        <p:nvSpPr>
          <p:cNvPr id="12" name="Text 8"/>
          <p:cNvSpPr/>
          <p:nvPr/>
        </p:nvSpPr>
        <p:spPr>
          <a:xfrm>
            <a:off x="1243584" y="2926080"/>
            <a:ext cx="2743200" cy="640080"/>
          </a:xfrm>
          <a:prstGeom prst="rect">
            <a:avLst/>
          </a:prstGeom>
          <a:noFill/>
          <a:ln/>
        </p:spPr>
        <p:txBody>
          <a:bodyPr wrap="square" rtlCol="0" anchor="ctr"/>
          <a:lstStyle/>
          <a:p>
            <a:pPr marL="0" indent="0">
              <a:lnSpc>
                <a:spcPts val="1400"/>
              </a:lnSpc>
              <a:buNone/>
            </a:pPr>
            <a:r>
              <a:rPr lang="en-US" sz="1100" dirty="0">
                <a:solidFill>
                  <a:srgbClr val="3A3F4B"/>
                </a:solidFill>
                <a:latin typeface="Calibri" pitchFamily="34" charset="0"/>
                <a:ea typeface="Calibri" pitchFamily="34" charset="-122"/>
                <a:cs typeface="Calibri" pitchFamily="34" charset="-120"/>
              </a:rPr>
              <a:t>AWS core services (S3, RDS, Glue, Redshift)</a:t>
            </a:r>
            <a:endParaRPr lang="en-US" sz="1100" dirty="0"/>
          </a:p>
        </p:txBody>
      </p:sp>
      <p:sp>
        <p:nvSpPr>
          <p:cNvPr id="13" name="Shape 9"/>
          <p:cNvSpPr/>
          <p:nvPr/>
        </p:nvSpPr>
        <p:spPr>
          <a:xfrm>
            <a:off x="822960" y="3840480"/>
            <a:ext cx="292608" cy="292608"/>
          </a:xfrm>
          <a:prstGeom prst="ellipse">
            <a:avLst/>
          </a:prstGeom>
          <a:solidFill>
            <a:srgbClr val="1B6CA8"/>
          </a:solidFill>
          <a:ln/>
        </p:spPr>
      </p:sp>
      <p:pic>
        <p:nvPicPr>
          <p:cNvPr id="14" name="Image 2" descr="/home/claude/ppt/icons/check.png"/>
          <p:cNvPicPr>
            <a:picLocks noChangeAspect="1"/>
          </p:cNvPicPr>
          <p:nvPr/>
        </p:nvPicPr>
        <p:blipFill>
          <a:blip r:embed="rId4"/>
          <a:stretch>
            <a:fillRect/>
          </a:stretch>
        </p:blipFill>
        <p:spPr>
          <a:xfrm>
            <a:off x="888797" y="3906317"/>
            <a:ext cx="160934" cy="160934"/>
          </a:xfrm>
          <a:prstGeom prst="rect">
            <a:avLst/>
          </a:prstGeom>
        </p:spPr>
      </p:pic>
      <p:sp>
        <p:nvSpPr>
          <p:cNvPr id="15" name="Text 10"/>
          <p:cNvSpPr/>
          <p:nvPr/>
        </p:nvSpPr>
        <p:spPr>
          <a:xfrm>
            <a:off x="1243584" y="3794760"/>
            <a:ext cx="2743200" cy="640080"/>
          </a:xfrm>
          <a:prstGeom prst="rect">
            <a:avLst/>
          </a:prstGeom>
          <a:noFill/>
          <a:ln/>
        </p:spPr>
        <p:txBody>
          <a:bodyPr wrap="square" rtlCol="0" anchor="ctr"/>
          <a:lstStyle/>
          <a:p>
            <a:pPr marL="0" indent="0">
              <a:lnSpc>
                <a:spcPts val="1400"/>
              </a:lnSpc>
              <a:buNone/>
            </a:pPr>
            <a:r>
              <a:rPr lang="en-US" sz="1100" dirty="0">
                <a:solidFill>
                  <a:srgbClr val="3A3F4B"/>
                </a:solidFill>
                <a:latin typeface="Calibri" pitchFamily="34" charset="0"/>
                <a:ea typeface="Calibri" pitchFamily="34" charset="-122"/>
                <a:cs typeface="Calibri" pitchFamily="34" charset="-120"/>
              </a:rPr>
              <a:t>SQL querying &amp; data modeling</a:t>
            </a:r>
            <a:endParaRPr lang="en-US" sz="1100" dirty="0"/>
          </a:p>
        </p:txBody>
      </p:sp>
      <p:sp>
        <p:nvSpPr>
          <p:cNvPr id="16" name="Shape 11"/>
          <p:cNvSpPr/>
          <p:nvPr/>
        </p:nvSpPr>
        <p:spPr>
          <a:xfrm>
            <a:off x="822960" y="4709160"/>
            <a:ext cx="292608" cy="292608"/>
          </a:xfrm>
          <a:prstGeom prst="ellipse">
            <a:avLst/>
          </a:prstGeom>
          <a:solidFill>
            <a:srgbClr val="1B6CA8"/>
          </a:solidFill>
          <a:ln/>
        </p:spPr>
      </p:sp>
      <p:pic>
        <p:nvPicPr>
          <p:cNvPr id="17" name="Image 3" descr="/home/claude/ppt/icons/check.png"/>
          <p:cNvPicPr>
            <a:picLocks noChangeAspect="1"/>
          </p:cNvPicPr>
          <p:nvPr/>
        </p:nvPicPr>
        <p:blipFill>
          <a:blip r:embed="rId4"/>
          <a:stretch>
            <a:fillRect/>
          </a:stretch>
        </p:blipFill>
        <p:spPr>
          <a:xfrm>
            <a:off x="888797" y="4774997"/>
            <a:ext cx="160934" cy="160934"/>
          </a:xfrm>
          <a:prstGeom prst="rect">
            <a:avLst/>
          </a:prstGeom>
        </p:spPr>
      </p:pic>
      <p:sp>
        <p:nvSpPr>
          <p:cNvPr id="18" name="Text 12"/>
          <p:cNvSpPr/>
          <p:nvPr/>
        </p:nvSpPr>
        <p:spPr>
          <a:xfrm>
            <a:off x="1243584" y="4663440"/>
            <a:ext cx="2743200" cy="640080"/>
          </a:xfrm>
          <a:prstGeom prst="rect">
            <a:avLst/>
          </a:prstGeom>
          <a:noFill/>
          <a:ln/>
        </p:spPr>
        <p:txBody>
          <a:bodyPr wrap="square" rtlCol="0" anchor="ctr"/>
          <a:lstStyle/>
          <a:p>
            <a:pPr marL="0" indent="0">
              <a:lnSpc>
                <a:spcPts val="1400"/>
              </a:lnSpc>
              <a:buNone/>
            </a:pPr>
            <a:r>
              <a:rPr lang="en-US" sz="1100" dirty="0">
                <a:solidFill>
                  <a:srgbClr val="3A3F4B"/>
                </a:solidFill>
                <a:latin typeface="Calibri" pitchFamily="34" charset="0"/>
                <a:ea typeface="Calibri" pitchFamily="34" charset="-122"/>
                <a:cs typeface="Calibri" pitchFamily="34" charset="-120"/>
              </a:rPr>
              <a:t>ETL pipeline design</a:t>
            </a:r>
            <a:endParaRPr lang="en-US" sz="1100" dirty="0"/>
          </a:p>
        </p:txBody>
      </p:sp>
      <p:sp>
        <p:nvSpPr>
          <p:cNvPr id="19" name="Shape 13"/>
          <p:cNvSpPr/>
          <p:nvPr/>
        </p:nvSpPr>
        <p:spPr>
          <a:xfrm>
            <a:off x="4251960" y="1920240"/>
            <a:ext cx="3520440" cy="4114800"/>
          </a:xfrm>
          <a:prstGeom prst="roundRect">
            <a:avLst>
              <a:gd name="adj" fmla="val 2338"/>
            </a:avLst>
          </a:prstGeom>
          <a:solidFill>
            <a:srgbClr val="F4F7FB"/>
          </a:solidFill>
          <a:ln/>
        </p:spPr>
      </p:sp>
      <p:sp>
        <p:nvSpPr>
          <p:cNvPr id="20" name="Shape 14"/>
          <p:cNvSpPr/>
          <p:nvPr/>
        </p:nvSpPr>
        <p:spPr>
          <a:xfrm>
            <a:off x="4251960" y="1920240"/>
            <a:ext cx="3520440" cy="137160"/>
          </a:xfrm>
          <a:prstGeom prst="roundRect">
            <a:avLst/>
          </a:prstGeom>
          <a:solidFill>
            <a:srgbClr val="D98418"/>
          </a:solidFill>
          <a:ln/>
        </p:spPr>
      </p:sp>
      <p:sp>
        <p:nvSpPr>
          <p:cNvPr id="21" name="Shape 15"/>
          <p:cNvSpPr/>
          <p:nvPr/>
        </p:nvSpPr>
        <p:spPr>
          <a:xfrm>
            <a:off x="4526280" y="2212848"/>
            <a:ext cx="502920" cy="502920"/>
          </a:xfrm>
          <a:prstGeom prst="roundRect">
            <a:avLst>
              <a:gd name="adj" fmla="val 21818"/>
            </a:avLst>
          </a:prstGeom>
          <a:solidFill>
            <a:srgbClr val="D98418"/>
          </a:solidFill>
          <a:ln/>
        </p:spPr>
      </p:sp>
      <p:pic>
        <p:nvPicPr>
          <p:cNvPr id="22" name="Image 4" descr="/home/claude/ppt/icons/book.png"/>
          <p:cNvPicPr>
            <a:picLocks noChangeAspect="1"/>
          </p:cNvPicPr>
          <p:nvPr/>
        </p:nvPicPr>
        <p:blipFill>
          <a:blip r:embed="rId5"/>
          <a:stretch>
            <a:fillRect/>
          </a:stretch>
        </p:blipFill>
        <p:spPr>
          <a:xfrm>
            <a:off x="4652010" y="2338578"/>
            <a:ext cx="251460" cy="251460"/>
          </a:xfrm>
          <a:prstGeom prst="rect">
            <a:avLst/>
          </a:prstGeom>
        </p:spPr>
      </p:pic>
      <p:sp>
        <p:nvSpPr>
          <p:cNvPr id="23" name="Text 16"/>
          <p:cNvSpPr/>
          <p:nvPr/>
        </p:nvSpPr>
        <p:spPr>
          <a:xfrm>
            <a:off x="5166360" y="2212848"/>
            <a:ext cx="2377440" cy="502920"/>
          </a:xfrm>
          <a:prstGeom prst="rect">
            <a:avLst/>
          </a:prstGeom>
          <a:noFill/>
          <a:ln/>
        </p:spPr>
        <p:txBody>
          <a:bodyPr wrap="square" rtlCol="0" anchor="ctr"/>
          <a:lstStyle/>
          <a:p>
            <a:pPr marL="0" indent="0">
              <a:buNone/>
            </a:pPr>
            <a:r>
              <a:rPr lang="en-US" sz="1600" b="1" dirty="0">
                <a:solidFill>
                  <a:srgbClr val="0B2545"/>
                </a:solidFill>
                <a:latin typeface="Calibri" pitchFamily="34" charset="0"/>
                <a:ea typeface="Calibri" pitchFamily="34" charset="-122"/>
                <a:cs typeface="Calibri" pitchFamily="34" charset="-120"/>
              </a:rPr>
              <a:t>Conceptual</a:t>
            </a:r>
            <a:endParaRPr lang="en-US" sz="1600" dirty="0"/>
          </a:p>
        </p:txBody>
      </p:sp>
      <p:sp>
        <p:nvSpPr>
          <p:cNvPr id="24" name="Shape 17"/>
          <p:cNvSpPr/>
          <p:nvPr/>
        </p:nvSpPr>
        <p:spPr>
          <a:xfrm>
            <a:off x="4526280" y="2971800"/>
            <a:ext cx="292608" cy="292608"/>
          </a:xfrm>
          <a:prstGeom prst="ellipse">
            <a:avLst/>
          </a:prstGeom>
          <a:solidFill>
            <a:srgbClr val="D98418"/>
          </a:solidFill>
          <a:ln/>
        </p:spPr>
      </p:sp>
      <p:pic>
        <p:nvPicPr>
          <p:cNvPr id="25" name="Image 5" descr="/home/claude/ppt/icons/check.png"/>
          <p:cNvPicPr>
            <a:picLocks noChangeAspect="1"/>
          </p:cNvPicPr>
          <p:nvPr/>
        </p:nvPicPr>
        <p:blipFill>
          <a:blip r:embed="rId4"/>
          <a:stretch>
            <a:fillRect/>
          </a:stretch>
        </p:blipFill>
        <p:spPr>
          <a:xfrm>
            <a:off x="4592117" y="3037637"/>
            <a:ext cx="160934" cy="160934"/>
          </a:xfrm>
          <a:prstGeom prst="rect">
            <a:avLst/>
          </a:prstGeom>
        </p:spPr>
      </p:pic>
      <p:sp>
        <p:nvSpPr>
          <p:cNvPr id="26" name="Text 18"/>
          <p:cNvSpPr/>
          <p:nvPr/>
        </p:nvSpPr>
        <p:spPr>
          <a:xfrm>
            <a:off x="4946904" y="2926080"/>
            <a:ext cx="2743200" cy="640080"/>
          </a:xfrm>
          <a:prstGeom prst="rect">
            <a:avLst/>
          </a:prstGeom>
          <a:noFill/>
          <a:ln/>
        </p:spPr>
        <p:txBody>
          <a:bodyPr wrap="square" rtlCol="0" anchor="ctr"/>
          <a:lstStyle/>
          <a:p>
            <a:pPr marL="0" indent="0">
              <a:lnSpc>
                <a:spcPts val="1400"/>
              </a:lnSpc>
              <a:buNone/>
            </a:pPr>
            <a:r>
              <a:rPr lang="en-US" sz="1100" dirty="0">
                <a:solidFill>
                  <a:srgbClr val="3A3F4B"/>
                </a:solidFill>
                <a:latin typeface="Calibri" pitchFamily="34" charset="0"/>
                <a:ea typeface="Calibri" pitchFamily="34" charset="-122"/>
                <a:cs typeface="Calibri" pitchFamily="34" charset="-120"/>
              </a:rPr>
              <a:t>Cloud computing fundamentals</a:t>
            </a:r>
            <a:endParaRPr lang="en-US" sz="1100" dirty="0"/>
          </a:p>
        </p:txBody>
      </p:sp>
      <p:sp>
        <p:nvSpPr>
          <p:cNvPr id="27" name="Shape 19"/>
          <p:cNvSpPr/>
          <p:nvPr/>
        </p:nvSpPr>
        <p:spPr>
          <a:xfrm>
            <a:off x="4526280" y="3840480"/>
            <a:ext cx="292608" cy="292608"/>
          </a:xfrm>
          <a:prstGeom prst="ellipse">
            <a:avLst/>
          </a:prstGeom>
          <a:solidFill>
            <a:srgbClr val="D98418"/>
          </a:solidFill>
          <a:ln/>
        </p:spPr>
      </p:sp>
      <p:pic>
        <p:nvPicPr>
          <p:cNvPr id="28" name="Image 6" descr="/home/claude/ppt/icons/check.png"/>
          <p:cNvPicPr>
            <a:picLocks noChangeAspect="1"/>
          </p:cNvPicPr>
          <p:nvPr/>
        </p:nvPicPr>
        <p:blipFill>
          <a:blip r:embed="rId4"/>
          <a:stretch>
            <a:fillRect/>
          </a:stretch>
        </p:blipFill>
        <p:spPr>
          <a:xfrm>
            <a:off x="4592117" y="3906317"/>
            <a:ext cx="160934" cy="160934"/>
          </a:xfrm>
          <a:prstGeom prst="rect">
            <a:avLst/>
          </a:prstGeom>
        </p:spPr>
      </p:pic>
      <p:sp>
        <p:nvSpPr>
          <p:cNvPr id="29" name="Text 20"/>
          <p:cNvSpPr/>
          <p:nvPr/>
        </p:nvSpPr>
        <p:spPr>
          <a:xfrm>
            <a:off x="4946904" y="3794760"/>
            <a:ext cx="2743200" cy="640080"/>
          </a:xfrm>
          <a:prstGeom prst="rect">
            <a:avLst/>
          </a:prstGeom>
          <a:noFill/>
          <a:ln/>
        </p:spPr>
        <p:txBody>
          <a:bodyPr wrap="square" rtlCol="0" anchor="ctr"/>
          <a:lstStyle/>
          <a:p>
            <a:pPr marL="0" indent="0">
              <a:lnSpc>
                <a:spcPts val="1400"/>
              </a:lnSpc>
              <a:buNone/>
            </a:pPr>
            <a:r>
              <a:rPr lang="en-US" sz="1100" dirty="0">
                <a:solidFill>
                  <a:srgbClr val="3A3F4B"/>
                </a:solidFill>
                <a:latin typeface="Calibri" pitchFamily="34" charset="0"/>
                <a:ea typeface="Calibri" pitchFamily="34" charset="-122"/>
                <a:cs typeface="Calibri" pitchFamily="34" charset="-120"/>
              </a:rPr>
              <a:t>Data lifecycle &amp; governance</a:t>
            </a:r>
            <a:endParaRPr lang="en-US" sz="1100" dirty="0"/>
          </a:p>
        </p:txBody>
      </p:sp>
      <p:sp>
        <p:nvSpPr>
          <p:cNvPr id="30" name="Shape 21"/>
          <p:cNvSpPr/>
          <p:nvPr/>
        </p:nvSpPr>
        <p:spPr>
          <a:xfrm>
            <a:off x="4526280" y="4709160"/>
            <a:ext cx="292608" cy="292608"/>
          </a:xfrm>
          <a:prstGeom prst="ellipse">
            <a:avLst/>
          </a:prstGeom>
          <a:solidFill>
            <a:srgbClr val="D98418"/>
          </a:solidFill>
          <a:ln/>
        </p:spPr>
      </p:sp>
      <p:pic>
        <p:nvPicPr>
          <p:cNvPr id="31" name="Image 7" descr="/home/claude/ppt/icons/check.png"/>
          <p:cNvPicPr>
            <a:picLocks noChangeAspect="1"/>
          </p:cNvPicPr>
          <p:nvPr/>
        </p:nvPicPr>
        <p:blipFill>
          <a:blip r:embed="rId4"/>
          <a:stretch>
            <a:fillRect/>
          </a:stretch>
        </p:blipFill>
        <p:spPr>
          <a:xfrm>
            <a:off x="4592117" y="4774997"/>
            <a:ext cx="160934" cy="160934"/>
          </a:xfrm>
          <a:prstGeom prst="rect">
            <a:avLst/>
          </a:prstGeom>
        </p:spPr>
      </p:pic>
      <p:sp>
        <p:nvSpPr>
          <p:cNvPr id="32" name="Text 22"/>
          <p:cNvSpPr/>
          <p:nvPr/>
        </p:nvSpPr>
        <p:spPr>
          <a:xfrm>
            <a:off x="4946904" y="4663440"/>
            <a:ext cx="2743200" cy="640080"/>
          </a:xfrm>
          <a:prstGeom prst="rect">
            <a:avLst/>
          </a:prstGeom>
          <a:noFill/>
          <a:ln/>
        </p:spPr>
        <p:txBody>
          <a:bodyPr wrap="square" rtlCol="0" anchor="ctr"/>
          <a:lstStyle/>
          <a:p>
            <a:pPr marL="0" indent="0">
              <a:lnSpc>
                <a:spcPts val="1400"/>
              </a:lnSpc>
              <a:buNone/>
            </a:pPr>
            <a:r>
              <a:rPr lang="en-US" sz="1100" dirty="0">
                <a:solidFill>
                  <a:srgbClr val="3A3F4B"/>
                </a:solidFill>
                <a:latin typeface="Calibri" pitchFamily="34" charset="0"/>
                <a:ea typeface="Calibri" pitchFamily="34" charset="-122"/>
                <a:cs typeface="Calibri" pitchFamily="34" charset="-120"/>
              </a:rPr>
              <a:t>Big data &amp; streaming principles</a:t>
            </a:r>
            <a:endParaRPr lang="en-US" sz="1100" dirty="0"/>
          </a:p>
        </p:txBody>
      </p:sp>
      <p:sp>
        <p:nvSpPr>
          <p:cNvPr id="33" name="Shape 23"/>
          <p:cNvSpPr/>
          <p:nvPr/>
        </p:nvSpPr>
        <p:spPr>
          <a:xfrm>
            <a:off x="7955280" y="1920240"/>
            <a:ext cx="3520440" cy="4114800"/>
          </a:xfrm>
          <a:prstGeom prst="roundRect">
            <a:avLst>
              <a:gd name="adj" fmla="val 2338"/>
            </a:avLst>
          </a:prstGeom>
          <a:solidFill>
            <a:srgbClr val="F4F7FB"/>
          </a:solidFill>
          <a:ln/>
        </p:spPr>
      </p:sp>
      <p:sp>
        <p:nvSpPr>
          <p:cNvPr id="34" name="Shape 24"/>
          <p:cNvSpPr/>
          <p:nvPr/>
        </p:nvSpPr>
        <p:spPr>
          <a:xfrm>
            <a:off x="7955280" y="1920240"/>
            <a:ext cx="3520440" cy="137160"/>
          </a:xfrm>
          <a:prstGeom prst="roundRect">
            <a:avLst/>
          </a:prstGeom>
          <a:solidFill>
            <a:srgbClr val="134074"/>
          </a:solidFill>
          <a:ln/>
        </p:spPr>
      </p:sp>
      <p:sp>
        <p:nvSpPr>
          <p:cNvPr id="35" name="Shape 25"/>
          <p:cNvSpPr/>
          <p:nvPr/>
        </p:nvSpPr>
        <p:spPr>
          <a:xfrm>
            <a:off x="8229600" y="2212848"/>
            <a:ext cx="502920" cy="502920"/>
          </a:xfrm>
          <a:prstGeom prst="roundRect">
            <a:avLst>
              <a:gd name="adj" fmla="val 21818"/>
            </a:avLst>
          </a:prstGeom>
          <a:solidFill>
            <a:srgbClr val="134074"/>
          </a:solidFill>
          <a:ln/>
        </p:spPr>
      </p:sp>
      <p:pic>
        <p:nvPicPr>
          <p:cNvPr id="36" name="Image 8" descr="/home/claude/ppt/icons/briefcase.png"/>
          <p:cNvPicPr>
            <a:picLocks noChangeAspect="1"/>
          </p:cNvPicPr>
          <p:nvPr/>
        </p:nvPicPr>
        <p:blipFill>
          <a:blip r:embed="rId6"/>
          <a:stretch>
            <a:fillRect/>
          </a:stretch>
        </p:blipFill>
        <p:spPr>
          <a:xfrm>
            <a:off x="8355330" y="2338578"/>
            <a:ext cx="251460" cy="251460"/>
          </a:xfrm>
          <a:prstGeom prst="rect">
            <a:avLst/>
          </a:prstGeom>
        </p:spPr>
      </p:pic>
      <p:sp>
        <p:nvSpPr>
          <p:cNvPr id="37" name="Text 26"/>
          <p:cNvSpPr/>
          <p:nvPr/>
        </p:nvSpPr>
        <p:spPr>
          <a:xfrm>
            <a:off x="8869680" y="2212848"/>
            <a:ext cx="2377440" cy="502920"/>
          </a:xfrm>
          <a:prstGeom prst="rect">
            <a:avLst/>
          </a:prstGeom>
          <a:noFill/>
          <a:ln/>
        </p:spPr>
        <p:txBody>
          <a:bodyPr wrap="square" rtlCol="0" anchor="ctr"/>
          <a:lstStyle/>
          <a:p>
            <a:pPr marL="0" indent="0">
              <a:buNone/>
            </a:pPr>
            <a:r>
              <a:rPr lang="en-US" sz="1600" b="1" dirty="0">
                <a:solidFill>
                  <a:srgbClr val="0B2545"/>
                </a:solidFill>
                <a:latin typeface="Calibri" pitchFamily="34" charset="0"/>
                <a:ea typeface="Calibri" pitchFamily="34" charset="-122"/>
                <a:cs typeface="Calibri" pitchFamily="34" charset="-120"/>
              </a:rPr>
              <a:t>Professional</a:t>
            </a:r>
            <a:endParaRPr lang="en-US" sz="1600" dirty="0"/>
          </a:p>
        </p:txBody>
      </p:sp>
      <p:sp>
        <p:nvSpPr>
          <p:cNvPr id="38" name="Shape 27"/>
          <p:cNvSpPr/>
          <p:nvPr/>
        </p:nvSpPr>
        <p:spPr>
          <a:xfrm>
            <a:off x="8229600" y="2971800"/>
            <a:ext cx="292608" cy="292608"/>
          </a:xfrm>
          <a:prstGeom prst="ellipse">
            <a:avLst/>
          </a:prstGeom>
          <a:solidFill>
            <a:srgbClr val="134074"/>
          </a:solidFill>
          <a:ln/>
        </p:spPr>
      </p:sp>
      <p:pic>
        <p:nvPicPr>
          <p:cNvPr id="39" name="Image 9" descr="/home/claude/ppt/icons/check.png"/>
          <p:cNvPicPr>
            <a:picLocks noChangeAspect="1"/>
          </p:cNvPicPr>
          <p:nvPr/>
        </p:nvPicPr>
        <p:blipFill>
          <a:blip r:embed="rId4"/>
          <a:stretch>
            <a:fillRect/>
          </a:stretch>
        </p:blipFill>
        <p:spPr>
          <a:xfrm>
            <a:off x="8295437" y="3037637"/>
            <a:ext cx="160934" cy="160934"/>
          </a:xfrm>
          <a:prstGeom prst="rect">
            <a:avLst/>
          </a:prstGeom>
        </p:spPr>
      </p:pic>
      <p:sp>
        <p:nvSpPr>
          <p:cNvPr id="40" name="Text 28"/>
          <p:cNvSpPr/>
          <p:nvPr/>
        </p:nvSpPr>
        <p:spPr>
          <a:xfrm>
            <a:off x="8650224" y="2926080"/>
            <a:ext cx="2743200" cy="640080"/>
          </a:xfrm>
          <a:prstGeom prst="rect">
            <a:avLst/>
          </a:prstGeom>
          <a:noFill/>
          <a:ln/>
        </p:spPr>
        <p:txBody>
          <a:bodyPr wrap="square" rtlCol="0" anchor="ctr"/>
          <a:lstStyle/>
          <a:p>
            <a:pPr marL="0" indent="0">
              <a:lnSpc>
                <a:spcPts val="1400"/>
              </a:lnSpc>
              <a:buNone/>
            </a:pPr>
            <a:r>
              <a:rPr lang="en-US" sz="1100" dirty="0">
                <a:solidFill>
                  <a:srgbClr val="3A3F4B"/>
                </a:solidFill>
                <a:latin typeface="Calibri" pitchFamily="34" charset="0"/>
                <a:ea typeface="Calibri" pitchFamily="34" charset="-122"/>
                <a:cs typeface="Calibri" pitchFamily="34" charset="-120"/>
              </a:rPr>
              <a:t>Self-paced project execution</a:t>
            </a:r>
            <a:endParaRPr lang="en-US" sz="1100" dirty="0"/>
          </a:p>
        </p:txBody>
      </p:sp>
      <p:sp>
        <p:nvSpPr>
          <p:cNvPr id="41" name="Shape 29"/>
          <p:cNvSpPr/>
          <p:nvPr/>
        </p:nvSpPr>
        <p:spPr>
          <a:xfrm>
            <a:off x="8229600" y="3840480"/>
            <a:ext cx="292608" cy="292608"/>
          </a:xfrm>
          <a:prstGeom prst="ellipse">
            <a:avLst/>
          </a:prstGeom>
          <a:solidFill>
            <a:srgbClr val="134074"/>
          </a:solidFill>
          <a:ln/>
        </p:spPr>
      </p:sp>
      <p:pic>
        <p:nvPicPr>
          <p:cNvPr id="42" name="Image 10" descr="/home/claude/ppt/icons/check.png"/>
          <p:cNvPicPr>
            <a:picLocks noChangeAspect="1"/>
          </p:cNvPicPr>
          <p:nvPr/>
        </p:nvPicPr>
        <p:blipFill>
          <a:blip r:embed="rId4"/>
          <a:stretch>
            <a:fillRect/>
          </a:stretch>
        </p:blipFill>
        <p:spPr>
          <a:xfrm>
            <a:off x="8295437" y="3906317"/>
            <a:ext cx="160934" cy="160934"/>
          </a:xfrm>
          <a:prstGeom prst="rect">
            <a:avLst/>
          </a:prstGeom>
        </p:spPr>
      </p:pic>
      <p:sp>
        <p:nvSpPr>
          <p:cNvPr id="43" name="Text 30"/>
          <p:cNvSpPr/>
          <p:nvPr/>
        </p:nvSpPr>
        <p:spPr>
          <a:xfrm>
            <a:off x="8650224" y="3794760"/>
            <a:ext cx="2743200" cy="640080"/>
          </a:xfrm>
          <a:prstGeom prst="rect">
            <a:avLst/>
          </a:prstGeom>
          <a:noFill/>
          <a:ln/>
        </p:spPr>
        <p:txBody>
          <a:bodyPr wrap="square" rtlCol="0" anchor="ctr"/>
          <a:lstStyle/>
          <a:p>
            <a:pPr marL="0" indent="0">
              <a:lnSpc>
                <a:spcPts val="1400"/>
              </a:lnSpc>
              <a:buNone/>
            </a:pPr>
            <a:r>
              <a:rPr lang="en-US" sz="1100" dirty="0">
                <a:solidFill>
                  <a:srgbClr val="3A3F4B"/>
                </a:solidFill>
                <a:latin typeface="Calibri" pitchFamily="34" charset="0"/>
                <a:ea typeface="Calibri" pitchFamily="34" charset="-122"/>
                <a:cs typeface="Calibri" pitchFamily="34" charset="-120"/>
              </a:rPr>
              <a:t>Technical documentation</a:t>
            </a:r>
            <a:endParaRPr lang="en-US" sz="1100" dirty="0"/>
          </a:p>
        </p:txBody>
      </p:sp>
      <p:sp>
        <p:nvSpPr>
          <p:cNvPr id="44" name="Shape 31"/>
          <p:cNvSpPr/>
          <p:nvPr/>
        </p:nvSpPr>
        <p:spPr>
          <a:xfrm>
            <a:off x="8229600" y="4709160"/>
            <a:ext cx="292608" cy="292608"/>
          </a:xfrm>
          <a:prstGeom prst="ellipse">
            <a:avLst/>
          </a:prstGeom>
          <a:solidFill>
            <a:srgbClr val="134074"/>
          </a:solidFill>
          <a:ln/>
        </p:spPr>
      </p:sp>
      <p:pic>
        <p:nvPicPr>
          <p:cNvPr id="45" name="Image 11" descr="/home/claude/ppt/icons/check.png"/>
          <p:cNvPicPr>
            <a:picLocks noChangeAspect="1"/>
          </p:cNvPicPr>
          <p:nvPr/>
        </p:nvPicPr>
        <p:blipFill>
          <a:blip r:embed="rId4"/>
          <a:stretch>
            <a:fillRect/>
          </a:stretch>
        </p:blipFill>
        <p:spPr>
          <a:xfrm>
            <a:off x="8295437" y="4774997"/>
            <a:ext cx="160934" cy="160934"/>
          </a:xfrm>
          <a:prstGeom prst="rect">
            <a:avLst/>
          </a:prstGeom>
        </p:spPr>
      </p:pic>
      <p:sp>
        <p:nvSpPr>
          <p:cNvPr id="46" name="Text 32"/>
          <p:cNvSpPr/>
          <p:nvPr/>
        </p:nvSpPr>
        <p:spPr>
          <a:xfrm>
            <a:off x="8650224" y="4663440"/>
            <a:ext cx="2743200" cy="640080"/>
          </a:xfrm>
          <a:prstGeom prst="rect">
            <a:avLst/>
          </a:prstGeom>
          <a:noFill/>
          <a:ln/>
        </p:spPr>
        <p:txBody>
          <a:bodyPr wrap="square" rtlCol="0" anchor="ctr"/>
          <a:lstStyle/>
          <a:p>
            <a:pPr marL="0" indent="0">
              <a:lnSpc>
                <a:spcPts val="1400"/>
              </a:lnSpc>
              <a:buNone/>
            </a:pPr>
            <a:r>
              <a:rPr lang="en-US" sz="1100" dirty="0">
                <a:solidFill>
                  <a:srgbClr val="3A3F4B"/>
                </a:solidFill>
                <a:latin typeface="Calibri" pitchFamily="34" charset="0"/>
                <a:ea typeface="Calibri" pitchFamily="34" charset="-122"/>
                <a:cs typeface="Calibri" pitchFamily="34" charset="-120"/>
              </a:rPr>
              <a:t>Problem solving in cloud environments</a:t>
            </a:r>
            <a:endParaRPr lang="en-US" sz="1100" dirty="0"/>
          </a:p>
        </p:txBody>
      </p:sp>
      <p:sp>
        <p:nvSpPr>
          <p:cNvPr id="48" name="Text 33"/>
          <p:cNvSpPr/>
          <p:nvPr/>
        </p:nvSpPr>
        <p:spPr>
          <a:xfrm>
            <a:off x="457200" y="6473952"/>
            <a:ext cx="5486400" cy="274320"/>
          </a:xfrm>
          <a:prstGeom prst="rect">
            <a:avLst/>
          </a:prstGeom>
          <a:noFill/>
          <a:ln/>
        </p:spPr>
        <p:txBody>
          <a:bodyPr wrap="square" rtlCol="0" anchor="ctr"/>
          <a:lstStyle/>
          <a:p>
            <a:pPr marL="0" indent="0" algn="l">
              <a:buNone/>
            </a:pPr>
            <a:r>
              <a:rPr lang="en-US" sz="900" dirty="0">
                <a:solidFill>
                  <a:srgbClr val="8A93A5"/>
                </a:solidFill>
                <a:latin typeface="Calibri" pitchFamily="34" charset="0"/>
                <a:ea typeface="Calibri" pitchFamily="34" charset="-122"/>
                <a:cs typeface="Calibri" pitchFamily="34" charset="-120"/>
              </a:rPr>
              <a:t>Data Engineering Virtual Internship</a:t>
            </a:r>
            <a:endParaRPr lang="en-US" sz="900" dirty="0"/>
          </a:p>
        </p:txBody>
      </p:sp>
      <p:sp>
        <p:nvSpPr>
          <p:cNvPr id="49" name="Text 34"/>
          <p:cNvSpPr/>
          <p:nvPr/>
        </p:nvSpPr>
        <p:spPr>
          <a:xfrm>
            <a:off x="11274552" y="6473952"/>
            <a:ext cx="548640" cy="274320"/>
          </a:xfrm>
          <a:prstGeom prst="rect">
            <a:avLst/>
          </a:prstGeom>
          <a:noFill/>
          <a:ln/>
        </p:spPr>
        <p:txBody>
          <a:bodyPr wrap="square" rtlCol="0" anchor="ctr"/>
          <a:lstStyle/>
          <a:p>
            <a:pPr marL="0" indent="0" algn="r">
              <a:buNone/>
            </a:pPr>
            <a:r>
              <a:rPr lang="en-US" sz="900" dirty="0">
                <a:solidFill>
                  <a:srgbClr val="8A93A5"/>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548640" y="502920"/>
            <a:ext cx="1554480" cy="329184"/>
          </a:xfrm>
          <a:prstGeom prst="roundRect">
            <a:avLst>
              <a:gd name="adj" fmla="val 50000"/>
            </a:avLst>
          </a:prstGeom>
          <a:solidFill>
            <a:srgbClr val="134074"/>
          </a:solidFill>
          <a:ln/>
        </p:spPr>
      </p:sp>
      <p:sp>
        <p:nvSpPr>
          <p:cNvPr id="3" name="Text 1"/>
          <p:cNvSpPr/>
          <p:nvPr/>
        </p:nvSpPr>
        <p:spPr>
          <a:xfrm>
            <a:off x="548640" y="502920"/>
            <a:ext cx="1554480" cy="329184"/>
          </a:xfrm>
          <a:prstGeom prst="rect">
            <a:avLst/>
          </a:prstGeom>
          <a:noFill/>
          <a:ln/>
        </p:spPr>
        <p:txBody>
          <a:bodyPr wrap="square"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SECTION 05</a:t>
            </a:r>
            <a:endParaRPr lang="en-US" sz="1100" dirty="0"/>
          </a:p>
        </p:txBody>
      </p:sp>
      <p:sp>
        <p:nvSpPr>
          <p:cNvPr id="4" name="Text 2"/>
          <p:cNvSpPr/>
          <p:nvPr/>
        </p:nvSpPr>
        <p:spPr>
          <a:xfrm>
            <a:off x="548640" y="914400"/>
            <a:ext cx="11064240" cy="822960"/>
          </a:xfrm>
          <a:prstGeom prst="rect">
            <a:avLst/>
          </a:prstGeom>
          <a:noFill/>
          <a:ln/>
        </p:spPr>
        <p:txBody>
          <a:bodyPr wrap="square" rtlCol="0" anchor="ctr"/>
          <a:lstStyle/>
          <a:p>
            <a:pPr marL="0" indent="0" algn="l">
              <a:buNone/>
            </a:pPr>
            <a:r>
              <a:rPr lang="en-US" sz="3000" b="1" dirty="0">
                <a:solidFill>
                  <a:srgbClr val="0B2545"/>
                </a:solidFill>
                <a:latin typeface="Calibri" pitchFamily="34" charset="0"/>
                <a:ea typeface="Calibri" pitchFamily="34" charset="-122"/>
                <a:cs typeface="Calibri" pitchFamily="34" charset="-120"/>
              </a:rPr>
              <a:t>Key Takeaways</a:t>
            </a:r>
            <a:endParaRPr lang="en-US" sz="3000" dirty="0"/>
          </a:p>
        </p:txBody>
      </p:sp>
      <p:sp>
        <p:nvSpPr>
          <p:cNvPr id="5" name="Shape 3"/>
          <p:cNvSpPr/>
          <p:nvPr/>
        </p:nvSpPr>
        <p:spPr>
          <a:xfrm>
            <a:off x="548640" y="1965960"/>
            <a:ext cx="10881360" cy="914400"/>
          </a:xfrm>
          <a:prstGeom prst="roundRect">
            <a:avLst>
              <a:gd name="adj" fmla="val 8000"/>
            </a:avLst>
          </a:prstGeom>
          <a:solidFill>
            <a:srgbClr val="FFFFFF"/>
          </a:solidFill>
          <a:ln/>
          <a:effectLst>
            <a:outerShdw blurRad="101600" dist="25400" dir="5400000" algn="bl" rotWithShape="0">
              <a:srgbClr val="1B2A4A">
                <a:alpha val="10000"/>
              </a:srgbClr>
            </a:outerShdw>
          </a:effectLst>
        </p:spPr>
      </p:sp>
      <p:sp>
        <p:nvSpPr>
          <p:cNvPr id="6" name="Shape 4"/>
          <p:cNvSpPr/>
          <p:nvPr/>
        </p:nvSpPr>
        <p:spPr>
          <a:xfrm>
            <a:off x="777240" y="2167128"/>
            <a:ext cx="502920" cy="502920"/>
          </a:xfrm>
          <a:prstGeom prst="ellipse">
            <a:avLst/>
          </a:prstGeom>
          <a:solidFill>
            <a:srgbClr val="134074"/>
          </a:solidFill>
          <a:ln/>
        </p:spPr>
      </p:sp>
      <p:sp>
        <p:nvSpPr>
          <p:cNvPr id="7" name="Text 5"/>
          <p:cNvSpPr/>
          <p:nvPr/>
        </p:nvSpPr>
        <p:spPr>
          <a:xfrm>
            <a:off x="777240" y="2167128"/>
            <a:ext cx="502920" cy="502920"/>
          </a:xfrm>
          <a:prstGeom prst="rect">
            <a:avLst/>
          </a:prstGeom>
          <a:noFill/>
          <a:ln/>
        </p:spPr>
        <p:txBody>
          <a:bodyPr wrap="square" rtlCol="0" anchor="ctr"/>
          <a:lstStyle/>
          <a:p>
            <a:pPr marL="0" indent="0" algn="ctr">
              <a:buNone/>
            </a:pPr>
            <a:r>
              <a:rPr lang="en-US" sz="1210" b="1" dirty="0">
                <a:solidFill>
                  <a:srgbClr val="FFFFFF"/>
                </a:solidFill>
                <a:latin typeface="Calibri" pitchFamily="34" charset="0"/>
                <a:ea typeface="Calibri" pitchFamily="34" charset="-122"/>
                <a:cs typeface="Calibri" pitchFamily="34" charset="-120"/>
              </a:rPr>
              <a:t>1</a:t>
            </a:r>
            <a:endParaRPr lang="en-US" sz="1210" dirty="0"/>
          </a:p>
        </p:txBody>
      </p:sp>
      <p:sp>
        <p:nvSpPr>
          <p:cNvPr id="8" name="Text 6"/>
          <p:cNvSpPr/>
          <p:nvPr/>
        </p:nvSpPr>
        <p:spPr>
          <a:xfrm>
            <a:off x="1508760" y="2057400"/>
            <a:ext cx="3657600" cy="731520"/>
          </a:xfrm>
          <a:prstGeom prst="rect">
            <a:avLst/>
          </a:prstGeom>
          <a:noFill/>
          <a:ln/>
        </p:spPr>
        <p:txBody>
          <a:bodyPr wrap="square" rtlCol="0" anchor="ctr"/>
          <a:lstStyle/>
          <a:p>
            <a:pPr marL="0" indent="0">
              <a:buNone/>
            </a:pPr>
            <a:r>
              <a:rPr lang="en-US" sz="1350" b="1" dirty="0">
                <a:solidFill>
                  <a:srgbClr val="0B2545"/>
                </a:solidFill>
                <a:latin typeface="Calibri" pitchFamily="34" charset="0"/>
                <a:ea typeface="Calibri" pitchFamily="34" charset="-122"/>
                <a:cs typeface="Calibri" pitchFamily="34" charset="-120"/>
              </a:rPr>
              <a:t>Cloud-first mindset</a:t>
            </a:r>
            <a:endParaRPr lang="en-US" sz="1350" dirty="0"/>
          </a:p>
        </p:txBody>
      </p:sp>
      <p:sp>
        <p:nvSpPr>
          <p:cNvPr id="9" name="Text 7"/>
          <p:cNvSpPr/>
          <p:nvPr/>
        </p:nvSpPr>
        <p:spPr>
          <a:xfrm>
            <a:off x="5303520" y="2057400"/>
            <a:ext cx="5943600" cy="731520"/>
          </a:xfrm>
          <a:prstGeom prst="rect">
            <a:avLst/>
          </a:prstGeom>
          <a:noFill/>
          <a:ln/>
        </p:spPr>
        <p:txBody>
          <a:bodyPr wrap="square" rtlCol="0" anchor="ctr"/>
          <a:lstStyle/>
          <a:p>
            <a:pPr marL="0" indent="0">
              <a:buNone/>
            </a:pPr>
            <a:r>
              <a:rPr lang="en-US" sz="1100" dirty="0">
                <a:solidFill>
                  <a:srgbClr val="3A3F4B"/>
                </a:solidFill>
                <a:latin typeface="Calibri" pitchFamily="34" charset="0"/>
                <a:ea typeface="Calibri" pitchFamily="34" charset="-122"/>
                <a:cs typeface="Calibri" pitchFamily="34" charset="-120"/>
              </a:rPr>
              <a:t>Modern data engineering is built on scalable, managed cloud infrastructure rather than physical servers.</a:t>
            </a:r>
            <a:endParaRPr lang="en-US" sz="1100" dirty="0"/>
          </a:p>
        </p:txBody>
      </p:sp>
      <p:sp>
        <p:nvSpPr>
          <p:cNvPr id="10" name="Shape 8"/>
          <p:cNvSpPr/>
          <p:nvPr/>
        </p:nvSpPr>
        <p:spPr>
          <a:xfrm>
            <a:off x="548640" y="3044952"/>
            <a:ext cx="10881360" cy="914400"/>
          </a:xfrm>
          <a:prstGeom prst="roundRect">
            <a:avLst>
              <a:gd name="adj" fmla="val 8000"/>
            </a:avLst>
          </a:prstGeom>
          <a:solidFill>
            <a:srgbClr val="FFFFFF"/>
          </a:solidFill>
          <a:ln/>
          <a:effectLst>
            <a:outerShdw blurRad="101600" dist="25400" dir="5400000" algn="bl" rotWithShape="0">
              <a:srgbClr val="1B2A4A">
                <a:alpha val="10000"/>
              </a:srgbClr>
            </a:outerShdw>
          </a:effectLst>
        </p:spPr>
      </p:sp>
      <p:sp>
        <p:nvSpPr>
          <p:cNvPr id="11" name="Shape 9"/>
          <p:cNvSpPr/>
          <p:nvPr/>
        </p:nvSpPr>
        <p:spPr>
          <a:xfrm>
            <a:off x="777240" y="3246120"/>
            <a:ext cx="502920" cy="502920"/>
          </a:xfrm>
          <a:prstGeom prst="ellipse">
            <a:avLst/>
          </a:prstGeom>
          <a:solidFill>
            <a:srgbClr val="F5A623"/>
          </a:solidFill>
          <a:ln/>
        </p:spPr>
      </p:sp>
      <p:sp>
        <p:nvSpPr>
          <p:cNvPr id="12" name="Text 10"/>
          <p:cNvSpPr/>
          <p:nvPr/>
        </p:nvSpPr>
        <p:spPr>
          <a:xfrm>
            <a:off x="777240" y="3246120"/>
            <a:ext cx="502920" cy="502920"/>
          </a:xfrm>
          <a:prstGeom prst="rect">
            <a:avLst/>
          </a:prstGeom>
          <a:noFill/>
          <a:ln/>
        </p:spPr>
        <p:txBody>
          <a:bodyPr wrap="square" rtlCol="0" anchor="ctr"/>
          <a:lstStyle/>
          <a:p>
            <a:pPr marL="0" indent="0" algn="ctr">
              <a:buNone/>
            </a:pPr>
            <a:r>
              <a:rPr lang="en-US" sz="1210" b="1" dirty="0">
                <a:solidFill>
                  <a:srgbClr val="FFFFFF"/>
                </a:solidFill>
                <a:latin typeface="Calibri" pitchFamily="34" charset="0"/>
                <a:ea typeface="Calibri" pitchFamily="34" charset="-122"/>
                <a:cs typeface="Calibri" pitchFamily="34" charset="-120"/>
              </a:rPr>
              <a:t>2</a:t>
            </a:r>
            <a:endParaRPr lang="en-US" sz="1210" dirty="0"/>
          </a:p>
        </p:txBody>
      </p:sp>
      <p:sp>
        <p:nvSpPr>
          <p:cNvPr id="13" name="Text 11"/>
          <p:cNvSpPr/>
          <p:nvPr/>
        </p:nvSpPr>
        <p:spPr>
          <a:xfrm>
            <a:off x="1508760" y="3136392"/>
            <a:ext cx="3657600" cy="731520"/>
          </a:xfrm>
          <a:prstGeom prst="rect">
            <a:avLst/>
          </a:prstGeom>
          <a:noFill/>
          <a:ln/>
        </p:spPr>
        <p:txBody>
          <a:bodyPr wrap="square" rtlCol="0" anchor="ctr"/>
          <a:lstStyle/>
          <a:p>
            <a:pPr marL="0" indent="0">
              <a:buNone/>
            </a:pPr>
            <a:r>
              <a:rPr lang="en-US" sz="1350" b="1" dirty="0">
                <a:solidFill>
                  <a:srgbClr val="0B2545"/>
                </a:solidFill>
                <a:latin typeface="Calibri" pitchFamily="34" charset="0"/>
                <a:ea typeface="Calibri" pitchFamily="34" charset="-122"/>
                <a:cs typeface="Calibri" pitchFamily="34" charset="-120"/>
              </a:rPr>
              <a:t>Pipelines over one-off scripts</a:t>
            </a:r>
            <a:endParaRPr lang="en-US" sz="1350" dirty="0"/>
          </a:p>
        </p:txBody>
      </p:sp>
      <p:sp>
        <p:nvSpPr>
          <p:cNvPr id="14" name="Text 12"/>
          <p:cNvSpPr/>
          <p:nvPr/>
        </p:nvSpPr>
        <p:spPr>
          <a:xfrm>
            <a:off x="5303520" y="3136392"/>
            <a:ext cx="5943600" cy="731520"/>
          </a:xfrm>
          <a:prstGeom prst="rect">
            <a:avLst/>
          </a:prstGeom>
          <a:noFill/>
          <a:ln/>
        </p:spPr>
        <p:txBody>
          <a:bodyPr wrap="square" rtlCol="0" anchor="ctr"/>
          <a:lstStyle/>
          <a:p>
            <a:pPr marL="0" indent="0">
              <a:buNone/>
            </a:pPr>
            <a:r>
              <a:rPr lang="en-US" sz="1100" dirty="0">
                <a:solidFill>
                  <a:srgbClr val="3A3F4B"/>
                </a:solidFill>
                <a:latin typeface="Calibri" pitchFamily="34" charset="0"/>
                <a:ea typeface="Calibri" pitchFamily="34" charset="-122"/>
                <a:cs typeface="Calibri" pitchFamily="34" charset="-120"/>
              </a:rPr>
              <a:t>Reliable, automated pipelines matter more than manual, one-time data fixes.</a:t>
            </a:r>
            <a:endParaRPr lang="en-US" sz="1100" dirty="0"/>
          </a:p>
        </p:txBody>
      </p:sp>
      <p:sp>
        <p:nvSpPr>
          <p:cNvPr id="15" name="Shape 13"/>
          <p:cNvSpPr/>
          <p:nvPr/>
        </p:nvSpPr>
        <p:spPr>
          <a:xfrm>
            <a:off x="548640" y="4123944"/>
            <a:ext cx="10881360" cy="914400"/>
          </a:xfrm>
          <a:prstGeom prst="roundRect">
            <a:avLst>
              <a:gd name="adj" fmla="val 8000"/>
            </a:avLst>
          </a:prstGeom>
          <a:solidFill>
            <a:srgbClr val="FFFFFF"/>
          </a:solidFill>
          <a:ln/>
          <a:effectLst>
            <a:outerShdw blurRad="101600" dist="25400" dir="5400000" algn="bl" rotWithShape="0">
              <a:srgbClr val="1B2A4A">
                <a:alpha val="10000"/>
              </a:srgbClr>
            </a:outerShdw>
          </a:effectLst>
        </p:spPr>
      </p:sp>
      <p:sp>
        <p:nvSpPr>
          <p:cNvPr id="16" name="Shape 14"/>
          <p:cNvSpPr/>
          <p:nvPr/>
        </p:nvSpPr>
        <p:spPr>
          <a:xfrm>
            <a:off x="777240" y="4325112"/>
            <a:ext cx="502920" cy="502920"/>
          </a:xfrm>
          <a:prstGeom prst="ellipse">
            <a:avLst/>
          </a:prstGeom>
          <a:solidFill>
            <a:srgbClr val="134074"/>
          </a:solidFill>
          <a:ln/>
        </p:spPr>
      </p:sp>
      <p:sp>
        <p:nvSpPr>
          <p:cNvPr id="17" name="Text 15"/>
          <p:cNvSpPr/>
          <p:nvPr/>
        </p:nvSpPr>
        <p:spPr>
          <a:xfrm>
            <a:off x="777240" y="4325112"/>
            <a:ext cx="502920" cy="502920"/>
          </a:xfrm>
          <a:prstGeom prst="rect">
            <a:avLst/>
          </a:prstGeom>
          <a:noFill/>
          <a:ln/>
        </p:spPr>
        <p:txBody>
          <a:bodyPr wrap="square" rtlCol="0" anchor="ctr"/>
          <a:lstStyle/>
          <a:p>
            <a:pPr marL="0" indent="0" algn="ctr">
              <a:buNone/>
            </a:pPr>
            <a:r>
              <a:rPr lang="en-US" sz="1210" b="1" dirty="0">
                <a:solidFill>
                  <a:srgbClr val="FFFFFF"/>
                </a:solidFill>
                <a:latin typeface="Calibri" pitchFamily="34" charset="0"/>
                <a:ea typeface="Calibri" pitchFamily="34" charset="-122"/>
                <a:cs typeface="Calibri" pitchFamily="34" charset="-120"/>
              </a:rPr>
              <a:t>3</a:t>
            </a:r>
            <a:endParaRPr lang="en-US" sz="1210" dirty="0"/>
          </a:p>
        </p:txBody>
      </p:sp>
      <p:sp>
        <p:nvSpPr>
          <p:cNvPr id="18" name="Text 16"/>
          <p:cNvSpPr/>
          <p:nvPr/>
        </p:nvSpPr>
        <p:spPr>
          <a:xfrm>
            <a:off x="1508760" y="4215384"/>
            <a:ext cx="3657600" cy="731520"/>
          </a:xfrm>
          <a:prstGeom prst="rect">
            <a:avLst/>
          </a:prstGeom>
          <a:noFill/>
          <a:ln/>
        </p:spPr>
        <p:txBody>
          <a:bodyPr wrap="square" rtlCol="0" anchor="ctr"/>
          <a:lstStyle/>
          <a:p>
            <a:pPr marL="0" indent="0">
              <a:buNone/>
            </a:pPr>
            <a:r>
              <a:rPr lang="en-US" sz="1350" b="1" dirty="0">
                <a:solidFill>
                  <a:srgbClr val="0B2545"/>
                </a:solidFill>
                <a:latin typeface="Calibri" pitchFamily="34" charset="0"/>
                <a:ea typeface="Calibri" pitchFamily="34" charset="-122"/>
                <a:cs typeface="Calibri" pitchFamily="34" charset="-120"/>
              </a:rPr>
              <a:t>Right storage for the right job</a:t>
            </a:r>
            <a:endParaRPr lang="en-US" sz="1350" dirty="0"/>
          </a:p>
        </p:txBody>
      </p:sp>
      <p:sp>
        <p:nvSpPr>
          <p:cNvPr id="19" name="Text 17"/>
          <p:cNvSpPr/>
          <p:nvPr/>
        </p:nvSpPr>
        <p:spPr>
          <a:xfrm>
            <a:off x="5303520" y="4215384"/>
            <a:ext cx="5943600" cy="731520"/>
          </a:xfrm>
          <a:prstGeom prst="rect">
            <a:avLst/>
          </a:prstGeom>
          <a:noFill/>
          <a:ln/>
        </p:spPr>
        <p:txBody>
          <a:bodyPr wrap="square" rtlCol="0" anchor="ctr"/>
          <a:lstStyle/>
          <a:p>
            <a:pPr marL="0" indent="0">
              <a:buNone/>
            </a:pPr>
            <a:r>
              <a:rPr lang="en-US" sz="1100" dirty="0">
                <a:solidFill>
                  <a:srgbClr val="3A3F4B"/>
                </a:solidFill>
                <a:latin typeface="Calibri" pitchFamily="34" charset="0"/>
                <a:ea typeface="Calibri" pitchFamily="34" charset="-122"/>
                <a:cs typeface="Calibri" pitchFamily="34" charset="-120"/>
              </a:rPr>
              <a:t>Choosing between S3, RDS, DynamoDB, and Redshift depends on the data and use case.</a:t>
            </a:r>
            <a:endParaRPr lang="en-US" sz="1100" dirty="0"/>
          </a:p>
        </p:txBody>
      </p:sp>
      <p:sp>
        <p:nvSpPr>
          <p:cNvPr id="20" name="Shape 18"/>
          <p:cNvSpPr/>
          <p:nvPr/>
        </p:nvSpPr>
        <p:spPr>
          <a:xfrm>
            <a:off x="548640" y="5202936"/>
            <a:ext cx="10881360" cy="914400"/>
          </a:xfrm>
          <a:prstGeom prst="roundRect">
            <a:avLst>
              <a:gd name="adj" fmla="val 8000"/>
            </a:avLst>
          </a:prstGeom>
          <a:solidFill>
            <a:srgbClr val="FFFFFF"/>
          </a:solidFill>
          <a:ln/>
          <a:effectLst>
            <a:outerShdw blurRad="101600" dist="25400" dir="5400000" algn="bl" rotWithShape="0">
              <a:srgbClr val="1B2A4A">
                <a:alpha val="10000"/>
              </a:srgbClr>
            </a:outerShdw>
          </a:effectLst>
        </p:spPr>
      </p:sp>
      <p:sp>
        <p:nvSpPr>
          <p:cNvPr id="21" name="Shape 19"/>
          <p:cNvSpPr/>
          <p:nvPr/>
        </p:nvSpPr>
        <p:spPr>
          <a:xfrm>
            <a:off x="777240" y="5404104"/>
            <a:ext cx="502920" cy="502920"/>
          </a:xfrm>
          <a:prstGeom prst="ellipse">
            <a:avLst/>
          </a:prstGeom>
          <a:solidFill>
            <a:srgbClr val="F5A623"/>
          </a:solidFill>
          <a:ln/>
        </p:spPr>
      </p:sp>
      <p:sp>
        <p:nvSpPr>
          <p:cNvPr id="22" name="Text 20"/>
          <p:cNvSpPr/>
          <p:nvPr/>
        </p:nvSpPr>
        <p:spPr>
          <a:xfrm>
            <a:off x="777240" y="5404104"/>
            <a:ext cx="502920" cy="502920"/>
          </a:xfrm>
          <a:prstGeom prst="rect">
            <a:avLst/>
          </a:prstGeom>
          <a:noFill/>
          <a:ln/>
        </p:spPr>
        <p:txBody>
          <a:bodyPr wrap="square" rtlCol="0" anchor="ctr"/>
          <a:lstStyle/>
          <a:p>
            <a:pPr marL="0" indent="0" algn="ctr">
              <a:buNone/>
            </a:pPr>
            <a:r>
              <a:rPr lang="en-US" sz="1210" b="1" dirty="0">
                <a:solidFill>
                  <a:srgbClr val="FFFFFF"/>
                </a:solidFill>
                <a:latin typeface="Calibri" pitchFamily="34" charset="0"/>
                <a:ea typeface="Calibri" pitchFamily="34" charset="-122"/>
                <a:cs typeface="Calibri" pitchFamily="34" charset="-120"/>
              </a:rPr>
              <a:t>4</a:t>
            </a:r>
            <a:endParaRPr lang="en-US" sz="1210" dirty="0"/>
          </a:p>
        </p:txBody>
      </p:sp>
      <p:sp>
        <p:nvSpPr>
          <p:cNvPr id="23" name="Text 21"/>
          <p:cNvSpPr/>
          <p:nvPr/>
        </p:nvSpPr>
        <p:spPr>
          <a:xfrm>
            <a:off x="1508760" y="5294376"/>
            <a:ext cx="3657600" cy="731520"/>
          </a:xfrm>
          <a:prstGeom prst="rect">
            <a:avLst/>
          </a:prstGeom>
          <a:noFill/>
          <a:ln/>
        </p:spPr>
        <p:txBody>
          <a:bodyPr wrap="square" rtlCol="0" anchor="ctr"/>
          <a:lstStyle/>
          <a:p>
            <a:pPr marL="0" indent="0">
              <a:buNone/>
            </a:pPr>
            <a:r>
              <a:rPr lang="en-US" sz="1350" b="1" dirty="0">
                <a:solidFill>
                  <a:srgbClr val="0B2545"/>
                </a:solidFill>
                <a:latin typeface="Calibri" pitchFamily="34" charset="0"/>
                <a:ea typeface="Calibri" pitchFamily="34" charset="-122"/>
                <a:cs typeface="Calibri" pitchFamily="34" charset="-120"/>
              </a:rPr>
              <a:t>Governance is not optional</a:t>
            </a:r>
            <a:endParaRPr lang="en-US" sz="1350" dirty="0"/>
          </a:p>
        </p:txBody>
      </p:sp>
      <p:sp>
        <p:nvSpPr>
          <p:cNvPr id="24" name="Text 22"/>
          <p:cNvSpPr/>
          <p:nvPr/>
        </p:nvSpPr>
        <p:spPr>
          <a:xfrm>
            <a:off x="5303520" y="5294376"/>
            <a:ext cx="5943600" cy="731520"/>
          </a:xfrm>
          <a:prstGeom prst="rect">
            <a:avLst/>
          </a:prstGeom>
          <a:noFill/>
          <a:ln/>
        </p:spPr>
        <p:txBody>
          <a:bodyPr wrap="square" rtlCol="0" anchor="ctr"/>
          <a:lstStyle/>
          <a:p>
            <a:pPr marL="0" indent="0">
              <a:buNone/>
            </a:pPr>
            <a:r>
              <a:rPr lang="en-US" sz="1100" dirty="0">
                <a:solidFill>
                  <a:srgbClr val="3A3F4B"/>
                </a:solidFill>
                <a:latin typeface="Calibri" pitchFamily="34" charset="0"/>
                <a:ea typeface="Calibri" pitchFamily="34" charset="-122"/>
                <a:cs typeface="Calibri" pitchFamily="34" charset="-120"/>
              </a:rPr>
              <a:t>Security, access control, and documentation are core to trustworthy data systems.</a:t>
            </a:r>
            <a:endParaRPr lang="en-US" sz="1100" dirty="0"/>
          </a:p>
        </p:txBody>
      </p:sp>
      <p:sp>
        <p:nvSpPr>
          <p:cNvPr id="26" name="Text 23"/>
          <p:cNvSpPr/>
          <p:nvPr/>
        </p:nvSpPr>
        <p:spPr>
          <a:xfrm>
            <a:off x="457200" y="6473952"/>
            <a:ext cx="5486400" cy="274320"/>
          </a:xfrm>
          <a:prstGeom prst="rect">
            <a:avLst/>
          </a:prstGeom>
          <a:noFill/>
          <a:ln/>
        </p:spPr>
        <p:txBody>
          <a:bodyPr wrap="square" rtlCol="0" anchor="ctr"/>
          <a:lstStyle/>
          <a:p>
            <a:pPr marL="0" indent="0" algn="l">
              <a:buNone/>
            </a:pPr>
            <a:r>
              <a:rPr lang="en-US" sz="900" dirty="0">
                <a:solidFill>
                  <a:srgbClr val="8A93A5"/>
                </a:solidFill>
                <a:latin typeface="Calibri" pitchFamily="34" charset="0"/>
                <a:ea typeface="Calibri" pitchFamily="34" charset="-122"/>
                <a:cs typeface="Calibri" pitchFamily="34" charset="-120"/>
              </a:rPr>
              <a:t>Data Engineering Virtual Internship</a:t>
            </a:r>
            <a:endParaRPr lang="en-US" sz="900" dirty="0"/>
          </a:p>
        </p:txBody>
      </p:sp>
      <p:sp>
        <p:nvSpPr>
          <p:cNvPr id="27" name="Text 24"/>
          <p:cNvSpPr/>
          <p:nvPr/>
        </p:nvSpPr>
        <p:spPr>
          <a:xfrm>
            <a:off x="11274552" y="6473952"/>
            <a:ext cx="548640" cy="274320"/>
          </a:xfrm>
          <a:prstGeom prst="rect">
            <a:avLst/>
          </a:prstGeom>
          <a:noFill/>
          <a:ln/>
        </p:spPr>
        <p:txBody>
          <a:bodyPr wrap="square" rtlCol="0" anchor="ctr"/>
          <a:lstStyle/>
          <a:p>
            <a:pPr marL="0" indent="0" algn="r">
              <a:buNone/>
            </a:pPr>
            <a:r>
              <a:rPr lang="en-US" sz="900" dirty="0">
                <a:solidFill>
                  <a:srgbClr val="8A93A5"/>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81B33"/>
        </a:solidFill>
        <a:effectLst/>
      </p:bgPr>
    </p:bg>
    <p:spTree>
      <p:nvGrpSpPr>
        <p:cNvPr id="1" name=""/>
        <p:cNvGrpSpPr/>
        <p:nvPr/>
      </p:nvGrpSpPr>
      <p:grpSpPr>
        <a:xfrm>
          <a:off x="0" y="0"/>
          <a:ext cx="0" cy="0"/>
          <a:chOff x="0" y="0"/>
          <a:chExt cx="0" cy="0"/>
        </a:xfrm>
      </p:grpSpPr>
      <p:sp>
        <p:nvSpPr>
          <p:cNvPr id="2" name="Shape 0"/>
          <p:cNvSpPr/>
          <p:nvPr/>
        </p:nvSpPr>
        <p:spPr>
          <a:xfrm>
            <a:off x="-2286000" y="-2286000"/>
            <a:ext cx="6400800" cy="6400800"/>
          </a:xfrm>
          <a:prstGeom prst="ellipse">
            <a:avLst/>
          </a:prstGeom>
          <a:solidFill>
            <a:srgbClr val="134074"/>
          </a:solidFill>
          <a:ln/>
        </p:spPr>
      </p:sp>
      <p:sp>
        <p:nvSpPr>
          <p:cNvPr id="3" name="Shape 1"/>
          <p:cNvSpPr/>
          <p:nvPr/>
        </p:nvSpPr>
        <p:spPr>
          <a:xfrm>
            <a:off x="8961120" y="3657600"/>
            <a:ext cx="5486400" cy="5486400"/>
          </a:xfrm>
          <a:prstGeom prst="ellipse">
            <a:avLst/>
          </a:prstGeom>
          <a:solidFill>
            <a:srgbClr val="F5A623"/>
          </a:solidFill>
          <a:ln/>
        </p:spPr>
      </p:sp>
      <p:sp>
        <p:nvSpPr>
          <p:cNvPr id="4" name="Shape 2"/>
          <p:cNvSpPr/>
          <p:nvPr/>
        </p:nvSpPr>
        <p:spPr>
          <a:xfrm>
            <a:off x="640080" y="1600200"/>
            <a:ext cx="777240" cy="777240"/>
          </a:xfrm>
          <a:prstGeom prst="ellipse">
            <a:avLst/>
          </a:prstGeom>
          <a:solidFill>
            <a:srgbClr val="F5A623"/>
          </a:solidFill>
          <a:ln/>
          <a:effectLst>
            <a:outerShdw blurRad="101600" dist="38100" dir="5400000" algn="bl" rotWithShape="0">
              <a:srgbClr val="1B2A4A">
                <a:alpha val="25000"/>
              </a:srgbClr>
            </a:outerShdw>
          </a:effectLst>
        </p:spPr>
      </p:sp>
      <p:pic>
        <p:nvPicPr>
          <p:cNvPr id="5" name="Image 0" descr="/home/claude/ppt/icons/handshake.png"/>
          <p:cNvPicPr>
            <a:picLocks noChangeAspect="1"/>
          </p:cNvPicPr>
          <p:nvPr/>
        </p:nvPicPr>
        <p:blipFill>
          <a:blip r:embed="rId3"/>
          <a:stretch>
            <a:fillRect/>
          </a:stretch>
        </p:blipFill>
        <p:spPr>
          <a:xfrm>
            <a:off x="814959" y="1775079"/>
            <a:ext cx="427482" cy="427482"/>
          </a:xfrm>
          <a:prstGeom prst="rect">
            <a:avLst/>
          </a:prstGeom>
        </p:spPr>
      </p:pic>
      <p:sp>
        <p:nvSpPr>
          <p:cNvPr id="6" name="Text 3"/>
          <p:cNvSpPr/>
          <p:nvPr/>
        </p:nvSpPr>
        <p:spPr>
          <a:xfrm>
            <a:off x="640080" y="2514600"/>
            <a:ext cx="9144000" cy="1097280"/>
          </a:xfrm>
          <a:prstGeom prst="rect">
            <a:avLst/>
          </a:prstGeom>
          <a:noFill/>
          <a:ln/>
        </p:spPr>
        <p:txBody>
          <a:bodyPr wrap="square"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Thank You</a:t>
            </a:r>
            <a:endParaRPr lang="en-US" sz="4400" dirty="0"/>
          </a:p>
        </p:txBody>
      </p:sp>
      <p:sp>
        <p:nvSpPr>
          <p:cNvPr id="7" name="Shape 4"/>
          <p:cNvSpPr/>
          <p:nvPr/>
        </p:nvSpPr>
        <p:spPr>
          <a:xfrm>
            <a:off x="685800" y="3566160"/>
            <a:ext cx="2011680" cy="0"/>
          </a:xfrm>
          <a:prstGeom prst="line">
            <a:avLst/>
          </a:prstGeom>
          <a:noFill/>
          <a:ln w="38100">
            <a:solidFill>
              <a:srgbClr val="F5A623"/>
            </a:solidFill>
            <a:prstDash val="solid"/>
          </a:ln>
        </p:spPr>
      </p:sp>
      <p:sp>
        <p:nvSpPr>
          <p:cNvPr id="8" name="Text 5"/>
          <p:cNvSpPr/>
          <p:nvPr/>
        </p:nvSpPr>
        <p:spPr>
          <a:xfrm>
            <a:off x="640080" y="3749040"/>
            <a:ext cx="8229600" cy="640080"/>
          </a:xfrm>
          <a:prstGeom prst="rect">
            <a:avLst/>
          </a:prstGeom>
          <a:noFill/>
          <a:ln/>
        </p:spPr>
        <p:txBody>
          <a:bodyPr wrap="square" rtlCol="0" anchor="ctr"/>
          <a:lstStyle/>
          <a:p>
            <a:pPr marL="0" indent="0">
              <a:buNone/>
            </a:pPr>
            <a:r>
              <a:rPr lang="en-US" sz="1400" dirty="0">
                <a:solidFill>
                  <a:srgbClr val="C7D2E3"/>
                </a:solidFill>
                <a:latin typeface="Calibri" pitchFamily="34" charset="0"/>
                <a:ea typeface="Calibri" pitchFamily="34" charset="-122"/>
                <a:cs typeface="Calibri" pitchFamily="34" charset="-120"/>
              </a:rPr>
              <a:t>Grateful to the Ministry of Education, AICTE, EduSkills, and AWS Academy for this learning opportunity.</a:t>
            </a:r>
            <a:endParaRPr lang="en-US" sz="1400" dirty="0"/>
          </a:p>
        </p:txBody>
      </p:sp>
      <p:sp>
        <p:nvSpPr>
          <p:cNvPr id="9" name="Text 6"/>
          <p:cNvSpPr/>
          <p:nvPr/>
        </p:nvSpPr>
        <p:spPr>
          <a:xfrm>
            <a:off x="640080" y="4663440"/>
            <a:ext cx="5486400" cy="457200"/>
          </a:xfrm>
          <a:prstGeom prst="rect">
            <a:avLst/>
          </a:prstGeom>
          <a:noFill/>
          <a:ln/>
        </p:spPr>
        <p:txBody>
          <a:bodyPr wrap="square" rtlCol="0" anchor="ctr"/>
          <a:lstStyle/>
          <a:p>
            <a:pPr marL="0" indent="0">
              <a:buNone/>
            </a:pPr>
            <a:r>
              <a:rPr lang="en-US" sz="1800" b="1" dirty="0">
                <a:solidFill>
                  <a:srgbClr val="F5A623"/>
                </a:solidFill>
                <a:latin typeface="Calibri" pitchFamily="34" charset="0"/>
                <a:ea typeface="Calibri" pitchFamily="34" charset="-122"/>
                <a:cs typeface="Calibri" pitchFamily="34" charset="-120"/>
              </a:rPr>
              <a:t>Jaya Kumari</a:t>
            </a:r>
            <a:endParaRPr lang="en-US" sz="1800" dirty="0"/>
          </a:p>
        </p:txBody>
      </p:sp>
      <p:sp>
        <p:nvSpPr>
          <p:cNvPr id="10" name="Text 7"/>
          <p:cNvSpPr/>
          <p:nvPr/>
        </p:nvSpPr>
        <p:spPr>
          <a:xfrm>
            <a:off x="640080" y="5120640"/>
            <a:ext cx="8229600" cy="365760"/>
          </a:xfrm>
          <a:prstGeom prst="rect">
            <a:avLst/>
          </a:prstGeom>
          <a:noFill/>
          <a:ln/>
        </p:spPr>
        <p:txBody>
          <a:bodyPr wrap="square" rtlCol="0" anchor="ctr"/>
          <a:lstStyle/>
          <a:p>
            <a:pPr marL="0" indent="0">
              <a:buNone/>
            </a:pPr>
            <a:r>
              <a:rPr lang="en-US" sz="1200" dirty="0">
                <a:solidFill>
                  <a:srgbClr val="9AA6BF"/>
                </a:solidFill>
                <a:latin typeface="Calibri" pitchFamily="34" charset="0"/>
                <a:ea typeface="Calibri" pitchFamily="34" charset="-122"/>
                <a:cs typeface="Calibri" pitchFamily="34" charset="-120"/>
              </a:rPr>
              <a:t>IILM University, Greater Noida  •  Data Engineering Virtual Internship 2026</a:t>
            </a:r>
            <a:endParaRPr lang="en-US" sz="1200" dirty="0"/>
          </a:p>
        </p:txBody>
      </p:sp>
      <p:sp>
        <p:nvSpPr>
          <p:cNvPr id="12" name="Text 8"/>
          <p:cNvSpPr/>
          <p:nvPr/>
        </p:nvSpPr>
        <p:spPr>
          <a:xfrm>
            <a:off x="457200" y="6473952"/>
            <a:ext cx="5486400" cy="274320"/>
          </a:xfrm>
          <a:prstGeom prst="rect">
            <a:avLst/>
          </a:prstGeom>
          <a:noFill/>
          <a:ln/>
        </p:spPr>
        <p:txBody>
          <a:bodyPr wrap="square" rtlCol="0" anchor="ctr"/>
          <a:lstStyle/>
          <a:p>
            <a:pPr marL="0" indent="0" algn="l">
              <a:buNone/>
            </a:pPr>
            <a:r>
              <a:rPr lang="en-US" sz="900" dirty="0">
                <a:solidFill>
                  <a:srgbClr val="9AA6BF"/>
                </a:solidFill>
                <a:latin typeface="Calibri" pitchFamily="34" charset="0"/>
                <a:ea typeface="Calibri" pitchFamily="34" charset="-122"/>
                <a:cs typeface="Calibri" pitchFamily="34" charset="-120"/>
              </a:rPr>
              <a:t>Data Engineering Virtual Internship</a:t>
            </a:r>
            <a:endParaRPr lang="en-US" sz="900" dirty="0"/>
          </a:p>
        </p:txBody>
      </p:sp>
      <p:sp>
        <p:nvSpPr>
          <p:cNvPr id="13" name="Text 9"/>
          <p:cNvSpPr/>
          <p:nvPr/>
        </p:nvSpPr>
        <p:spPr>
          <a:xfrm>
            <a:off x="11274552" y="6473952"/>
            <a:ext cx="548640" cy="274320"/>
          </a:xfrm>
          <a:prstGeom prst="rect">
            <a:avLst/>
          </a:prstGeom>
          <a:noFill/>
          <a:ln/>
        </p:spPr>
        <p:txBody>
          <a:bodyPr wrap="square" rtlCol="0" anchor="ctr"/>
          <a:lstStyle/>
          <a:p>
            <a:pPr marL="0" indent="0" algn="r">
              <a:buNone/>
            </a:pPr>
            <a:r>
              <a:rPr lang="en-US" sz="900" dirty="0">
                <a:solidFill>
                  <a:srgbClr val="9AA6BF"/>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3955</Words>
  <Application>Microsoft Office PowerPoint</Application>
  <PresentationFormat>Widescreen</PresentationFormat>
  <Paragraphs>359</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JAYA SHARMA</cp:lastModifiedBy>
  <cp:revision>1</cp:revision>
  <dcterms:created xsi:type="dcterms:W3CDTF">2026-08-19T03:39:19Z</dcterms:created>
  <dcterms:modified xsi:type="dcterms:W3CDTF">2026-08-19T03:45:42Z</dcterms:modified>
</cp:coreProperties>
</file>